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committee and colleagues. Today I present MalVision, an AI platform that converts raw unexecuted malware binaries into 2D grayscale textures to classify 26 families with 97.86% accuracy using ResNet-18. It requires zero execution of hostile code and provides Grad-CAM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Over 450,000 new malware samples appear daily. Traditional signature matching fails because polymorphic packers change hashes daily. Dynamic sandboxing takes 3 to 10 minutes per file and is vulnerable to sleep loops. Disassembly is fragile and fails when code is packed. We need an evasion-proof, zero-execution approach that runs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analogy: This is the easiest way to explain the project. Just like airport security uses an X-ray scanner to view the shape of an object without opening or detonating it, MalVision takes a visual X-ray of an executable file without ever running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technical conversion: Every byte is an 8-bit number between 0 and 255, matching grayscale pixels. Nataraj's lookup table scales image width dynamically. Different PE sections create visually distinctive textures: headers are dark bars, code sections are speckled static, strings are stripes, and packed malware is high-entropy snow.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pipeline: Stage 1 ingests the binary safely without execution. Stage 2 reshapes the byte stream. Stage 3 resizes to 224x224. Stage 4 runs through ResNet-18 in 34.8ms. Stage 5 performs triage with confidence and entropy. Stage 6 generates a Grad-CAM heatmap.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ResNet-18 adaptation: To use transfer learning, we performed mathematical weight surgery on conv1 by averaging the 3 RGB channels into 1 grayscale channel. Early layers learn edges, middle layers learn micro-textures like string tables, and Layer 4 learns the complete malware family blueprint.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results: On 1,401 unseen test samples, the model achieved 97.86% test accuracy. 18 out of 26 families had a perfect 1.00 F1 score. Look at the comparison table: MalVision outperforms traditional antivirus, dynamic sandboxing, random forests, and heavier models like VGG-16.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Grad-CAM: Security analysts cannot trust a black box. With Grad-CAM, we trace the gradients back to Layer 4 to generate a thermal heatmap. The red regions show exactly where the model looked. Notice that it focuses on the active payload and unpacking stubs rather than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the clean file question: In traditional closed-world academic ML models, if you feed in cmd.exe or calc.exe, the model is forced to pick one of the 26 malware families. We solved this using confidence and Shannon entropy thresholding. When clean files are uploaded, the probabilities scatter under 60%, triggering an INCONCLUSIVE badge. This prevents false alarms on clean system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Showcase the application: Instead of just returning a number, MalVision pairs every detection with a complete threat dossier—what it does, how it spreads, and how to remove it. Our Streamlit dashboard supports drag-and-drop file ingestion, batch scanning, and on-click byteplot inspection, launchable with a single click via start.bat.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novelty: When examiners ask what is novel: (1) we treat malware as visual textures rather than running code, (2) we adapt transfer learning to grayscale, (3) we solve the black-box problem with Grad-CAM, and (4) we handle clean files like cmd.exe through entropy triaging.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In summary, MalVision proves that computer vision and deep learning can replace slow, risky malware sandboxes with instant, explainable texture classification. All code, models, and papers are open-sourced on GitHub. I would now like to invite the committee to the live interactive demonstration.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Rounded Rectangle 1"/>
          <p:cNvSpPr/>
          <p:nvPr/>
        </p:nvSpPr>
        <p:spPr>
          <a:xfrm>
            <a:off x="731520" y="1280160"/>
            <a:ext cx="5303520" cy="4937760"/>
          </a:xfrm>
          <a:prstGeom prst="roundRect">
            <a:avLst/>
          </a:prstGeom>
          <a:solidFill>
            <a:srgbClr val="0E1726"/>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5840" y="1554480"/>
            <a:ext cx="2926080" cy="27432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lIns="73152" tIns="18288"/>
          <a:lstStyle/>
          <a:p>
            <a:pPr algn="ctr">
              <a:defRPr sz="850" b="1">
                <a:solidFill>
                  <a:srgbClr val="00D4FF"/>
                </a:solidFill>
                <a:latin typeface="Arial"/>
              </a:defRPr>
            </a:pPr>
            <a:r>
              <a:t>CYBERSECURITY // DEEP LEARNING SYSTEM</a:t>
            </a:r>
          </a:p>
        </p:txBody>
      </p:sp>
      <p:sp>
        <p:nvSpPr>
          <p:cNvPr id="4" name="TextBox 3"/>
          <p:cNvSpPr txBox="1"/>
          <p:nvPr/>
        </p:nvSpPr>
        <p:spPr>
          <a:xfrm>
            <a:off x="1005840" y="1965960"/>
            <a:ext cx="4754880" cy="2926080"/>
          </a:xfrm>
          <a:prstGeom prst="rect">
            <a:avLst/>
          </a:prstGeom>
          <a:noFill/>
        </p:spPr>
        <p:txBody>
          <a:bodyPr wrap="square" lIns="0" tIns="0">
            <a:spAutoFit/>
          </a:bodyPr>
          <a:lstStyle/>
          <a:p>
            <a:pPr>
              <a:defRPr sz="3800" b="1">
                <a:solidFill>
                  <a:srgbClr val="FFFFFF"/>
                </a:solidFill>
                <a:latin typeface="Arial"/>
              </a:defRPr>
            </a:pPr>
            <a:r>
              <a:t>MALVISION</a:t>
            </a:r>
          </a:p>
          <a:p>
            <a:pPr>
              <a:spcBef>
                <a:spcPts val="400"/>
              </a:spcBef>
              <a:spcAft>
                <a:spcPts val="1000"/>
              </a:spcAft>
              <a:defRPr sz="1300" b="1">
                <a:solidFill>
                  <a:srgbClr val="388BFD"/>
                </a:solidFill>
                <a:latin typeface="Arial"/>
              </a:defRPr>
            </a:pPr>
            <a:r>
              <a:t>Image-Based Malware Classification &amp; Threat Hunting</a:t>
            </a:r>
          </a:p>
          <a:p>
            <a:pPr>
              <a:spcAft>
                <a:spcPts val="1400"/>
              </a:spcAft>
              <a:defRPr sz="1000">
                <a:solidFill>
                  <a:srgbClr val="8FA3BF"/>
                </a:solidFill>
                <a:latin typeface="Arial"/>
              </a:defRPr>
            </a:pPr>
            <a:r>
              <a:t>Transmuting raw unexecuted binary software into 2D spatial grayscale textures to identify 26 malware families with 97.86% accuracy using ResNet-18 and Grad-CAM explainability.</a:t>
            </a:r>
          </a:p>
        </p:txBody>
      </p:sp>
      <p:sp>
        <p:nvSpPr>
          <p:cNvPr id="5" name="Rounded Rectangle 4"/>
          <p:cNvSpPr/>
          <p:nvPr/>
        </p:nvSpPr>
        <p:spPr>
          <a:xfrm>
            <a:off x="1005840" y="4754880"/>
            <a:ext cx="1508760" cy="59436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lIns="54864" tIns="54864" wrap="square"/>
          <a:lstStyle/>
          <a:p>
            <a:pPr algn="ctr">
              <a:defRPr sz="800" b="1">
                <a:solidFill>
                  <a:srgbClr val="00E676"/>
                </a:solidFill>
                <a:latin typeface="Arial"/>
              </a:defRPr>
            </a:pPr>
            <a:r>
              <a:t>ZERO EXECUTION</a:t>
            </a:r>
          </a:p>
          <a:p>
            <a:pPr>
              <a:defRPr sz="750">
                <a:solidFill>
                  <a:srgbClr val="8FA3BF"/>
                </a:solidFill>
                <a:latin typeface="Arial"/>
              </a:defRPr>
            </a:pPr>
            <a:r>
              <a:t>100% Host Safe</a:t>
            </a:r>
          </a:p>
        </p:txBody>
      </p:sp>
      <p:sp>
        <p:nvSpPr>
          <p:cNvPr id="6" name="Rounded Rectangle 5"/>
          <p:cNvSpPr/>
          <p:nvPr/>
        </p:nvSpPr>
        <p:spPr>
          <a:xfrm>
            <a:off x="2624328" y="4754880"/>
            <a:ext cx="1508760" cy="59436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lIns="54864" tIns="54864" wrap="square"/>
          <a:lstStyle/>
          <a:p>
            <a:pPr algn="ctr">
              <a:defRPr sz="800" b="1">
                <a:solidFill>
                  <a:srgbClr val="00D4FF"/>
                </a:solidFill>
                <a:latin typeface="Arial"/>
              </a:defRPr>
            </a:pPr>
            <a:r>
              <a:t>34.8ms LATENCY</a:t>
            </a:r>
          </a:p>
          <a:p>
            <a:pPr>
              <a:defRPr sz="750">
                <a:solidFill>
                  <a:srgbClr val="8FA3BF"/>
                </a:solidFill>
                <a:latin typeface="Arial"/>
              </a:defRPr>
            </a:pPr>
            <a:r>
              <a:t>Real-Time Scan</a:t>
            </a:r>
          </a:p>
        </p:txBody>
      </p:sp>
      <p:sp>
        <p:nvSpPr>
          <p:cNvPr id="7" name="Rounded Rectangle 6"/>
          <p:cNvSpPr/>
          <p:nvPr/>
        </p:nvSpPr>
        <p:spPr>
          <a:xfrm>
            <a:off x="4242816" y="4754880"/>
            <a:ext cx="1508760" cy="594360"/>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lIns="54864" tIns="54864" wrap="square"/>
          <a:lstStyle/>
          <a:p>
            <a:pPr algn="ctr">
              <a:defRPr sz="800" b="1">
                <a:solidFill>
                  <a:srgbClr val="A371F7"/>
                </a:solidFill>
                <a:latin typeface="Arial"/>
              </a:defRPr>
            </a:pPr>
            <a:r>
              <a:t>GRAD-CAM</a:t>
            </a:r>
          </a:p>
          <a:p>
            <a:pPr>
              <a:defRPr sz="750">
                <a:solidFill>
                  <a:srgbClr val="8FA3BF"/>
                </a:solidFill>
                <a:latin typeface="Arial"/>
              </a:defRPr>
            </a:pPr>
            <a:r>
              <a:t>Forensic Auditing</a:t>
            </a:r>
          </a:p>
        </p:txBody>
      </p:sp>
      <p:sp>
        <p:nvSpPr>
          <p:cNvPr id="8" name="TextBox 7"/>
          <p:cNvSpPr txBox="1"/>
          <p:nvPr/>
        </p:nvSpPr>
        <p:spPr>
          <a:xfrm>
            <a:off x="1005840" y="5577840"/>
            <a:ext cx="4754880" cy="365760"/>
          </a:xfrm>
          <a:prstGeom prst="rect">
            <a:avLst/>
          </a:prstGeom>
          <a:noFill/>
        </p:spPr>
        <p:txBody>
          <a:bodyPr wrap="none" lIns="0" tIns="0">
            <a:spAutoFit/>
          </a:bodyPr>
          <a:lstStyle/>
          <a:p>
            <a:pPr>
              <a:defRPr sz="900" b="1">
                <a:solidFill>
                  <a:srgbClr val="00E676"/>
                </a:solidFill>
                <a:latin typeface="Arial"/>
              </a:defRPr>
            </a:pPr>
            <a:r>
              <a:t>Author: Manas Kumar  •  Academic &amp; Technical Defense  •  2026</a:t>
            </a:r>
          </a:p>
        </p:txBody>
      </p:sp>
      <p:sp>
        <p:nvSpPr>
          <p:cNvPr id="9" name="Rounded Rectangle 8"/>
          <p:cNvSpPr/>
          <p:nvPr/>
        </p:nvSpPr>
        <p:spPr>
          <a:xfrm>
            <a:off x="6248095" y="1280160"/>
            <a:ext cx="5212080" cy="493776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31375" y="138988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VECTOR BLUEPRINT</a:t>
            </a:r>
          </a:p>
        </p:txBody>
      </p:sp>
      <p:sp>
        <p:nvSpPr>
          <p:cNvPr id="11" name="TextBox 10"/>
          <p:cNvSpPr txBox="1"/>
          <p:nvPr/>
        </p:nvSpPr>
        <p:spPr>
          <a:xfrm>
            <a:off x="6430975" y="1389888"/>
            <a:ext cx="4846320" cy="502920"/>
          </a:xfrm>
          <a:prstGeom prst="rect">
            <a:avLst/>
          </a:prstGeom>
          <a:noFill/>
        </p:spPr>
        <p:txBody>
          <a:bodyPr wrap="square" lIns="0" tIns="0">
            <a:spAutoFit/>
          </a:bodyPr>
          <a:lstStyle/>
          <a:p>
            <a:pPr>
              <a:defRPr sz="1250" b="1">
                <a:solidFill>
                  <a:srgbClr val="FFFFFF"/>
                </a:solidFill>
                <a:latin typeface="Arial"/>
              </a:defRPr>
            </a:pPr>
            <a:r>
              <a:t>SYSTEM ARCHITECTURE SCHEMATIC</a:t>
            </a:r>
          </a:p>
          <a:p>
            <a:pPr>
              <a:spcBef>
                <a:spcPts val="200"/>
              </a:spcBef>
              <a:defRPr sz="900">
                <a:solidFill>
                  <a:srgbClr val="8FA3BF"/>
                </a:solidFill>
                <a:latin typeface="Arial"/>
              </a:defRPr>
            </a:pPr>
            <a:r>
              <a:t>Dual-Phase Computer Vision &amp; Threat Triage Workflow</a:t>
            </a:r>
          </a:p>
        </p:txBody>
      </p:sp>
      <p:sp>
        <p:nvSpPr>
          <p:cNvPr id="12" name="Rounded Rectangle 11"/>
          <p:cNvSpPr/>
          <p:nvPr/>
        </p:nvSpPr>
        <p:spPr>
          <a:xfrm>
            <a:off x="6492240" y="2011680"/>
            <a:ext cx="4723790" cy="777240"/>
          </a:xfrm>
          <a:prstGeom prst="roundRect">
            <a:avLst/>
          </a:prstGeom>
          <a:solidFill>
            <a:srgbClr val="09101A"/>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103120"/>
            <a:ext cx="4434840" cy="594360"/>
          </a:xfrm>
          <a:prstGeom prst="rect">
            <a:avLst/>
          </a:prstGeom>
          <a:noFill/>
        </p:spPr>
        <p:txBody>
          <a:bodyPr wrap="square" lIns="0" tIns="0">
            <a:spAutoFit/>
          </a:bodyPr>
          <a:lstStyle/>
          <a:p>
            <a:pPr>
              <a:defRPr sz="950" b="1">
                <a:solidFill>
                  <a:srgbClr val="FF1744"/>
                </a:solidFill>
                <a:latin typeface="Arial"/>
              </a:defRPr>
            </a:pPr>
            <a:r>
              <a:t>STAGE 01: RAW HOSTILE PE INGESTION</a:t>
            </a:r>
          </a:p>
          <a:p>
            <a:pPr>
              <a:spcBef>
                <a:spcPts val="200"/>
              </a:spcBef>
              <a:defRPr sz="850">
                <a:solidFill>
                  <a:srgbClr val="8FA3BF"/>
                </a:solidFill>
                <a:latin typeface="Arial"/>
              </a:defRPr>
            </a:pPr>
            <a:r>
              <a:t>Static file stream • 0% Code execution • Bypasses runtime evasion</a:t>
            </a:r>
          </a:p>
        </p:txBody>
      </p:sp>
      <p:sp>
        <p:nvSpPr>
          <p:cNvPr id="14" name="Down Arrow 13"/>
          <p:cNvSpPr/>
          <p:nvPr/>
        </p:nvSpPr>
        <p:spPr>
          <a:xfrm>
            <a:off x="8732520" y="2816352"/>
            <a:ext cx="228600" cy="128016"/>
          </a:xfrm>
          <a:prstGeom prst="down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2971800"/>
            <a:ext cx="4723790" cy="777240"/>
          </a:xfrm>
          <a:prstGeom prst="roundRect">
            <a:avLst/>
          </a:prstGeom>
          <a:solidFill>
            <a:srgbClr val="09101A"/>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063240"/>
            <a:ext cx="4434840" cy="594360"/>
          </a:xfrm>
          <a:prstGeom prst="rect">
            <a:avLst/>
          </a:prstGeom>
          <a:noFill/>
        </p:spPr>
        <p:txBody>
          <a:bodyPr wrap="square" lIns="0" tIns="0">
            <a:spAutoFit/>
          </a:bodyPr>
          <a:lstStyle/>
          <a:p>
            <a:pPr>
              <a:defRPr sz="950" b="1">
                <a:solidFill>
                  <a:srgbClr val="388BFD"/>
                </a:solidFill>
                <a:latin typeface="Arial"/>
              </a:defRPr>
            </a:pPr>
            <a:r>
              <a:t>STAGE 02: NATARAJ 2D TEXTURE PROJECTION</a:t>
            </a:r>
          </a:p>
          <a:p>
            <a:pPr>
              <a:spcBef>
                <a:spcPts val="200"/>
              </a:spcBef>
              <a:defRPr sz="850">
                <a:solidFill>
                  <a:srgbClr val="8FA3BF"/>
                </a:solidFill>
                <a:latin typeface="Arial"/>
              </a:defRPr>
            </a:pPr>
            <a:r>
              <a:t>Dynamic width W(size) • Maps [0, 255] bytes to grayscale pixel density</a:t>
            </a:r>
          </a:p>
        </p:txBody>
      </p:sp>
      <p:sp>
        <p:nvSpPr>
          <p:cNvPr id="17" name="Down Arrow 16"/>
          <p:cNvSpPr/>
          <p:nvPr/>
        </p:nvSpPr>
        <p:spPr>
          <a:xfrm>
            <a:off x="8732520" y="3776472"/>
            <a:ext cx="228600" cy="128016"/>
          </a:xfrm>
          <a:prstGeom prst="down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92240" y="3931920"/>
            <a:ext cx="4723790" cy="777240"/>
          </a:xfrm>
          <a:prstGeom prst="roundRect">
            <a:avLst/>
          </a:prstGeom>
          <a:solidFill>
            <a:srgbClr val="09101A"/>
          </a:solidFill>
          <a:ln w="1524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023360"/>
            <a:ext cx="4434840" cy="594360"/>
          </a:xfrm>
          <a:prstGeom prst="rect">
            <a:avLst/>
          </a:prstGeom>
          <a:noFill/>
        </p:spPr>
        <p:txBody>
          <a:bodyPr wrap="square" lIns="0" tIns="0">
            <a:spAutoFit/>
          </a:bodyPr>
          <a:lstStyle/>
          <a:p>
            <a:pPr>
              <a:defRPr sz="950" b="1">
                <a:solidFill>
                  <a:srgbClr val="A371F7"/>
                </a:solidFill>
                <a:latin typeface="Arial"/>
              </a:defRPr>
            </a:pPr>
            <a:r>
              <a:t>STAGE 03: RESNET-18 DEEP VISION BACKBONE</a:t>
            </a:r>
          </a:p>
          <a:p>
            <a:pPr>
              <a:spcBef>
                <a:spcPts val="200"/>
              </a:spcBef>
              <a:defRPr sz="850">
                <a:solidFill>
                  <a:srgbClr val="8FA3BF"/>
                </a:solidFill>
                <a:latin typeface="Arial"/>
              </a:defRPr>
            </a:pPr>
            <a:r>
              <a:t>Grayscale weight surgery • 4 residual stages • 11.2M parameters</a:t>
            </a:r>
          </a:p>
        </p:txBody>
      </p:sp>
      <p:sp>
        <p:nvSpPr>
          <p:cNvPr id="20" name="Down Arrow 19"/>
          <p:cNvSpPr/>
          <p:nvPr/>
        </p:nvSpPr>
        <p:spPr>
          <a:xfrm>
            <a:off x="8732520" y="4736592"/>
            <a:ext cx="228600" cy="128016"/>
          </a:xfrm>
          <a:prstGeom prst="down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92240" y="4892040"/>
            <a:ext cx="4723790" cy="77724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4983480"/>
            <a:ext cx="4434840" cy="594360"/>
          </a:xfrm>
          <a:prstGeom prst="rect">
            <a:avLst/>
          </a:prstGeom>
          <a:noFill/>
        </p:spPr>
        <p:txBody>
          <a:bodyPr wrap="square" lIns="0" tIns="0">
            <a:spAutoFit/>
          </a:bodyPr>
          <a:lstStyle/>
          <a:p>
            <a:pPr>
              <a:defRPr sz="950" b="1">
                <a:solidFill>
                  <a:srgbClr val="00E676"/>
                </a:solidFill>
                <a:latin typeface="Arial"/>
              </a:defRPr>
            </a:pPr>
            <a:r>
              <a:t>STAGE 04: MULTI-FAMILY TRIAGE &amp; GRAD-CAM</a:t>
            </a:r>
          </a:p>
          <a:p>
            <a:pPr>
              <a:spcBef>
                <a:spcPts val="200"/>
              </a:spcBef>
              <a:defRPr sz="850">
                <a:solidFill>
                  <a:srgbClr val="8FA3BF"/>
                </a:solidFill>
                <a:latin typeface="Arial"/>
              </a:defRPr>
            </a:pPr>
            <a:r>
              <a:t>97.86% Family classification • Layer 4 heatmaps • MITRE ATT&amp;CK intel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THREAT LANDSCAPE &amp; MOTIVATION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The Core Problem: Why Modern Antivirus Fails</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3383280" cy="4983480"/>
          </a:xfrm>
          <a:prstGeom prst="roundRect">
            <a:avLst/>
          </a:prstGeom>
          <a:solidFill>
            <a:srgbClr val="0E1726"/>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86000" y="1527048"/>
            <a:ext cx="1645920" cy="237744"/>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FF1744"/>
                </a:solidFill>
                <a:latin typeface="Arial"/>
              </a:defRPr>
            </a:pPr>
            <a:r>
              <a:t>TRADITIONAL DEFENSE</a:t>
            </a:r>
          </a:p>
        </p:txBody>
      </p:sp>
      <p:sp>
        <p:nvSpPr>
          <p:cNvPr id="7" name="TextBox 6"/>
          <p:cNvSpPr txBox="1"/>
          <p:nvPr/>
        </p:nvSpPr>
        <p:spPr>
          <a:xfrm>
            <a:off x="914400" y="1527048"/>
            <a:ext cx="3017520" cy="502920"/>
          </a:xfrm>
          <a:prstGeom prst="rect">
            <a:avLst/>
          </a:prstGeom>
          <a:noFill/>
        </p:spPr>
        <p:txBody>
          <a:bodyPr wrap="square" lIns="0" tIns="0">
            <a:spAutoFit/>
          </a:bodyPr>
          <a:lstStyle/>
          <a:p>
            <a:pPr>
              <a:defRPr sz="1250" b="1">
                <a:solidFill>
                  <a:srgbClr val="FFFFFF"/>
                </a:solidFill>
                <a:latin typeface="Arial"/>
              </a:defRPr>
            </a:pPr>
            <a:r>
              <a:t>1. Signature Hashes</a:t>
            </a:r>
          </a:p>
          <a:p>
            <a:pPr>
              <a:spcBef>
                <a:spcPts val="200"/>
              </a:spcBef>
              <a:defRPr sz="900">
                <a:solidFill>
                  <a:srgbClr val="8FA3BF"/>
                </a:solidFill>
                <a:latin typeface="Arial"/>
              </a:defRPr>
            </a:pPr>
            <a:r>
              <a:t>MD5 / SHA256 Blacklisting</a:t>
            </a:r>
          </a:p>
        </p:txBody>
      </p:sp>
      <p:sp>
        <p:nvSpPr>
          <p:cNvPr id="8" name="TextBox 7"/>
          <p:cNvSpPr txBox="1"/>
          <p:nvPr/>
        </p:nvSpPr>
        <p:spPr>
          <a:xfrm>
            <a:off x="914400" y="2103120"/>
            <a:ext cx="3017520" cy="2926080"/>
          </a:xfrm>
          <a:prstGeom prst="rect">
            <a:avLst/>
          </a:prstGeom>
          <a:noFill/>
        </p:spPr>
        <p:txBody>
          <a:bodyPr wrap="square" lIns="0" rIns="0" tIns="0" bIns="0">
            <a:spAutoFit/>
          </a:bodyPr>
          <a:lstStyle/>
          <a:p>
            <a:pPr>
              <a:spcAft>
                <a:spcPts val="800"/>
              </a:spcAft>
              <a:defRPr sz="950">
                <a:latin typeface="Arial"/>
              </a:defRPr>
            </a:pPr>
            <a:r>
              <a:rPr b="1">
                <a:solidFill>
                  <a:srgbClr val="00D4FF"/>
                </a:solidFill>
              </a:rPr>
              <a:t>• Polymorphic Evasion:</a:t>
            </a:r>
            <a:r>
              <a:rPr b="0">
                <a:solidFill>
                  <a:srgbClr val="FFFFFF"/>
                </a:solidFill>
              </a:rPr>
              <a:t> Attackers use UPX, Themida, and custom crypters that alter byte hashes on every build.</a:t>
            </a:r>
          </a:p>
          <a:p>
            <a:pPr>
              <a:spcAft>
                <a:spcPts val="800"/>
              </a:spcAft>
              <a:defRPr sz="950">
                <a:latin typeface="Arial"/>
              </a:defRPr>
            </a:pPr>
            <a:r>
              <a:rPr b="1">
                <a:solidFill>
                  <a:srgbClr val="00D4FF"/>
                </a:solidFill>
              </a:rPr>
              <a:t>• Zero-Day Blindspot:</a:t>
            </a:r>
            <a:r>
              <a:rPr b="0">
                <a:solidFill>
                  <a:srgbClr val="FFFFFF"/>
                </a:solidFill>
              </a:rPr>
              <a:t> Completely blind to novel variants or zero-day binaries with no cataloged hash in threat feeds.</a:t>
            </a:r>
          </a:p>
          <a:p>
            <a:pPr>
              <a:spcAft>
                <a:spcPts val="800"/>
              </a:spcAft>
              <a:defRPr sz="950">
                <a:latin typeface="Arial"/>
              </a:defRPr>
            </a:pPr>
            <a:r>
              <a:rPr b="1">
                <a:solidFill>
                  <a:srgbClr val="00D4FF"/>
                </a:solidFill>
              </a:rPr>
              <a:t>• Brittle Matching:</a:t>
            </a:r>
            <a:r>
              <a:rPr b="0">
                <a:solidFill>
                  <a:srgbClr val="FFFFFF"/>
                </a:solidFill>
              </a:rPr>
              <a:t> Flipping a single arbitrary bit defeats hash matching with zero operational cost to attackers.</a:t>
            </a:r>
          </a:p>
        </p:txBody>
      </p:sp>
      <p:sp>
        <p:nvSpPr>
          <p:cNvPr id="9" name="Rounded Rectangle 8"/>
          <p:cNvSpPr/>
          <p:nvPr/>
        </p:nvSpPr>
        <p:spPr>
          <a:xfrm>
            <a:off x="914400" y="5257800"/>
            <a:ext cx="3017520" cy="914400"/>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312664"/>
            <a:ext cx="2798064" cy="804672"/>
          </a:xfrm>
          <a:prstGeom prst="rect">
            <a:avLst/>
          </a:prstGeom>
          <a:noFill/>
        </p:spPr>
        <p:txBody>
          <a:bodyPr wrap="square" lIns="0" tIns="0">
            <a:spAutoFit/>
          </a:bodyPr>
          <a:lstStyle/>
          <a:p>
            <a:pPr>
              <a:defRPr sz="950" b="1">
                <a:solidFill>
                  <a:srgbClr val="FF1744"/>
                </a:solidFill>
                <a:latin typeface="Arial"/>
              </a:defRPr>
            </a:pPr>
            <a:r>
              <a:t>STATUS: BYPASSED IN SECONDS</a:t>
            </a:r>
          </a:p>
          <a:p>
            <a:pPr>
              <a:defRPr sz="850">
                <a:solidFill>
                  <a:srgbClr val="8FA3BF"/>
                </a:solidFill>
                <a:latin typeface="Arial"/>
              </a:defRPr>
            </a:pPr>
            <a:r>
              <a:t>Attacker Cost: Zero • Hash Database Obsolescence: 100% on new builds</a:t>
            </a:r>
          </a:p>
        </p:txBody>
      </p:sp>
      <p:sp>
        <p:nvSpPr>
          <p:cNvPr id="11" name="Rounded Rectangle 10"/>
          <p:cNvSpPr/>
          <p:nvPr/>
        </p:nvSpPr>
        <p:spPr>
          <a:xfrm>
            <a:off x="4403750" y="1417320"/>
            <a:ext cx="3383280" cy="4983480"/>
          </a:xfrm>
          <a:prstGeom prst="roundRect">
            <a:avLst/>
          </a:prstGeom>
          <a:solidFill>
            <a:srgbClr val="0E1726"/>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230" y="1527048"/>
            <a:ext cx="1645920" cy="237744"/>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FF9100"/>
                </a:solidFill>
                <a:latin typeface="Arial"/>
              </a:defRPr>
            </a:pPr>
            <a:r>
              <a:t>BEHAVIORAL ANALYSIS</a:t>
            </a:r>
          </a:p>
        </p:txBody>
      </p:sp>
      <p:sp>
        <p:nvSpPr>
          <p:cNvPr id="13" name="TextBox 12"/>
          <p:cNvSpPr txBox="1"/>
          <p:nvPr/>
        </p:nvSpPr>
        <p:spPr>
          <a:xfrm>
            <a:off x="4586630" y="1527048"/>
            <a:ext cx="3017520" cy="502920"/>
          </a:xfrm>
          <a:prstGeom prst="rect">
            <a:avLst/>
          </a:prstGeom>
          <a:noFill/>
        </p:spPr>
        <p:txBody>
          <a:bodyPr wrap="square" lIns="0" tIns="0">
            <a:spAutoFit/>
          </a:bodyPr>
          <a:lstStyle/>
          <a:p>
            <a:pPr>
              <a:defRPr sz="1250" b="1">
                <a:solidFill>
                  <a:srgbClr val="FFFFFF"/>
                </a:solidFill>
                <a:latin typeface="Arial"/>
              </a:defRPr>
            </a:pPr>
            <a:r>
              <a:t>2. Dynamic Sandboxes</a:t>
            </a:r>
          </a:p>
          <a:p>
            <a:pPr>
              <a:spcBef>
                <a:spcPts val="200"/>
              </a:spcBef>
              <a:defRPr sz="900">
                <a:solidFill>
                  <a:srgbClr val="8FA3BF"/>
                </a:solidFill>
                <a:latin typeface="Arial"/>
              </a:defRPr>
            </a:pPr>
            <a:r>
              <a:t>Virtual Machine Execution</a:t>
            </a:r>
          </a:p>
        </p:txBody>
      </p:sp>
      <p:sp>
        <p:nvSpPr>
          <p:cNvPr id="14" name="TextBox 13"/>
          <p:cNvSpPr txBox="1"/>
          <p:nvPr/>
        </p:nvSpPr>
        <p:spPr>
          <a:xfrm>
            <a:off x="4586630" y="2103120"/>
            <a:ext cx="3017520" cy="2926080"/>
          </a:xfrm>
          <a:prstGeom prst="rect">
            <a:avLst/>
          </a:prstGeom>
          <a:noFill/>
        </p:spPr>
        <p:txBody>
          <a:bodyPr wrap="square" lIns="0" rIns="0" tIns="0" bIns="0">
            <a:spAutoFit/>
          </a:bodyPr>
          <a:lstStyle/>
          <a:p>
            <a:pPr>
              <a:spcAft>
                <a:spcPts val="800"/>
              </a:spcAft>
              <a:defRPr sz="950">
                <a:latin typeface="Arial"/>
              </a:defRPr>
            </a:pPr>
            <a:r>
              <a:rPr b="1">
                <a:solidFill>
                  <a:srgbClr val="00D4FF"/>
                </a:solidFill>
              </a:rPr>
              <a:t>• Severe Latency:</a:t>
            </a:r>
            <a:r>
              <a:rPr b="0">
                <a:solidFill>
                  <a:srgbClr val="FFFFFF"/>
                </a:solidFill>
              </a:rPr>
              <a:t> Requires 3 to 10 minutes per binary to capture API calls, creating massive triage bottlenecks.</a:t>
            </a:r>
          </a:p>
          <a:p>
            <a:pPr>
              <a:spcAft>
                <a:spcPts val="800"/>
              </a:spcAft>
              <a:defRPr sz="950">
                <a:latin typeface="Arial"/>
              </a:defRPr>
            </a:pPr>
            <a:r>
              <a:rPr b="1">
                <a:solidFill>
                  <a:srgbClr val="00D4FF"/>
                </a:solidFill>
              </a:rPr>
              <a:t>• Sleep Evasion:</a:t>
            </a:r>
            <a:r>
              <a:rPr b="0">
                <a:solidFill>
                  <a:srgbClr val="FFFFFF"/>
                </a:solidFill>
              </a:rPr>
              <a:t> Malware detects hypervisors, delays execution with sleep loops, or waits for human mouse clicks.</a:t>
            </a:r>
          </a:p>
          <a:p>
            <a:pPr>
              <a:spcAft>
                <a:spcPts val="800"/>
              </a:spcAft>
              <a:defRPr sz="950">
                <a:latin typeface="Arial"/>
              </a:defRPr>
            </a:pPr>
            <a:r>
              <a:rPr b="1">
                <a:solidFill>
                  <a:srgbClr val="00D4FF"/>
                </a:solidFill>
              </a:rPr>
              <a:t>• Host Escape Risk:</a:t>
            </a:r>
            <a:r>
              <a:rPr b="0">
                <a:solidFill>
                  <a:srgbClr val="FFFFFF"/>
                </a:solidFill>
              </a:rPr>
              <a:t> Running active hostile code risks VM sandbox escape and accidental internal network infection.</a:t>
            </a:r>
          </a:p>
        </p:txBody>
      </p:sp>
      <p:sp>
        <p:nvSpPr>
          <p:cNvPr id="15" name="Rounded Rectangle 14"/>
          <p:cNvSpPr/>
          <p:nvPr/>
        </p:nvSpPr>
        <p:spPr>
          <a:xfrm>
            <a:off x="4586630" y="5257800"/>
            <a:ext cx="3017520" cy="914400"/>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6358" y="5312664"/>
            <a:ext cx="2798064" cy="804672"/>
          </a:xfrm>
          <a:prstGeom prst="rect">
            <a:avLst/>
          </a:prstGeom>
          <a:noFill/>
        </p:spPr>
        <p:txBody>
          <a:bodyPr wrap="square" lIns="0" tIns="0">
            <a:spAutoFit/>
          </a:bodyPr>
          <a:lstStyle/>
          <a:p>
            <a:pPr>
              <a:defRPr sz="950" b="1">
                <a:solidFill>
                  <a:srgbClr val="FF9100"/>
                </a:solidFill>
                <a:latin typeface="Arial"/>
              </a:defRPr>
            </a:pPr>
            <a:r>
              <a:t>STATUS: SEVERE TRIAGE BACKLOG</a:t>
            </a:r>
          </a:p>
          <a:p>
            <a:pPr>
              <a:defRPr sz="850">
                <a:solidFill>
                  <a:srgbClr val="8FA3BF"/>
                </a:solidFill>
                <a:latin typeface="Arial"/>
              </a:defRPr>
            </a:pPr>
            <a:r>
              <a:t>Queue Delay: 3-10 min/binary • Vulnerable to anti-analysis delay loops</a:t>
            </a:r>
          </a:p>
        </p:txBody>
      </p:sp>
      <p:sp>
        <p:nvSpPr>
          <p:cNvPr id="17" name="Rounded Rectangle 16"/>
          <p:cNvSpPr/>
          <p:nvPr/>
        </p:nvSpPr>
        <p:spPr>
          <a:xfrm>
            <a:off x="8075980" y="1417320"/>
            <a:ext cx="3383280" cy="4983480"/>
          </a:xfrm>
          <a:prstGeom prst="roundRect">
            <a:avLst/>
          </a:prstGeom>
          <a:solidFill>
            <a:srgbClr val="0E1726"/>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30460" y="1527048"/>
            <a:ext cx="1645920" cy="237744"/>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388BFD"/>
                </a:solidFill>
                <a:latin typeface="Arial"/>
              </a:defRPr>
            </a:pPr>
            <a:r>
              <a:t>REVERSE ENGINEERING</a:t>
            </a:r>
          </a:p>
        </p:txBody>
      </p:sp>
      <p:sp>
        <p:nvSpPr>
          <p:cNvPr id="19" name="TextBox 18"/>
          <p:cNvSpPr txBox="1"/>
          <p:nvPr/>
        </p:nvSpPr>
        <p:spPr>
          <a:xfrm>
            <a:off x="8258860" y="1527048"/>
            <a:ext cx="3017520" cy="502920"/>
          </a:xfrm>
          <a:prstGeom prst="rect">
            <a:avLst/>
          </a:prstGeom>
          <a:noFill/>
        </p:spPr>
        <p:txBody>
          <a:bodyPr wrap="square" lIns="0" tIns="0">
            <a:spAutoFit/>
          </a:bodyPr>
          <a:lstStyle/>
          <a:p>
            <a:pPr>
              <a:defRPr sz="1250" b="1">
                <a:solidFill>
                  <a:srgbClr val="FFFFFF"/>
                </a:solidFill>
                <a:latin typeface="Arial"/>
              </a:defRPr>
            </a:pPr>
            <a:r>
              <a:t>3. Static Disassembly</a:t>
            </a:r>
          </a:p>
          <a:p>
            <a:pPr>
              <a:spcBef>
                <a:spcPts val="200"/>
              </a:spcBef>
              <a:defRPr sz="900">
                <a:solidFill>
                  <a:srgbClr val="8FA3BF"/>
                </a:solidFill>
                <a:latin typeface="Arial"/>
              </a:defRPr>
            </a:pPr>
            <a:r>
              <a:t>IDA Pro / Ghidra Decompilation</a:t>
            </a:r>
          </a:p>
        </p:txBody>
      </p:sp>
      <p:sp>
        <p:nvSpPr>
          <p:cNvPr id="20" name="TextBox 19"/>
          <p:cNvSpPr txBox="1"/>
          <p:nvPr/>
        </p:nvSpPr>
        <p:spPr>
          <a:xfrm>
            <a:off x="8258860" y="2103120"/>
            <a:ext cx="3017520" cy="2926080"/>
          </a:xfrm>
          <a:prstGeom prst="rect">
            <a:avLst/>
          </a:prstGeom>
          <a:noFill/>
        </p:spPr>
        <p:txBody>
          <a:bodyPr wrap="square" lIns="0" rIns="0" tIns="0" bIns="0">
            <a:spAutoFit/>
          </a:bodyPr>
          <a:lstStyle/>
          <a:p>
            <a:pPr>
              <a:spcAft>
                <a:spcPts val="800"/>
              </a:spcAft>
              <a:defRPr sz="950">
                <a:latin typeface="Arial"/>
              </a:defRPr>
            </a:pPr>
            <a:r>
              <a:rPr b="1">
                <a:solidFill>
                  <a:srgbClr val="00D4FF"/>
                </a:solidFill>
              </a:rPr>
              <a:t>• Fragile Parsing:</a:t>
            </a:r>
            <a:r>
              <a:rPr b="0">
                <a:solidFill>
                  <a:srgbClr val="FFFFFF"/>
                </a:solidFill>
              </a:rPr>
              <a:t> Complex x86/x64 instruction disassembly takes seconds to minutes per file.</a:t>
            </a:r>
          </a:p>
          <a:p>
            <a:pPr>
              <a:spcAft>
                <a:spcPts val="800"/>
              </a:spcAft>
              <a:defRPr sz="950">
                <a:latin typeface="Arial"/>
              </a:defRPr>
            </a:pPr>
            <a:r>
              <a:rPr b="1">
                <a:solidFill>
                  <a:srgbClr val="00D4FF"/>
                </a:solidFill>
              </a:rPr>
              <a:t>• Anti-Disassembly Tricks:</a:t>
            </a:r>
            <a:r>
              <a:rPr b="0">
                <a:solidFill>
                  <a:srgbClr val="FFFFFF"/>
                </a:solidFill>
              </a:rPr>
              <a:t> Malicious packers intentionally corrupt PE headers, crashing disassemblers.</a:t>
            </a:r>
          </a:p>
          <a:p>
            <a:pPr>
              <a:spcAft>
                <a:spcPts val="800"/>
              </a:spcAft>
              <a:defRPr sz="950">
                <a:latin typeface="Arial"/>
              </a:defRPr>
            </a:pPr>
            <a:r>
              <a:rPr b="1">
                <a:solidFill>
                  <a:srgbClr val="00D4FF"/>
                </a:solidFill>
              </a:rPr>
              <a:t>• Storage Burden:</a:t>
            </a:r>
            <a:r>
              <a:rPr b="0">
                <a:solidFill>
                  <a:srgbClr val="FFFFFF"/>
                </a:solidFill>
              </a:rPr>
              <a:t> Extracting N-gram opcode tables and control-flow graphs consumes gigabytes of memory.</a:t>
            </a:r>
          </a:p>
        </p:txBody>
      </p:sp>
      <p:sp>
        <p:nvSpPr>
          <p:cNvPr id="21" name="Rounded Rectangle 20"/>
          <p:cNvSpPr/>
          <p:nvPr/>
        </p:nvSpPr>
        <p:spPr>
          <a:xfrm>
            <a:off x="8258860" y="5257800"/>
            <a:ext cx="3017520" cy="914400"/>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8588" y="5312664"/>
            <a:ext cx="2798064" cy="804672"/>
          </a:xfrm>
          <a:prstGeom prst="rect">
            <a:avLst/>
          </a:prstGeom>
          <a:noFill/>
        </p:spPr>
        <p:txBody>
          <a:bodyPr wrap="square" lIns="0" tIns="0">
            <a:spAutoFit/>
          </a:bodyPr>
          <a:lstStyle/>
          <a:p>
            <a:pPr>
              <a:defRPr sz="950" b="1">
                <a:solidFill>
                  <a:srgbClr val="388BFD"/>
                </a:solidFill>
                <a:latin typeface="Arial"/>
              </a:defRPr>
            </a:pPr>
            <a:r>
              <a:t>STATUS: CRASHES ON PACKED CODE</a:t>
            </a:r>
          </a:p>
          <a:p>
            <a:pPr>
              <a:defRPr sz="850">
                <a:solidFill>
                  <a:srgbClr val="8FA3BF"/>
                </a:solidFill>
                <a:latin typeface="Arial"/>
              </a:defRPr>
            </a:pPr>
            <a:r>
              <a:t>Header Sabotage: High vulnerability • Memory Footprint: Unscalable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CORE CONCEPT &amp; PHILOSOPHY</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The Big Idea: The Airport X-Ray Scanner Analogy</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INTUITIVE MENTAL MODEL</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The Airport Baggage Screening Metaphor</a:t>
            </a:r>
          </a:p>
          <a:p>
            <a:pPr>
              <a:spcBef>
                <a:spcPts val="200"/>
              </a:spcBef>
              <a:defRPr sz="900">
                <a:solidFill>
                  <a:srgbClr val="8FA3BF"/>
                </a:solidFill>
                <a:latin typeface="Arial"/>
              </a:defRPr>
            </a:pPr>
            <a:r>
              <a:t>Why Inspection Without Execution is the Superior Paradigm</a:t>
            </a:r>
          </a:p>
        </p:txBody>
      </p:sp>
      <p:sp>
        <p:nvSpPr>
          <p:cNvPr id="8" name="Rounded Rectangle 7"/>
          <p:cNvSpPr/>
          <p:nvPr/>
        </p:nvSpPr>
        <p:spPr>
          <a:xfrm>
            <a:off x="914400" y="2057400"/>
            <a:ext cx="4846320" cy="960120"/>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30552"/>
            <a:ext cx="4572000" cy="813816"/>
          </a:xfrm>
          <a:prstGeom prst="rect">
            <a:avLst/>
          </a:prstGeom>
          <a:noFill/>
        </p:spPr>
        <p:txBody>
          <a:bodyPr wrap="square" lIns="0" tIns="0">
            <a:spAutoFit/>
          </a:bodyPr>
          <a:lstStyle/>
          <a:p>
            <a:pPr>
              <a:defRPr sz="900" b="1">
                <a:solidFill>
                  <a:srgbClr val="FF1744"/>
                </a:solidFill>
                <a:latin typeface="Arial"/>
              </a:defRPr>
            </a:pPr>
            <a:r>
              <a:t>THE DILEMMA: EXPLOSIVE RISK</a:t>
            </a:r>
          </a:p>
          <a:p>
            <a:pPr>
              <a:spcBef>
                <a:spcPts val="200"/>
              </a:spcBef>
              <a:defRPr sz="800">
                <a:solidFill>
                  <a:srgbClr val="8FA3BF"/>
                </a:solidFill>
                <a:latin typeface="Arial"/>
              </a:defRPr>
            </a:pPr>
            <a:r>
              <a:t>Airport security cannot open and search every suitcase by hand. Opening takes too long, and detonating a bomb to test if it is dangerous defeats the entire purpose.</a:t>
            </a:r>
          </a:p>
        </p:txBody>
      </p:sp>
      <p:sp>
        <p:nvSpPr>
          <p:cNvPr id="10" name="Rounded Rectangle 9"/>
          <p:cNvSpPr/>
          <p:nvPr/>
        </p:nvSpPr>
        <p:spPr>
          <a:xfrm>
            <a:off x="914400" y="3127248"/>
            <a:ext cx="4846320" cy="96012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200400"/>
            <a:ext cx="4572000" cy="813816"/>
          </a:xfrm>
          <a:prstGeom prst="rect">
            <a:avLst/>
          </a:prstGeom>
          <a:noFill/>
        </p:spPr>
        <p:txBody>
          <a:bodyPr wrap="square" lIns="0" tIns="0">
            <a:spAutoFit/>
          </a:bodyPr>
          <a:lstStyle/>
          <a:p>
            <a:pPr>
              <a:defRPr sz="900" b="1">
                <a:solidFill>
                  <a:srgbClr val="00E676"/>
                </a:solidFill>
                <a:latin typeface="Arial"/>
              </a:defRPr>
            </a:pPr>
            <a:r>
              <a:t>THE SOLUTION: NON-INVASIVE X-RAY</a:t>
            </a:r>
          </a:p>
          <a:p>
            <a:pPr>
              <a:spcBef>
                <a:spcPts val="200"/>
              </a:spcBef>
              <a:defRPr sz="800">
                <a:solidFill>
                  <a:srgbClr val="8FA3BF"/>
                </a:solidFill>
                <a:latin typeface="Arial"/>
              </a:defRPr>
            </a:pPr>
            <a:r>
              <a:t>Luggage passes through an X-ray scanner without opening. Physical contents are converted into a 2D density image. Prohibited shapes are recognized instantly.</a:t>
            </a:r>
          </a:p>
        </p:txBody>
      </p:sp>
      <p:sp>
        <p:nvSpPr>
          <p:cNvPr id="12" name="Rounded Rectangle 11"/>
          <p:cNvSpPr/>
          <p:nvPr/>
        </p:nvSpPr>
        <p:spPr>
          <a:xfrm>
            <a:off x="914400" y="4197096"/>
            <a:ext cx="4846320" cy="960120"/>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270248"/>
            <a:ext cx="4572000" cy="813816"/>
          </a:xfrm>
          <a:prstGeom prst="rect">
            <a:avLst/>
          </a:prstGeom>
          <a:noFill/>
        </p:spPr>
        <p:txBody>
          <a:bodyPr wrap="square" lIns="0" tIns="0">
            <a:spAutoFit/>
          </a:bodyPr>
          <a:lstStyle/>
          <a:p>
            <a:pPr>
              <a:defRPr sz="900" b="1">
                <a:solidFill>
                  <a:srgbClr val="FF9100"/>
                </a:solidFill>
                <a:latin typeface="Arial"/>
              </a:defRPr>
            </a:pPr>
            <a:r>
              <a:t>THE CYBERSECURITY PARALLEL</a:t>
            </a:r>
          </a:p>
          <a:p>
            <a:pPr>
              <a:spcBef>
                <a:spcPts val="200"/>
              </a:spcBef>
              <a:defRPr sz="800">
                <a:solidFill>
                  <a:srgbClr val="8FA3BF"/>
                </a:solidFill>
                <a:latin typeface="Arial"/>
              </a:defRPr>
            </a:pPr>
            <a:r>
              <a:t>Executing hostile code in a sandbox risks host infection. Disassembling millions of instructions takes too long. Running malware to see what it does is dangerous.</a:t>
            </a:r>
          </a:p>
        </p:txBody>
      </p:sp>
      <p:sp>
        <p:nvSpPr>
          <p:cNvPr id="14" name="Rounded Rectangle 13"/>
          <p:cNvSpPr/>
          <p:nvPr/>
        </p:nvSpPr>
        <p:spPr>
          <a:xfrm>
            <a:off x="914400" y="5266944"/>
            <a:ext cx="4846320" cy="96012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340096"/>
            <a:ext cx="4572000" cy="813816"/>
          </a:xfrm>
          <a:prstGeom prst="rect">
            <a:avLst/>
          </a:prstGeom>
          <a:noFill/>
        </p:spPr>
        <p:txBody>
          <a:bodyPr wrap="square" lIns="0" tIns="0">
            <a:spAutoFit/>
          </a:bodyPr>
          <a:lstStyle/>
          <a:p>
            <a:pPr>
              <a:defRPr sz="900" b="1">
                <a:solidFill>
                  <a:srgbClr val="00D4FF"/>
                </a:solidFill>
                <a:latin typeface="Arial"/>
              </a:defRPr>
            </a:pPr>
            <a:r>
              <a:t>THE MALVISION BREAKTHROUGH</a:t>
            </a:r>
          </a:p>
          <a:p>
            <a:pPr>
              <a:spcBef>
                <a:spcPts val="200"/>
              </a:spcBef>
              <a:defRPr sz="800">
                <a:solidFill>
                  <a:srgbClr val="8FA3BF"/>
                </a:solidFill>
                <a:latin typeface="Arial"/>
              </a:defRPr>
            </a:pPr>
            <a:r>
              <a:t>Take an optical 'X-ray photo' of the raw unexecuted binary! Let a Deep Convolutional Neural Network classify the threat based on spatial texture blueprints.</a:t>
            </a:r>
          </a:p>
        </p:txBody>
      </p:sp>
      <p:sp>
        <p:nvSpPr>
          <p:cNvPr id="16" name="Rounded Rectangle 15"/>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31375" y="152704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PARADIGM SHIFT</a:t>
            </a:r>
          </a:p>
        </p:txBody>
      </p:sp>
      <p:sp>
        <p:nvSpPr>
          <p:cNvPr id="18" name="TextBox 17"/>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Comparative Paradigm Workflow</a:t>
            </a:r>
          </a:p>
          <a:p>
            <a:pPr>
              <a:spcBef>
                <a:spcPts val="200"/>
              </a:spcBef>
              <a:defRPr sz="900">
                <a:solidFill>
                  <a:srgbClr val="8FA3BF"/>
                </a:solidFill>
                <a:latin typeface="Arial"/>
              </a:defRPr>
            </a:pPr>
            <a:r>
              <a:t>Traditional Detonation vs. MalVision Vision Inspection</a:t>
            </a:r>
          </a:p>
        </p:txBody>
      </p:sp>
      <p:sp>
        <p:nvSpPr>
          <p:cNvPr id="19" name="Rounded Rectangle 18"/>
          <p:cNvSpPr/>
          <p:nvPr/>
        </p:nvSpPr>
        <p:spPr>
          <a:xfrm>
            <a:off x="6446520" y="2103120"/>
            <a:ext cx="4815230" cy="1691640"/>
          </a:xfrm>
          <a:prstGeom prst="roundRect">
            <a:avLst/>
          </a:prstGeom>
          <a:solidFill>
            <a:srgbClr val="09101A"/>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194560"/>
            <a:ext cx="4540910" cy="1508760"/>
          </a:xfrm>
          <a:prstGeom prst="rect">
            <a:avLst/>
          </a:prstGeom>
          <a:noFill/>
        </p:spPr>
        <p:txBody>
          <a:bodyPr wrap="square" lIns="0" tIns="0">
            <a:spAutoFit/>
          </a:bodyPr>
          <a:lstStyle/>
          <a:p>
            <a:pPr>
              <a:defRPr sz="950" b="1">
                <a:solidFill>
                  <a:srgbClr val="FF1744"/>
                </a:solidFill>
                <a:latin typeface="Arial"/>
              </a:defRPr>
            </a:pPr>
            <a:r>
              <a:t>TRADITIONAL RUNTIME DETONATION (HIGH RISK)</a:t>
            </a:r>
          </a:p>
        </p:txBody>
      </p:sp>
      <p:sp>
        <p:nvSpPr>
          <p:cNvPr id="21" name="TextBox 20"/>
          <p:cNvSpPr txBox="1"/>
          <p:nvPr/>
        </p:nvSpPr>
        <p:spPr>
          <a:xfrm>
            <a:off x="6583680" y="2468880"/>
            <a:ext cx="4540910" cy="1188720"/>
          </a:xfrm>
          <a:prstGeom prst="rect">
            <a:avLst/>
          </a:prstGeom>
          <a:noFill/>
        </p:spPr>
        <p:txBody>
          <a:bodyPr wrap="square" lIns="0" rIns="0" tIns="0" bIns="0">
            <a:spAutoFit/>
          </a:bodyPr>
          <a:lstStyle/>
          <a:p>
            <a:pPr>
              <a:spcAft>
                <a:spcPts val="300"/>
              </a:spcAft>
              <a:defRPr sz="850">
                <a:latin typeface="Arial"/>
              </a:defRPr>
            </a:pPr>
            <a:r>
              <a:rPr b="1">
                <a:solidFill>
                  <a:srgbClr val="00D4FF"/>
                </a:solidFill>
              </a:rPr>
              <a:t>• Workflow:</a:t>
            </a:r>
            <a:r>
              <a:rPr b="0">
                <a:solidFill>
                  <a:srgbClr val="FFFFFF"/>
                </a:solidFill>
              </a:rPr>
              <a:t> Hostile Binary  --&gt;  Spin up VM Sandbox  --&gt;  Execute Code for 5 mins</a:t>
            </a:r>
          </a:p>
          <a:p>
            <a:pPr>
              <a:spcAft>
                <a:spcPts val="300"/>
              </a:spcAft>
              <a:defRPr sz="850">
                <a:latin typeface="Arial"/>
              </a:defRPr>
            </a:pPr>
            <a:r>
              <a:rPr b="1">
                <a:solidFill>
                  <a:srgbClr val="00D4FF"/>
                </a:solidFill>
              </a:rPr>
              <a:t>• Failure Mode:</a:t>
            </a:r>
            <a:r>
              <a:rPr b="0">
                <a:solidFill>
                  <a:srgbClr val="FFFFFF"/>
                </a:solidFill>
              </a:rPr>
              <a:t> Malware detects hypervisor or sleeps 10 minutes to bypass analysis.</a:t>
            </a:r>
          </a:p>
          <a:p>
            <a:pPr>
              <a:spcAft>
                <a:spcPts val="300"/>
              </a:spcAft>
              <a:defRPr sz="850">
                <a:latin typeface="Arial"/>
              </a:defRPr>
            </a:pPr>
            <a:r>
              <a:rPr b="1">
                <a:solidFill>
                  <a:srgbClr val="00D4FF"/>
                </a:solidFill>
              </a:rPr>
              <a:t>• Result:</a:t>
            </a:r>
            <a:r>
              <a:rPr b="0">
                <a:solidFill>
                  <a:srgbClr val="FFFFFF"/>
                </a:solidFill>
              </a:rPr>
              <a:t> High infrastructure cost, massive latency backlog, and infection risk.</a:t>
            </a:r>
          </a:p>
        </p:txBody>
      </p:sp>
      <p:sp>
        <p:nvSpPr>
          <p:cNvPr id="22" name="Rounded Rectangle 21"/>
          <p:cNvSpPr/>
          <p:nvPr/>
        </p:nvSpPr>
        <p:spPr>
          <a:xfrm>
            <a:off x="6446520" y="3977639"/>
            <a:ext cx="4815230" cy="169164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069080"/>
            <a:ext cx="4540910" cy="1508760"/>
          </a:xfrm>
          <a:prstGeom prst="rect">
            <a:avLst/>
          </a:prstGeom>
          <a:noFill/>
        </p:spPr>
        <p:txBody>
          <a:bodyPr wrap="square" lIns="0" tIns="0">
            <a:spAutoFit/>
          </a:bodyPr>
          <a:lstStyle/>
          <a:p>
            <a:pPr>
              <a:defRPr sz="950" b="1">
                <a:solidFill>
                  <a:srgbClr val="00E676"/>
                </a:solidFill>
                <a:latin typeface="Arial"/>
              </a:defRPr>
            </a:pPr>
            <a:r>
              <a:t>MALVISION COMPUTER VISION (ZERO RISK)</a:t>
            </a:r>
          </a:p>
        </p:txBody>
      </p:sp>
      <p:sp>
        <p:nvSpPr>
          <p:cNvPr id="24" name="TextBox 23"/>
          <p:cNvSpPr txBox="1"/>
          <p:nvPr/>
        </p:nvSpPr>
        <p:spPr>
          <a:xfrm>
            <a:off x="6583680" y="4343400"/>
            <a:ext cx="4540910" cy="1188720"/>
          </a:xfrm>
          <a:prstGeom prst="rect">
            <a:avLst/>
          </a:prstGeom>
          <a:noFill/>
        </p:spPr>
        <p:txBody>
          <a:bodyPr wrap="square" lIns="0" rIns="0" tIns="0" bIns="0">
            <a:spAutoFit/>
          </a:bodyPr>
          <a:lstStyle/>
          <a:p>
            <a:pPr>
              <a:spcAft>
                <a:spcPts val="300"/>
              </a:spcAft>
              <a:defRPr sz="850">
                <a:latin typeface="Arial"/>
              </a:defRPr>
            </a:pPr>
            <a:r>
              <a:rPr b="1">
                <a:solidFill>
                  <a:srgbClr val="00D4FF"/>
                </a:solidFill>
              </a:rPr>
              <a:t>• Workflow:</a:t>
            </a:r>
            <a:r>
              <a:rPr b="0">
                <a:solidFill>
                  <a:srgbClr val="FFFFFF"/>
                </a:solidFill>
              </a:rPr>
              <a:t> Hostile Binary  --&gt;  2D Texture Projection  --&gt;  ResNet-18 Vision Model</a:t>
            </a:r>
          </a:p>
          <a:p>
            <a:pPr>
              <a:spcAft>
                <a:spcPts val="300"/>
              </a:spcAft>
              <a:defRPr sz="850">
                <a:latin typeface="Arial"/>
              </a:defRPr>
            </a:pPr>
            <a:r>
              <a:rPr b="1">
                <a:solidFill>
                  <a:srgbClr val="00D4FF"/>
                </a:solidFill>
              </a:rPr>
              <a:t>• Breakthrough:</a:t>
            </a:r>
            <a:r>
              <a:rPr b="0">
                <a:solidFill>
                  <a:srgbClr val="FFFFFF"/>
                </a:solidFill>
              </a:rPr>
              <a:t> File is NEVER executed; immune to anti-VM and sleep tricks.</a:t>
            </a:r>
          </a:p>
          <a:p>
            <a:pPr>
              <a:spcAft>
                <a:spcPts val="300"/>
              </a:spcAft>
              <a:defRPr sz="850">
                <a:latin typeface="Arial"/>
              </a:defRPr>
            </a:pPr>
            <a:r>
              <a:rPr b="1">
                <a:solidFill>
                  <a:srgbClr val="00D4FF"/>
                </a:solidFill>
              </a:rPr>
              <a:t>• Result:</a:t>
            </a:r>
            <a:r>
              <a:rPr b="0">
                <a:solidFill>
                  <a:srgbClr val="FFFFFF"/>
                </a:solidFill>
              </a:rPr>
              <a:t> 34.8ms scan speed, 97.86% accuracy, and 100% host safety guaranteed.</a:t>
            </a:r>
          </a:p>
        </p:txBody>
      </p:sp>
      <p:sp>
        <p:nvSpPr>
          <p:cNvPr id="25" name="Rounded Rectangle 24"/>
          <p:cNvSpPr/>
          <p:nvPr/>
        </p:nvSpPr>
        <p:spPr>
          <a:xfrm>
            <a:off x="6446520" y="5806440"/>
            <a:ext cx="4815230" cy="50292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6248" y="5861304"/>
            <a:ext cx="4595774" cy="393192"/>
          </a:xfrm>
          <a:prstGeom prst="rect">
            <a:avLst/>
          </a:prstGeom>
          <a:noFill/>
        </p:spPr>
        <p:txBody>
          <a:bodyPr wrap="square" lIns="0" tIns="0">
            <a:spAutoFit/>
          </a:bodyPr>
          <a:lstStyle/>
          <a:p>
            <a:pPr>
              <a:defRPr sz="950" b="1">
                <a:solidFill>
                  <a:srgbClr val="00D4FF"/>
                </a:solidFill>
                <a:latin typeface="Arial"/>
              </a:defRPr>
            </a:pPr>
            <a:r>
              <a:t>STRATEGIC ADVANTAGE</a:t>
            </a:r>
          </a:p>
          <a:p>
            <a:pPr>
              <a:defRPr sz="850">
                <a:solidFill>
                  <a:srgbClr val="8FA3BF"/>
                </a:solidFill>
                <a:latin typeface="Arial"/>
              </a:defRPr>
            </a:pPr>
            <a:r>
              <a:t>Replaces slow, dangerous sandbox execution with instant, safe visual inspection.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THEORETICAL FOUNDATION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Binary-to-Image Conversion &amp; Visual Textures</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MATHEMATICAL FORMULATION</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The Nataraj Bijective Mapping</a:t>
            </a:r>
          </a:p>
          <a:p>
            <a:pPr>
              <a:spcBef>
                <a:spcPts val="200"/>
              </a:spcBef>
              <a:defRPr sz="900">
                <a:solidFill>
                  <a:srgbClr val="8FA3BF"/>
                </a:solidFill>
                <a:latin typeface="Arial"/>
              </a:defRPr>
            </a:pPr>
            <a:r>
              <a:t>Mapping 1D Byte Arrays to 2D Spatial Grayscale Textures</a:t>
            </a:r>
          </a:p>
        </p:txBody>
      </p:sp>
      <p:sp>
        <p:nvSpPr>
          <p:cNvPr id="8" name="Rounded Rectangle 7"/>
          <p:cNvSpPr/>
          <p:nvPr/>
        </p:nvSpPr>
        <p:spPr>
          <a:xfrm>
            <a:off x="914400" y="2057400"/>
            <a:ext cx="4846320" cy="64008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850" b="1">
                <a:solidFill>
                  <a:srgbClr val="00D4FF"/>
                </a:solidFill>
                <a:latin typeface="Courier New"/>
              </a:defRPr>
            </a:pPr>
            <a:r>
              <a:t>Byte Stream B = [b_0, b_1, ... b_N-1] where b_i ∈ [0, 255]</a:t>
            </a:r>
          </a:p>
          <a:p>
            <a:pPr>
              <a:defRPr sz="850">
                <a:solidFill>
                  <a:srgbClr val="FFFFFF"/>
                </a:solidFill>
                <a:latin typeface="Courier New"/>
              </a:defRPr>
            </a:pPr>
            <a:r>
              <a:t>Pixel Brightness P(x, y) = b_(y*W + x)  |  Height H = ceil(N / W)</a:t>
            </a:r>
          </a:p>
        </p:txBody>
      </p:sp>
      <p:sp>
        <p:nvSpPr>
          <p:cNvPr id="9" name="TextBox 8"/>
          <p:cNvSpPr txBox="1"/>
          <p:nvPr/>
        </p:nvSpPr>
        <p:spPr>
          <a:xfrm>
            <a:off x="914400" y="2788920"/>
            <a:ext cx="4846320" cy="1005840"/>
          </a:xfrm>
          <a:prstGeom prst="rect">
            <a:avLst/>
          </a:prstGeom>
          <a:noFill/>
        </p:spPr>
        <p:txBody>
          <a:bodyPr wrap="square" lIns="0" rIns="0" tIns="0" bIns="0">
            <a:spAutoFit/>
          </a:bodyPr>
          <a:lstStyle/>
          <a:p>
            <a:pPr>
              <a:spcAft>
                <a:spcPts val="300"/>
              </a:spcAft>
              <a:defRPr sz="900">
                <a:latin typeface="Arial"/>
              </a:defRPr>
            </a:pPr>
            <a:r>
              <a:rPr b="1">
                <a:solidFill>
                  <a:srgbClr val="00D4FF"/>
                </a:solidFill>
              </a:rPr>
              <a:t>• Bijective Mapping:</a:t>
            </a:r>
            <a:r>
              <a:rPr b="0">
                <a:solidFill>
                  <a:srgbClr val="FFFFFF"/>
                </a:solidFill>
              </a:rPr>
              <a:t> Every 8-bit byte maps 1:1 to a grayscale pixel (0=Black, 255=White).</a:t>
            </a:r>
          </a:p>
          <a:p>
            <a:pPr>
              <a:spcAft>
                <a:spcPts val="300"/>
              </a:spcAft>
              <a:defRPr sz="900">
                <a:latin typeface="Arial"/>
              </a:defRPr>
            </a:pPr>
            <a:r>
              <a:rPr b="1">
                <a:solidFill>
                  <a:srgbClr val="00D4FF"/>
                </a:solidFill>
              </a:rPr>
              <a:t>• Dynamic Width Table:</a:t>
            </a:r>
            <a:r>
              <a:rPr b="0">
                <a:solidFill>
                  <a:srgbClr val="FFFFFF"/>
                </a:solidFill>
              </a:rPr>
              <a:t> Width W scales with file size to preserve visual aspect ratio.</a:t>
            </a:r>
          </a:p>
        </p:txBody>
      </p:sp>
      <p:graphicFrame>
        <p:nvGraphicFramePr>
          <p:cNvPr id="10" name="Table 9"/>
          <p:cNvGraphicFramePr>
            <a:graphicFrameLocks noGrp="1"/>
          </p:cNvGraphicFramePr>
          <p:nvPr/>
        </p:nvGraphicFramePr>
        <p:xfrm>
          <a:off x="914400" y="3840480"/>
          <a:ext cx="4846320" cy="2331720"/>
        </p:xfrm>
        <a:graphic>
          <a:graphicData uri="http://schemas.openxmlformats.org/drawingml/2006/table">
            <a:tbl>
              <a:tblPr firstRow="1" bandRow="1">
                <a:tableStyleId>{5C22544A-7EE6-4342-B048-85BDC9FD1C3A}</a:tableStyleId>
              </a:tblPr>
              <a:tblGrid>
                <a:gridCol w="2834640"/>
                <a:gridCol w="2011680"/>
              </a:tblGrid>
              <a:tr h="291465">
                <a:tc>
                  <a:txBody>
                    <a:bodyPr/>
                    <a:lstStyle/>
                    <a:p>
                      <a:pPr>
                        <a:defRPr sz="850" b="1">
                          <a:solidFill>
                            <a:srgbClr val="00D4FF"/>
                          </a:solidFill>
                          <a:latin typeface="Arial"/>
                        </a:defRPr>
                      </a:pPr>
                      <a:r>
                        <a:t>Binary File Size Range</a:t>
                      </a:r>
                    </a:p>
                  </a:txBody>
                  <a:tcPr marL="73152" marR="73152" marT="18288" marB="18288">
                    <a:solidFill>
                      <a:srgbClr val="121E31"/>
                    </a:solidFill>
                  </a:tcPr>
                </a:tc>
                <a:tc>
                  <a:txBody>
                    <a:bodyPr/>
                    <a:lstStyle/>
                    <a:p>
                      <a:pPr>
                        <a:defRPr sz="850" b="1">
                          <a:solidFill>
                            <a:srgbClr val="00D4FF"/>
                          </a:solidFill>
                          <a:latin typeface="Arial"/>
                        </a:defRPr>
                      </a:pPr>
                      <a:r>
                        <a:t>Dynamic Width (W)</a:t>
                      </a:r>
                    </a:p>
                  </a:txBody>
                  <a:tcPr marL="73152" marR="73152" marT="18288" marB="18288">
                    <a:solidFill>
                      <a:srgbClr val="121E31"/>
                    </a:solidFill>
                  </a:tcPr>
                </a:tc>
              </a:tr>
              <a:tr h="291465">
                <a:tc>
                  <a:txBody>
                    <a:bodyPr/>
                    <a:lstStyle/>
                    <a:p>
                      <a:pPr>
                        <a:defRPr sz="800" b="0">
                          <a:solidFill>
                            <a:srgbClr val="FFFFFF"/>
                          </a:solidFill>
                          <a:latin typeface="Arial"/>
                        </a:defRPr>
                      </a:pPr>
                      <a:r>
                        <a:t>&lt; 10 KB</a:t>
                      </a:r>
                    </a:p>
                  </a:txBody>
                  <a:tcPr marL="73152" marR="73152" marT="18288" marB="18288">
                    <a:solidFill>
                      <a:srgbClr val="09101A"/>
                    </a:solidFill>
                  </a:tcPr>
                </a:tc>
                <a:tc>
                  <a:txBody>
                    <a:bodyPr/>
                    <a:lstStyle/>
                    <a:p>
                      <a:pPr>
                        <a:defRPr sz="800" b="0">
                          <a:solidFill>
                            <a:srgbClr val="FFFFFF"/>
                          </a:solidFill>
                          <a:latin typeface="Arial"/>
                        </a:defRPr>
                      </a:pPr>
                      <a:r>
                        <a:t>32 pixels</a:t>
                      </a:r>
                    </a:p>
                  </a:txBody>
                  <a:tcPr marL="73152" marR="73152" marT="18288" marB="18288">
                    <a:solidFill>
                      <a:srgbClr val="09101A"/>
                    </a:solidFill>
                  </a:tcPr>
                </a:tc>
              </a:tr>
              <a:tr h="291465">
                <a:tc>
                  <a:txBody>
                    <a:bodyPr/>
                    <a:lstStyle/>
                    <a:p>
                      <a:pPr>
                        <a:defRPr sz="800" b="0">
                          <a:solidFill>
                            <a:srgbClr val="FFFFFF"/>
                          </a:solidFill>
                          <a:latin typeface="Arial"/>
                        </a:defRPr>
                      </a:pPr>
                      <a:r>
                        <a:t>10 KB – 30 KB</a:t>
                      </a:r>
                    </a:p>
                  </a:txBody>
                  <a:tcPr marL="73152" marR="73152" marT="18288" marB="18288">
                    <a:solidFill>
                      <a:srgbClr val="09101A"/>
                    </a:solidFill>
                  </a:tcPr>
                </a:tc>
                <a:tc>
                  <a:txBody>
                    <a:bodyPr/>
                    <a:lstStyle/>
                    <a:p>
                      <a:pPr>
                        <a:defRPr sz="800" b="0">
                          <a:solidFill>
                            <a:srgbClr val="FFFFFF"/>
                          </a:solidFill>
                          <a:latin typeface="Arial"/>
                        </a:defRPr>
                      </a:pPr>
                      <a:r>
                        <a:t>64 pixels</a:t>
                      </a:r>
                    </a:p>
                  </a:txBody>
                  <a:tcPr marL="73152" marR="73152" marT="18288" marB="18288">
                    <a:solidFill>
                      <a:srgbClr val="09101A"/>
                    </a:solidFill>
                  </a:tcPr>
                </a:tc>
              </a:tr>
              <a:tr h="291465">
                <a:tc>
                  <a:txBody>
                    <a:bodyPr/>
                    <a:lstStyle/>
                    <a:p>
                      <a:pPr>
                        <a:defRPr sz="800" b="0">
                          <a:solidFill>
                            <a:srgbClr val="FFFFFF"/>
                          </a:solidFill>
                          <a:latin typeface="Arial"/>
                        </a:defRPr>
                      </a:pPr>
                      <a:r>
                        <a:t>30 KB – 60 KB</a:t>
                      </a:r>
                    </a:p>
                  </a:txBody>
                  <a:tcPr marL="73152" marR="73152" marT="18288" marB="18288">
                    <a:solidFill>
                      <a:srgbClr val="09101A"/>
                    </a:solidFill>
                  </a:tcPr>
                </a:tc>
                <a:tc>
                  <a:txBody>
                    <a:bodyPr/>
                    <a:lstStyle/>
                    <a:p>
                      <a:pPr>
                        <a:defRPr sz="800" b="0">
                          <a:solidFill>
                            <a:srgbClr val="FFFFFF"/>
                          </a:solidFill>
                          <a:latin typeface="Arial"/>
                        </a:defRPr>
                      </a:pPr>
                      <a:r>
                        <a:t>128 pixels</a:t>
                      </a:r>
                    </a:p>
                  </a:txBody>
                  <a:tcPr marL="73152" marR="73152" marT="18288" marB="18288">
                    <a:solidFill>
                      <a:srgbClr val="09101A"/>
                    </a:solidFill>
                  </a:tcPr>
                </a:tc>
              </a:tr>
              <a:tr h="291465">
                <a:tc>
                  <a:txBody>
                    <a:bodyPr/>
                    <a:lstStyle/>
                    <a:p>
                      <a:pPr>
                        <a:defRPr sz="800" b="0">
                          <a:solidFill>
                            <a:srgbClr val="FFFFFF"/>
                          </a:solidFill>
                          <a:latin typeface="Arial"/>
                        </a:defRPr>
                      </a:pPr>
                      <a:r>
                        <a:t>60 KB – 100 KB</a:t>
                      </a:r>
                    </a:p>
                  </a:txBody>
                  <a:tcPr marL="73152" marR="73152" marT="18288" marB="18288">
                    <a:solidFill>
                      <a:srgbClr val="09101A"/>
                    </a:solidFill>
                  </a:tcPr>
                </a:tc>
                <a:tc>
                  <a:txBody>
                    <a:bodyPr/>
                    <a:lstStyle/>
                    <a:p>
                      <a:pPr>
                        <a:defRPr sz="800" b="0">
                          <a:solidFill>
                            <a:srgbClr val="FFFFFF"/>
                          </a:solidFill>
                          <a:latin typeface="Arial"/>
                        </a:defRPr>
                      </a:pPr>
                      <a:r>
                        <a:t>256 pixels</a:t>
                      </a:r>
                    </a:p>
                  </a:txBody>
                  <a:tcPr marL="73152" marR="73152" marT="18288" marB="18288">
                    <a:solidFill>
                      <a:srgbClr val="09101A"/>
                    </a:solidFill>
                  </a:tcPr>
                </a:tc>
              </a:tr>
              <a:tr h="291465">
                <a:tc>
                  <a:txBody>
                    <a:bodyPr/>
                    <a:lstStyle/>
                    <a:p>
                      <a:pPr>
                        <a:defRPr sz="800" b="0">
                          <a:solidFill>
                            <a:srgbClr val="FFFFFF"/>
                          </a:solidFill>
                          <a:latin typeface="Arial"/>
                        </a:defRPr>
                      </a:pPr>
                      <a:r>
                        <a:t>100 KB – 200 KB</a:t>
                      </a:r>
                    </a:p>
                  </a:txBody>
                  <a:tcPr marL="73152" marR="73152" marT="18288" marB="18288">
                    <a:solidFill>
                      <a:srgbClr val="09101A"/>
                    </a:solidFill>
                  </a:tcPr>
                </a:tc>
                <a:tc>
                  <a:txBody>
                    <a:bodyPr/>
                    <a:lstStyle/>
                    <a:p>
                      <a:pPr>
                        <a:defRPr sz="800" b="0">
                          <a:solidFill>
                            <a:srgbClr val="FFFFFF"/>
                          </a:solidFill>
                          <a:latin typeface="Arial"/>
                        </a:defRPr>
                      </a:pPr>
                      <a:r>
                        <a:t>384 pixels</a:t>
                      </a:r>
                    </a:p>
                  </a:txBody>
                  <a:tcPr marL="73152" marR="73152" marT="18288" marB="18288">
                    <a:solidFill>
                      <a:srgbClr val="09101A"/>
                    </a:solidFill>
                  </a:tcPr>
                </a:tc>
              </a:tr>
              <a:tr h="291465">
                <a:tc>
                  <a:txBody>
                    <a:bodyPr/>
                    <a:lstStyle/>
                    <a:p>
                      <a:pPr>
                        <a:defRPr sz="800" b="0">
                          <a:solidFill>
                            <a:srgbClr val="FFFFFF"/>
                          </a:solidFill>
                          <a:latin typeface="Arial"/>
                        </a:defRPr>
                      </a:pPr>
                      <a:r>
                        <a:t>200 KB – 500 KB</a:t>
                      </a:r>
                    </a:p>
                  </a:txBody>
                  <a:tcPr marL="73152" marR="73152" marT="18288" marB="18288">
                    <a:solidFill>
                      <a:srgbClr val="09101A"/>
                    </a:solidFill>
                  </a:tcPr>
                </a:tc>
                <a:tc>
                  <a:txBody>
                    <a:bodyPr/>
                    <a:lstStyle/>
                    <a:p>
                      <a:pPr>
                        <a:defRPr sz="800" b="0">
                          <a:solidFill>
                            <a:srgbClr val="FFFFFF"/>
                          </a:solidFill>
                          <a:latin typeface="Arial"/>
                        </a:defRPr>
                      </a:pPr>
                      <a:r>
                        <a:t>512 pixels</a:t>
                      </a:r>
                    </a:p>
                  </a:txBody>
                  <a:tcPr marL="73152" marR="73152" marT="18288" marB="18288">
                    <a:solidFill>
                      <a:srgbClr val="09101A"/>
                    </a:solidFill>
                  </a:tcPr>
                </a:tc>
              </a:tr>
              <a:tr h="291465">
                <a:tc>
                  <a:txBody>
                    <a:bodyPr/>
                    <a:lstStyle/>
                    <a:p>
                      <a:pPr>
                        <a:defRPr sz="800" b="0">
                          <a:solidFill>
                            <a:srgbClr val="FFFFFF"/>
                          </a:solidFill>
                          <a:latin typeface="Arial"/>
                        </a:defRPr>
                      </a:pPr>
                      <a:r>
                        <a:t>&gt; 1,000 KB (1 MB)</a:t>
                      </a:r>
                    </a:p>
                  </a:txBody>
                  <a:tcPr marL="73152" marR="73152" marT="18288" marB="18288">
                    <a:solidFill>
                      <a:srgbClr val="09101A"/>
                    </a:solidFill>
                  </a:tcPr>
                </a:tc>
                <a:tc>
                  <a:txBody>
                    <a:bodyPr/>
                    <a:lstStyle/>
                    <a:p>
                      <a:pPr>
                        <a:defRPr sz="800" b="0">
                          <a:solidFill>
                            <a:srgbClr val="FFFFFF"/>
                          </a:solidFill>
                          <a:latin typeface="Arial"/>
                        </a:defRPr>
                      </a:pPr>
                      <a:r>
                        <a:t>1024 pixels</a:t>
                      </a:r>
                    </a:p>
                  </a:txBody>
                  <a:tcPr marL="73152" marR="73152" marT="18288" marB="18288">
                    <a:solidFill>
                      <a:srgbClr val="09101A"/>
                    </a:solidFill>
                  </a:tcPr>
                </a:tc>
              </a:tr>
            </a:tbl>
          </a:graphicData>
        </a:graphic>
      </p:graphicFrame>
      <p:sp>
        <p:nvSpPr>
          <p:cNvPr id="11" name="Rounded Rectangle 10"/>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31375" y="1527048"/>
            <a:ext cx="1645920" cy="237744"/>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A371F7"/>
                </a:solidFill>
                <a:latin typeface="Arial"/>
              </a:defRPr>
            </a:pPr>
            <a:r>
              <a:t>SPATIAL SEMANTICS</a:t>
            </a:r>
          </a:p>
        </p:txBody>
      </p:sp>
      <p:sp>
        <p:nvSpPr>
          <p:cNvPr id="13" name="TextBox 12"/>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PE Anatomy &amp; Visual Texture Blueprint</a:t>
            </a:r>
          </a:p>
          <a:p>
            <a:pPr>
              <a:spcBef>
                <a:spcPts val="200"/>
              </a:spcBef>
              <a:defRPr sz="900">
                <a:solidFill>
                  <a:srgbClr val="8FA3BF"/>
                </a:solidFill>
                <a:latin typeface="Arial"/>
              </a:defRPr>
            </a:pPr>
            <a:r>
              <a:t>How Executable Sections Translate into Grayscale Patterns</a:t>
            </a:r>
          </a:p>
        </p:txBody>
      </p:sp>
      <p:sp>
        <p:nvSpPr>
          <p:cNvPr id="14" name="Rounded Rectangle 13"/>
          <p:cNvSpPr/>
          <p:nvPr/>
        </p:nvSpPr>
        <p:spPr>
          <a:xfrm>
            <a:off x="6446520" y="2057400"/>
            <a:ext cx="4846320" cy="91440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130552"/>
            <a:ext cx="4572000" cy="768096"/>
          </a:xfrm>
          <a:prstGeom prst="rect">
            <a:avLst/>
          </a:prstGeom>
          <a:noFill/>
        </p:spPr>
        <p:txBody>
          <a:bodyPr wrap="square" lIns="0" tIns="0">
            <a:spAutoFit/>
          </a:bodyPr>
          <a:lstStyle/>
          <a:p>
            <a:pPr>
              <a:defRPr sz="850" b="1">
                <a:solidFill>
                  <a:srgbClr val="00D4FF"/>
                </a:solidFill>
                <a:latin typeface="Arial"/>
              </a:defRPr>
            </a:pPr>
            <a:r>
              <a:t>PE HEADER &amp; DOS STUB (0x0000)</a:t>
            </a:r>
          </a:p>
          <a:p>
            <a:pPr>
              <a:spcBef>
                <a:spcPts val="200"/>
              </a:spcBef>
              <a:defRPr sz="800">
                <a:solidFill>
                  <a:srgbClr val="8FA3BF"/>
                </a:solidFill>
                <a:latin typeface="Arial"/>
              </a:defRPr>
            </a:pPr>
            <a:r>
              <a:t>Magic MZ signature, COFF header, optional header. Appears as structured dark horizontal bars with fixed byte offsets.</a:t>
            </a:r>
          </a:p>
        </p:txBody>
      </p:sp>
      <p:sp>
        <p:nvSpPr>
          <p:cNvPr id="16" name="Rounded Rectangle 15"/>
          <p:cNvSpPr/>
          <p:nvPr/>
        </p:nvSpPr>
        <p:spPr>
          <a:xfrm>
            <a:off x="6446520" y="3081528"/>
            <a:ext cx="4846320" cy="914400"/>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154680"/>
            <a:ext cx="4572000" cy="768096"/>
          </a:xfrm>
          <a:prstGeom prst="rect">
            <a:avLst/>
          </a:prstGeom>
          <a:noFill/>
        </p:spPr>
        <p:txBody>
          <a:bodyPr wrap="square" lIns="0" tIns="0">
            <a:spAutoFit/>
          </a:bodyPr>
          <a:lstStyle/>
          <a:p>
            <a:pPr>
              <a:defRPr sz="850" b="1">
                <a:solidFill>
                  <a:srgbClr val="388BFD"/>
                </a:solidFill>
                <a:latin typeface="Arial"/>
              </a:defRPr>
            </a:pPr>
            <a:r>
              <a:t>.TEXT CODE SECTION (MACHINE OPCODES)</a:t>
            </a:r>
          </a:p>
          <a:p>
            <a:pPr>
              <a:spcBef>
                <a:spcPts val="200"/>
              </a:spcBef>
              <a:defRPr sz="800">
                <a:solidFill>
                  <a:srgbClr val="8FA3BF"/>
                </a:solidFill>
                <a:latin typeface="Arial"/>
              </a:defRPr>
            </a:pPr>
            <a:r>
              <a:t>Compiled x86/x64 assembly instructions. Appears as speckled, fine-grained static texture with high local entropy.</a:t>
            </a:r>
          </a:p>
        </p:txBody>
      </p:sp>
      <p:sp>
        <p:nvSpPr>
          <p:cNvPr id="18" name="Rounded Rectangle 17"/>
          <p:cNvSpPr/>
          <p:nvPr/>
        </p:nvSpPr>
        <p:spPr>
          <a:xfrm>
            <a:off x="6446520" y="4105656"/>
            <a:ext cx="4846320" cy="914400"/>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178808"/>
            <a:ext cx="4572000" cy="768096"/>
          </a:xfrm>
          <a:prstGeom prst="rect">
            <a:avLst/>
          </a:prstGeom>
          <a:noFill/>
        </p:spPr>
        <p:txBody>
          <a:bodyPr wrap="square" lIns="0" tIns="0">
            <a:spAutoFit/>
          </a:bodyPr>
          <a:lstStyle/>
          <a:p>
            <a:pPr>
              <a:defRPr sz="850" b="1">
                <a:solidFill>
                  <a:srgbClr val="A371F7"/>
                </a:solidFill>
                <a:latin typeface="Arial"/>
              </a:defRPr>
            </a:pPr>
            <a:r>
              <a:t>.RDATA &amp; .DATA CONSTANTS / STRINGS</a:t>
            </a:r>
          </a:p>
          <a:p>
            <a:pPr>
              <a:spcBef>
                <a:spcPts val="200"/>
              </a:spcBef>
              <a:defRPr sz="800">
                <a:solidFill>
                  <a:srgbClr val="8FA3BF"/>
                </a:solidFill>
                <a:latin typeface="Arial"/>
              </a:defRPr>
            </a:pPr>
            <a:r>
              <a:t>ASCII strings, import address tables (IAT), and global variables. Appears as parallel horizontal bands and dark strips.</a:t>
            </a:r>
          </a:p>
        </p:txBody>
      </p:sp>
      <p:sp>
        <p:nvSpPr>
          <p:cNvPr id="20" name="Rounded Rectangle 19"/>
          <p:cNvSpPr/>
          <p:nvPr/>
        </p:nvSpPr>
        <p:spPr>
          <a:xfrm>
            <a:off x="6446520" y="5129784"/>
            <a:ext cx="4846320" cy="914400"/>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5202936"/>
            <a:ext cx="4572000" cy="768096"/>
          </a:xfrm>
          <a:prstGeom prst="rect">
            <a:avLst/>
          </a:prstGeom>
          <a:noFill/>
        </p:spPr>
        <p:txBody>
          <a:bodyPr wrap="square" lIns="0" tIns="0">
            <a:spAutoFit/>
          </a:bodyPr>
          <a:lstStyle/>
          <a:p>
            <a:pPr>
              <a:defRPr sz="850" b="1">
                <a:solidFill>
                  <a:srgbClr val="FF1744"/>
                </a:solidFill>
                <a:latin typeface="Arial"/>
              </a:defRPr>
            </a:pPr>
            <a:r>
              <a:t>PACKED / ENCRYPTED SHELLCODE</a:t>
            </a:r>
          </a:p>
          <a:p>
            <a:pPr>
              <a:spcBef>
                <a:spcPts val="200"/>
              </a:spcBef>
              <a:defRPr sz="800">
                <a:solidFill>
                  <a:srgbClr val="8FA3BF"/>
                </a:solidFill>
                <a:latin typeface="Arial"/>
              </a:defRPr>
            </a:pPr>
            <a:r>
              <a:t>UPX / Themida compressed payloads. Appears as dense high-frequency TV snow with near-maximum Shannon entropy.</a:t>
            </a:r>
          </a:p>
        </p:txBody>
      </p:sp>
      <p:sp>
        <p:nvSpPr>
          <p:cNvPr id="22" name="Rounded Rectangle 21"/>
          <p:cNvSpPr/>
          <p:nvPr/>
        </p:nvSpPr>
        <p:spPr>
          <a:xfrm>
            <a:off x="6446520" y="5806440"/>
            <a:ext cx="4846320" cy="50292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5861304"/>
            <a:ext cx="4626864" cy="393192"/>
          </a:xfrm>
          <a:prstGeom prst="rect">
            <a:avLst/>
          </a:prstGeom>
          <a:noFill/>
        </p:spPr>
        <p:txBody>
          <a:bodyPr wrap="square" lIns="0" tIns="0">
            <a:spAutoFit/>
          </a:bodyPr>
          <a:lstStyle/>
          <a:p>
            <a:pPr>
              <a:defRPr sz="950" b="1">
                <a:solidFill>
                  <a:srgbClr val="00E676"/>
                </a:solidFill>
                <a:latin typeface="Arial"/>
              </a:defRPr>
            </a:pPr>
            <a:r>
              <a:t>KEY DISCOVERY</a:t>
            </a:r>
          </a:p>
          <a:p>
            <a:pPr>
              <a:defRPr sz="850">
                <a:solidFill>
                  <a:srgbClr val="8FA3BF"/>
                </a:solidFill>
                <a:latin typeface="Arial"/>
              </a:defRPr>
            </a:pPr>
            <a:r>
              <a:t>Malware authors can change hashes, but cannot hide the macro visual structure of code sections.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ENGINEERING PIPELINE</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End-to-End System Architecture Blueprint</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10728655" cy="205740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DISTRIBUTED WORKFLOW</a:t>
            </a:r>
          </a:p>
        </p:txBody>
      </p:sp>
      <p:sp>
        <p:nvSpPr>
          <p:cNvPr id="7" name="TextBox 6"/>
          <p:cNvSpPr txBox="1"/>
          <p:nvPr/>
        </p:nvSpPr>
        <p:spPr>
          <a:xfrm>
            <a:off x="914400" y="1527048"/>
            <a:ext cx="10362895" cy="502920"/>
          </a:xfrm>
          <a:prstGeom prst="rect">
            <a:avLst/>
          </a:prstGeom>
          <a:noFill/>
        </p:spPr>
        <p:txBody>
          <a:bodyPr wrap="square" lIns="0" tIns="0">
            <a:spAutoFit/>
          </a:bodyPr>
          <a:lstStyle/>
          <a:p>
            <a:pPr>
              <a:defRPr sz="1250" b="1">
                <a:solidFill>
                  <a:srgbClr val="FFFFFF"/>
                </a:solidFill>
                <a:latin typeface="Arial"/>
              </a:defRPr>
            </a:pPr>
            <a:r>
              <a:t>6-STAGE END-TO-END PIPELINE ARCHITECTURE</a:t>
            </a:r>
          </a:p>
          <a:p>
            <a:pPr>
              <a:spcBef>
                <a:spcPts val="200"/>
              </a:spcBef>
              <a:defRPr sz="900">
                <a:solidFill>
                  <a:srgbClr val="8FA3BF"/>
                </a:solidFill>
                <a:latin typeface="Arial"/>
              </a:defRPr>
            </a:pPr>
            <a:r>
              <a:t>From Raw Unexecuted Binary Stream to Incident Response Dossier</a:t>
            </a:r>
          </a:p>
        </p:txBody>
      </p:sp>
      <p:sp>
        <p:nvSpPr>
          <p:cNvPr id="8" name="Rounded Rectangle 7"/>
          <p:cNvSpPr/>
          <p:nvPr/>
        </p:nvSpPr>
        <p:spPr>
          <a:xfrm>
            <a:off x="960120" y="2148840"/>
            <a:ext cx="1536192" cy="1097280"/>
          </a:xfrm>
          <a:prstGeom prst="roundRect">
            <a:avLst/>
          </a:prstGeom>
          <a:solidFill>
            <a:srgbClr val="09101A"/>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03704"/>
            <a:ext cx="1444752" cy="987552"/>
          </a:xfrm>
          <a:prstGeom prst="rect">
            <a:avLst/>
          </a:prstGeom>
          <a:noFill/>
        </p:spPr>
        <p:txBody>
          <a:bodyPr wrap="square" lIns="0" tIns="0">
            <a:spAutoFit/>
          </a:bodyPr>
          <a:lstStyle/>
          <a:p>
            <a:pPr>
              <a:defRPr sz="850" b="1">
                <a:solidFill>
                  <a:srgbClr val="FF1744"/>
                </a:solidFill>
                <a:latin typeface="Arial"/>
              </a:defRPr>
            </a:pPr>
            <a:r>
              <a:t>01. INGESTION</a:t>
            </a:r>
          </a:p>
          <a:p>
            <a:pPr>
              <a:spcBef>
                <a:spcPts val="200"/>
              </a:spcBef>
              <a:defRPr sz="750">
                <a:solidFill>
                  <a:srgbClr val="8FA3BF"/>
                </a:solidFill>
                <a:latin typeface="Arial"/>
              </a:defRPr>
            </a:pPr>
            <a:r>
              <a:t>Static file handle</a:t>
            </a:r>
            <a:br/>
            <a:r>
              <a:t>0% execution</a:t>
            </a:r>
            <a:br/>
            <a:r>
              <a:t>Immutable buffer</a:t>
            </a:r>
          </a:p>
        </p:txBody>
      </p:sp>
      <p:sp>
        <p:nvSpPr>
          <p:cNvPr id="10" name="Right Arrow 9"/>
          <p:cNvSpPr/>
          <p:nvPr/>
        </p:nvSpPr>
        <p:spPr>
          <a:xfrm>
            <a:off x="2542032" y="2587752"/>
            <a:ext cx="164592" cy="201168"/>
          </a:xfrm>
          <a:prstGeom prst="right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52344" y="2148840"/>
            <a:ext cx="1536192" cy="1097280"/>
          </a:xfrm>
          <a:prstGeom prst="roundRect">
            <a:avLst/>
          </a:prstGeom>
          <a:solidFill>
            <a:srgbClr val="09101A"/>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98064" y="2203704"/>
            <a:ext cx="1444752" cy="987552"/>
          </a:xfrm>
          <a:prstGeom prst="rect">
            <a:avLst/>
          </a:prstGeom>
          <a:noFill/>
        </p:spPr>
        <p:txBody>
          <a:bodyPr wrap="square" lIns="0" tIns="0">
            <a:spAutoFit/>
          </a:bodyPr>
          <a:lstStyle/>
          <a:p>
            <a:pPr>
              <a:defRPr sz="850" b="1">
                <a:solidFill>
                  <a:srgbClr val="388BFD"/>
                </a:solidFill>
                <a:latin typeface="Arial"/>
              </a:defRPr>
            </a:pPr>
            <a:r>
              <a:t>02. RESHAPE</a:t>
            </a:r>
          </a:p>
          <a:p>
            <a:pPr>
              <a:spcBef>
                <a:spcPts val="200"/>
              </a:spcBef>
              <a:defRPr sz="750">
                <a:solidFill>
                  <a:srgbClr val="8FA3BF"/>
                </a:solidFill>
                <a:latin typeface="Arial"/>
              </a:defRPr>
            </a:pPr>
            <a:r>
              <a:t>Nataraj formula</a:t>
            </a:r>
            <a:br/>
            <a:r>
              <a:t>Dynamic width</a:t>
            </a:r>
            <a:br/>
            <a:r>
              <a:t>[0, 255] pixels</a:t>
            </a:r>
          </a:p>
        </p:txBody>
      </p:sp>
      <p:sp>
        <p:nvSpPr>
          <p:cNvPr id="13" name="Right Arrow 12"/>
          <p:cNvSpPr/>
          <p:nvPr/>
        </p:nvSpPr>
        <p:spPr>
          <a:xfrm>
            <a:off x="4334256" y="2587752"/>
            <a:ext cx="164592" cy="201168"/>
          </a:xfrm>
          <a:prstGeom prst="right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44568" y="2148840"/>
            <a:ext cx="1536192" cy="1097280"/>
          </a:xfrm>
          <a:prstGeom prst="roundRect">
            <a:avLst/>
          </a:prstGeom>
          <a:solidFill>
            <a:srgbClr val="09101A"/>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203704"/>
            <a:ext cx="1444752" cy="987552"/>
          </a:xfrm>
          <a:prstGeom prst="rect">
            <a:avLst/>
          </a:prstGeom>
          <a:noFill/>
        </p:spPr>
        <p:txBody>
          <a:bodyPr wrap="square" lIns="0" tIns="0">
            <a:spAutoFit/>
          </a:bodyPr>
          <a:lstStyle/>
          <a:p>
            <a:pPr>
              <a:defRPr sz="850" b="1">
                <a:solidFill>
                  <a:srgbClr val="00D4FF"/>
                </a:solidFill>
                <a:latin typeface="Arial"/>
              </a:defRPr>
            </a:pPr>
            <a:r>
              <a:t>03. PREP</a:t>
            </a:r>
          </a:p>
          <a:p>
            <a:pPr>
              <a:spcBef>
                <a:spcPts val="200"/>
              </a:spcBef>
              <a:defRPr sz="750">
                <a:solidFill>
                  <a:srgbClr val="8FA3BF"/>
                </a:solidFill>
                <a:latin typeface="Arial"/>
              </a:defRPr>
            </a:pPr>
            <a:r>
              <a:t>Resize 224x224</a:t>
            </a:r>
            <a:br/>
            <a:r>
              <a:t>Tensor convert</a:t>
            </a:r>
            <a:br/>
            <a:r>
              <a:t>Normalization</a:t>
            </a:r>
          </a:p>
        </p:txBody>
      </p:sp>
      <p:sp>
        <p:nvSpPr>
          <p:cNvPr id="16" name="Right Arrow 15"/>
          <p:cNvSpPr/>
          <p:nvPr/>
        </p:nvSpPr>
        <p:spPr>
          <a:xfrm>
            <a:off x="6126480" y="2587752"/>
            <a:ext cx="164592" cy="201168"/>
          </a:xfrm>
          <a:prstGeom prst="right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36792" y="2148840"/>
            <a:ext cx="1536192" cy="1097280"/>
          </a:xfrm>
          <a:prstGeom prst="roundRect">
            <a:avLst/>
          </a:prstGeom>
          <a:solidFill>
            <a:srgbClr val="09101A"/>
          </a:solidFill>
          <a:ln w="1524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203704"/>
            <a:ext cx="1444752" cy="987552"/>
          </a:xfrm>
          <a:prstGeom prst="rect">
            <a:avLst/>
          </a:prstGeom>
          <a:noFill/>
        </p:spPr>
        <p:txBody>
          <a:bodyPr wrap="square" lIns="0" tIns="0">
            <a:spAutoFit/>
          </a:bodyPr>
          <a:lstStyle/>
          <a:p>
            <a:pPr>
              <a:defRPr sz="850" b="1">
                <a:solidFill>
                  <a:srgbClr val="A371F7"/>
                </a:solidFill>
                <a:latin typeface="Arial"/>
              </a:defRPr>
            </a:pPr>
            <a:r>
              <a:t>04. RESNET-18</a:t>
            </a:r>
          </a:p>
          <a:p>
            <a:pPr>
              <a:spcBef>
                <a:spcPts val="200"/>
              </a:spcBef>
              <a:defRPr sz="750">
                <a:solidFill>
                  <a:srgbClr val="8FA3BF"/>
                </a:solidFill>
                <a:latin typeface="Arial"/>
              </a:defRPr>
            </a:pPr>
            <a:r>
              <a:t>4 residual stages</a:t>
            </a:r>
            <a:br/>
            <a:r>
              <a:t>Weight surgery</a:t>
            </a:r>
            <a:br/>
            <a:r>
              <a:t>11.2M params</a:t>
            </a:r>
          </a:p>
        </p:txBody>
      </p:sp>
      <p:sp>
        <p:nvSpPr>
          <p:cNvPr id="19" name="Right Arrow 18"/>
          <p:cNvSpPr/>
          <p:nvPr/>
        </p:nvSpPr>
        <p:spPr>
          <a:xfrm>
            <a:off x="7918704" y="2587752"/>
            <a:ext cx="164592" cy="201168"/>
          </a:xfrm>
          <a:prstGeom prst="right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29016" y="2148840"/>
            <a:ext cx="1536192" cy="1097280"/>
          </a:xfrm>
          <a:prstGeom prst="roundRect">
            <a:avLst/>
          </a:prstGeom>
          <a:solidFill>
            <a:srgbClr val="09101A"/>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203704"/>
            <a:ext cx="1444752" cy="987552"/>
          </a:xfrm>
          <a:prstGeom prst="rect">
            <a:avLst/>
          </a:prstGeom>
          <a:noFill/>
        </p:spPr>
        <p:txBody>
          <a:bodyPr wrap="square" lIns="0" tIns="0">
            <a:spAutoFit/>
          </a:bodyPr>
          <a:lstStyle/>
          <a:p>
            <a:pPr>
              <a:defRPr sz="850" b="1">
                <a:solidFill>
                  <a:srgbClr val="FF9100"/>
                </a:solidFill>
                <a:latin typeface="Arial"/>
              </a:defRPr>
            </a:pPr>
            <a:r>
              <a:t>05. TRIAGE</a:t>
            </a:r>
          </a:p>
          <a:p>
            <a:pPr>
              <a:spcBef>
                <a:spcPts val="200"/>
              </a:spcBef>
              <a:defRPr sz="750">
                <a:solidFill>
                  <a:srgbClr val="8FA3BF"/>
                </a:solidFill>
                <a:latin typeface="Arial"/>
              </a:defRPr>
            </a:pPr>
            <a:r>
              <a:t>26-class softmax</a:t>
            </a:r>
            <a:br/>
            <a:r>
              <a:t>Entropy gating</a:t>
            </a:r>
            <a:br/>
            <a:r>
              <a:t>Threat levels</a:t>
            </a:r>
          </a:p>
        </p:txBody>
      </p:sp>
      <p:sp>
        <p:nvSpPr>
          <p:cNvPr id="22" name="Right Arrow 21"/>
          <p:cNvSpPr/>
          <p:nvPr/>
        </p:nvSpPr>
        <p:spPr>
          <a:xfrm>
            <a:off x="9710928" y="2587752"/>
            <a:ext cx="164592" cy="201168"/>
          </a:xfrm>
          <a:prstGeom prst="rightArrow">
            <a:avLst/>
          </a:prstGeom>
          <a:solidFill>
            <a:srgbClr val="00D4FF"/>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921240" y="2148840"/>
            <a:ext cx="1536192" cy="109728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960" y="2203704"/>
            <a:ext cx="1444752" cy="987552"/>
          </a:xfrm>
          <a:prstGeom prst="rect">
            <a:avLst/>
          </a:prstGeom>
          <a:noFill/>
        </p:spPr>
        <p:txBody>
          <a:bodyPr wrap="square" lIns="0" tIns="0">
            <a:spAutoFit/>
          </a:bodyPr>
          <a:lstStyle/>
          <a:p>
            <a:pPr>
              <a:defRPr sz="850" b="1">
                <a:solidFill>
                  <a:srgbClr val="00E676"/>
                </a:solidFill>
                <a:latin typeface="Arial"/>
              </a:defRPr>
            </a:pPr>
            <a:r>
              <a:t>06. GRAD-CAM</a:t>
            </a:r>
          </a:p>
          <a:p>
            <a:pPr>
              <a:spcBef>
                <a:spcPts val="200"/>
              </a:spcBef>
              <a:defRPr sz="750">
                <a:solidFill>
                  <a:srgbClr val="8FA3BF"/>
                </a:solidFill>
                <a:latin typeface="Arial"/>
              </a:defRPr>
            </a:pPr>
            <a:r>
              <a:t>Layer 4 heatmap</a:t>
            </a:r>
            <a:br/>
            <a:r>
              <a:t>Thermal overlay</a:t>
            </a:r>
            <a:br/>
            <a:r>
              <a:t>Audit dossier</a:t>
            </a:r>
          </a:p>
        </p:txBody>
      </p:sp>
      <p:sp>
        <p:nvSpPr>
          <p:cNvPr id="25" name="Rounded Rectangle 24"/>
          <p:cNvSpPr/>
          <p:nvPr/>
        </p:nvSpPr>
        <p:spPr>
          <a:xfrm>
            <a:off x="731520" y="3657600"/>
            <a:ext cx="3383280" cy="274320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286000" y="376732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PERFORMANCE</a:t>
            </a:r>
          </a:p>
        </p:txBody>
      </p:sp>
      <p:sp>
        <p:nvSpPr>
          <p:cNvPr id="27" name="TextBox 26"/>
          <p:cNvSpPr txBox="1"/>
          <p:nvPr/>
        </p:nvSpPr>
        <p:spPr>
          <a:xfrm>
            <a:off x="914400" y="3767328"/>
            <a:ext cx="3017520" cy="502920"/>
          </a:xfrm>
          <a:prstGeom prst="rect">
            <a:avLst/>
          </a:prstGeom>
          <a:noFill/>
        </p:spPr>
        <p:txBody>
          <a:bodyPr wrap="square" lIns="0" tIns="0">
            <a:spAutoFit/>
          </a:bodyPr>
          <a:lstStyle/>
          <a:p>
            <a:pPr>
              <a:defRPr sz="1250" b="1">
                <a:solidFill>
                  <a:srgbClr val="FFFFFF"/>
                </a:solidFill>
                <a:latin typeface="Arial"/>
              </a:defRPr>
            </a:pPr>
            <a:r>
              <a:t>Latency &amp; Compute Specs</a:t>
            </a:r>
          </a:p>
          <a:p>
            <a:pPr>
              <a:spcBef>
                <a:spcPts val="200"/>
              </a:spcBef>
              <a:defRPr sz="900">
                <a:solidFill>
                  <a:srgbClr val="8FA3BF"/>
                </a:solidFill>
                <a:latin typeface="Arial"/>
              </a:defRPr>
            </a:pPr>
            <a:r>
              <a:t>Commodity CPU Benchmarks</a:t>
            </a:r>
          </a:p>
        </p:txBody>
      </p:sp>
      <p:sp>
        <p:nvSpPr>
          <p:cNvPr id="28" name="TextBox 27"/>
          <p:cNvSpPr txBox="1"/>
          <p:nvPr/>
        </p:nvSpPr>
        <p:spPr>
          <a:xfrm>
            <a:off x="914400" y="4343400"/>
            <a:ext cx="3017520" cy="1920240"/>
          </a:xfrm>
          <a:prstGeom prst="rect">
            <a:avLst/>
          </a:prstGeom>
          <a:noFill/>
        </p:spPr>
        <p:txBody>
          <a:bodyPr wrap="square" lIns="0" rIns="0" tIns="0" bIns="0">
            <a:spAutoFit/>
          </a:bodyPr>
          <a:lstStyle/>
          <a:p>
            <a:pPr>
              <a:spcAft>
                <a:spcPts val="500"/>
              </a:spcAft>
              <a:defRPr sz="850">
                <a:latin typeface="Arial"/>
              </a:defRPr>
            </a:pPr>
            <a:r>
              <a:rPr b="1">
                <a:solidFill>
                  <a:srgbClr val="00D4FF"/>
                </a:solidFill>
              </a:rPr>
              <a:t>• Inference Latency:</a:t>
            </a:r>
            <a:r>
              <a:rPr b="0">
                <a:solidFill>
                  <a:srgbClr val="FFFFFF"/>
                </a:solidFill>
              </a:rPr>
              <a:t> 34.8 ms mean per file on commodity multi-core CPU.</a:t>
            </a:r>
          </a:p>
          <a:p>
            <a:pPr>
              <a:spcAft>
                <a:spcPts val="500"/>
              </a:spcAft>
              <a:defRPr sz="850">
                <a:latin typeface="Arial"/>
              </a:defRPr>
            </a:pPr>
            <a:r>
              <a:rPr b="1">
                <a:solidFill>
                  <a:srgbClr val="00D4FF"/>
                </a:solidFill>
              </a:rPr>
              <a:t>• Model Footprint:</a:t>
            </a:r>
            <a:r>
              <a:rPr b="0">
                <a:solidFill>
                  <a:srgbClr val="FFFFFF"/>
                </a:solidFill>
              </a:rPr>
              <a:t> 42.7 MB (.pth weights), highly portable for edge deployment.</a:t>
            </a:r>
          </a:p>
          <a:p>
            <a:pPr>
              <a:spcAft>
                <a:spcPts val="500"/>
              </a:spcAft>
              <a:defRPr sz="850">
                <a:latin typeface="Arial"/>
              </a:defRPr>
            </a:pPr>
            <a:r>
              <a:rPr b="1">
                <a:solidFill>
                  <a:srgbClr val="00D4FF"/>
                </a:solidFill>
              </a:rPr>
              <a:t>• Memory Overhead:</a:t>
            </a:r>
            <a:r>
              <a:rPr b="0">
                <a:solidFill>
                  <a:srgbClr val="FFFFFF"/>
                </a:solidFill>
              </a:rPr>
              <a:t> &lt; 180 MB active RAM during continuous batch scanning.</a:t>
            </a:r>
          </a:p>
          <a:p>
            <a:pPr>
              <a:spcAft>
                <a:spcPts val="500"/>
              </a:spcAft>
              <a:defRPr sz="850">
                <a:latin typeface="Arial"/>
              </a:defRPr>
            </a:pPr>
            <a:r>
              <a:rPr b="1">
                <a:solidFill>
                  <a:srgbClr val="00D4FF"/>
                </a:solidFill>
              </a:rPr>
              <a:t>• Throughput:</a:t>
            </a:r>
            <a:r>
              <a:rPr b="0">
                <a:solidFill>
                  <a:srgbClr val="FFFFFF"/>
                </a:solidFill>
              </a:rPr>
              <a:t> Processes &gt; 28 binaries/sec per core without GPU acceleration.</a:t>
            </a:r>
          </a:p>
        </p:txBody>
      </p:sp>
      <p:sp>
        <p:nvSpPr>
          <p:cNvPr id="29" name="Rounded Rectangle 28"/>
          <p:cNvSpPr/>
          <p:nvPr/>
        </p:nvSpPr>
        <p:spPr>
          <a:xfrm>
            <a:off x="4403750" y="3657600"/>
            <a:ext cx="3383280" cy="274320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58230" y="376732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SAFETY ASSURANCE</a:t>
            </a:r>
          </a:p>
        </p:txBody>
      </p:sp>
      <p:sp>
        <p:nvSpPr>
          <p:cNvPr id="31" name="TextBox 30"/>
          <p:cNvSpPr txBox="1"/>
          <p:nvPr/>
        </p:nvSpPr>
        <p:spPr>
          <a:xfrm>
            <a:off x="4586630" y="3767328"/>
            <a:ext cx="3017520" cy="502920"/>
          </a:xfrm>
          <a:prstGeom prst="rect">
            <a:avLst/>
          </a:prstGeom>
          <a:noFill/>
        </p:spPr>
        <p:txBody>
          <a:bodyPr wrap="square" lIns="0" tIns="0">
            <a:spAutoFit/>
          </a:bodyPr>
          <a:lstStyle/>
          <a:p>
            <a:pPr>
              <a:defRPr sz="1250" b="1">
                <a:solidFill>
                  <a:srgbClr val="FFFFFF"/>
                </a:solidFill>
                <a:latin typeface="Arial"/>
              </a:defRPr>
            </a:pPr>
            <a:r>
              <a:t>Security &amp; Safety Guarantees</a:t>
            </a:r>
          </a:p>
          <a:p>
            <a:pPr>
              <a:spcBef>
                <a:spcPts val="200"/>
              </a:spcBef>
              <a:defRPr sz="900">
                <a:solidFill>
                  <a:srgbClr val="8FA3BF"/>
                </a:solidFill>
                <a:latin typeface="Arial"/>
              </a:defRPr>
            </a:pPr>
            <a:r>
              <a:t>Zero-Execution Principles</a:t>
            </a:r>
          </a:p>
        </p:txBody>
      </p:sp>
      <p:sp>
        <p:nvSpPr>
          <p:cNvPr id="32" name="TextBox 31"/>
          <p:cNvSpPr txBox="1"/>
          <p:nvPr/>
        </p:nvSpPr>
        <p:spPr>
          <a:xfrm>
            <a:off x="4586630" y="4343400"/>
            <a:ext cx="3017520" cy="1920240"/>
          </a:xfrm>
          <a:prstGeom prst="rect">
            <a:avLst/>
          </a:prstGeom>
          <a:noFill/>
        </p:spPr>
        <p:txBody>
          <a:bodyPr wrap="square" lIns="0" rIns="0" tIns="0" bIns="0">
            <a:spAutoFit/>
          </a:bodyPr>
          <a:lstStyle/>
          <a:p>
            <a:pPr>
              <a:spcAft>
                <a:spcPts val="500"/>
              </a:spcAft>
              <a:defRPr sz="850">
                <a:latin typeface="Arial"/>
              </a:defRPr>
            </a:pPr>
            <a:r>
              <a:rPr b="1">
                <a:solidFill>
                  <a:srgbClr val="00D4FF"/>
                </a:solidFill>
              </a:rPr>
              <a:t>• Zero-Execution:</a:t>
            </a:r>
            <a:r>
              <a:rPr b="0">
                <a:solidFill>
                  <a:srgbClr val="FFFFFF"/>
                </a:solidFill>
              </a:rPr>
              <a:t> 0.00% machine instructions executed; 100% read-only analysis.</a:t>
            </a:r>
          </a:p>
          <a:p>
            <a:pPr>
              <a:spcAft>
                <a:spcPts val="500"/>
              </a:spcAft>
              <a:defRPr sz="850">
                <a:latin typeface="Arial"/>
              </a:defRPr>
            </a:pPr>
            <a:r>
              <a:rPr b="1">
                <a:solidFill>
                  <a:srgbClr val="00D4FF"/>
                </a:solidFill>
              </a:rPr>
              <a:t>• Anti-VM Immunity:</a:t>
            </a:r>
            <a:r>
              <a:rPr b="0">
                <a:solidFill>
                  <a:srgbClr val="FFFFFF"/>
                </a:solidFill>
              </a:rPr>
              <a:t> Completely unaffected by sleep loops or hypervisor checks.</a:t>
            </a:r>
          </a:p>
          <a:p>
            <a:pPr>
              <a:spcAft>
                <a:spcPts val="500"/>
              </a:spcAft>
              <a:defRPr sz="850">
                <a:latin typeface="Arial"/>
              </a:defRPr>
            </a:pPr>
            <a:r>
              <a:rPr b="1">
                <a:solidFill>
                  <a:srgbClr val="00D4FF"/>
                </a:solidFill>
              </a:rPr>
              <a:t>• Memory Safety:</a:t>
            </a:r>
            <a:r>
              <a:rPr b="0">
                <a:solidFill>
                  <a:srgbClr val="FFFFFF"/>
                </a:solidFill>
              </a:rPr>
              <a:t> Sandboxed Python byte array manipulation prevents exploits.</a:t>
            </a:r>
          </a:p>
          <a:p>
            <a:pPr>
              <a:spcAft>
                <a:spcPts val="500"/>
              </a:spcAft>
              <a:defRPr sz="850">
                <a:latin typeface="Arial"/>
              </a:defRPr>
            </a:pPr>
            <a:r>
              <a:rPr b="1">
                <a:solidFill>
                  <a:srgbClr val="00D4FF"/>
                </a:solidFill>
              </a:rPr>
              <a:t>• Host Protection:</a:t>
            </a:r>
            <a:r>
              <a:rPr b="0">
                <a:solidFill>
                  <a:srgbClr val="FFFFFF"/>
                </a:solidFill>
              </a:rPr>
              <a:t> No execution permissions required for storage partitions.</a:t>
            </a:r>
          </a:p>
        </p:txBody>
      </p:sp>
      <p:sp>
        <p:nvSpPr>
          <p:cNvPr id="33" name="Rounded Rectangle 32"/>
          <p:cNvSpPr/>
          <p:nvPr/>
        </p:nvSpPr>
        <p:spPr>
          <a:xfrm>
            <a:off x="8075980" y="3657600"/>
            <a:ext cx="3383280" cy="274320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30460" y="3767328"/>
            <a:ext cx="1645920" cy="237744"/>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A371F7"/>
                </a:solidFill>
                <a:latin typeface="Arial"/>
              </a:defRPr>
            </a:pPr>
            <a:r>
              <a:t>SOC ACTIONABILITY</a:t>
            </a:r>
          </a:p>
        </p:txBody>
      </p:sp>
      <p:sp>
        <p:nvSpPr>
          <p:cNvPr id="35" name="TextBox 34"/>
          <p:cNvSpPr txBox="1"/>
          <p:nvPr/>
        </p:nvSpPr>
        <p:spPr>
          <a:xfrm>
            <a:off x="8258860" y="3767328"/>
            <a:ext cx="3017520" cy="502920"/>
          </a:xfrm>
          <a:prstGeom prst="rect">
            <a:avLst/>
          </a:prstGeom>
          <a:noFill/>
        </p:spPr>
        <p:txBody>
          <a:bodyPr wrap="square" lIns="0" tIns="0">
            <a:spAutoFit/>
          </a:bodyPr>
          <a:lstStyle/>
          <a:p>
            <a:pPr>
              <a:defRPr sz="1250" b="1">
                <a:solidFill>
                  <a:srgbClr val="FFFFFF"/>
                </a:solidFill>
                <a:latin typeface="Arial"/>
              </a:defRPr>
            </a:pPr>
            <a:r>
              <a:t>Output Deliverables</a:t>
            </a:r>
          </a:p>
          <a:p>
            <a:pPr>
              <a:spcBef>
                <a:spcPts val="200"/>
              </a:spcBef>
              <a:defRPr sz="900">
                <a:solidFill>
                  <a:srgbClr val="8FA3BF"/>
                </a:solidFill>
                <a:latin typeface="Arial"/>
              </a:defRPr>
            </a:pPr>
            <a:r>
              <a:t>Incident Response Triage Package</a:t>
            </a:r>
          </a:p>
        </p:txBody>
      </p:sp>
      <p:sp>
        <p:nvSpPr>
          <p:cNvPr id="36" name="TextBox 35"/>
          <p:cNvSpPr txBox="1"/>
          <p:nvPr/>
        </p:nvSpPr>
        <p:spPr>
          <a:xfrm>
            <a:off x="8258860" y="4343400"/>
            <a:ext cx="3017520" cy="1920240"/>
          </a:xfrm>
          <a:prstGeom prst="rect">
            <a:avLst/>
          </a:prstGeom>
          <a:noFill/>
        </p:spPr>
        <p:txBody>
          <a:bodyPr wrap="square" lIns="0" rIns="0" tIns="0" bIns="0">
            <a:spAutoFit/>
          </a:bodyPr>
          <a:lstStyle/>
          <a:p>
            <a:pPr>
              <a:spcAft>
                <a:spcPts val="500"/>
              </a:spcAft>
              <a:defRPr sz="850">
                <a:latin typeface="Arial"/>
              </a:defRPr>
            </a:pPr>
            <a:r>
              <a:rPr b="1">
                <a:solidFill>
                  <a:srgbClr val="00D4FF"/>
                </a:solidFill>
              </a:rPr>
              <a:t>• Family Match:</a:t>
            </a:r>
            <a:r>
              <a:rPr b="0">
                <a:solidFill>
                  <a:srgbClr val="FFFFFF"/>
                </a:solidFill>
              </a:rPr>
              <a:t> Predicted malware family out of 26 cataloged classes.</a:t>
            </a:r>
          </a:p>
          <a:p>
            <a:pPr>
              <a:spcAft>
                <a:spcPts val="500"/>
              </a:spcAft>
              <a:defRPr sz="850">
                <a:latin typeface="Arial"/>
              </a:defRPr>
            </a:pPr>
            <a:r>
              <a:rPr b="1">
                <a:solidFill>
                  <a:srgbClr val="00D4FF"/>
                </a:solidFill>
              </a:rPr>
              <a:t>• Triage Tier:</a:t>
            </a:r>
            <a:r>
              <a:rPr b="0">
                <a:solidFill>
                  <a:srgbClr val="FFFFFF"/>
                </a:solidFill>
              </a:rPr>
              <a:t> CRITICAL (&gt;85%), SUSPICIOUS (60-85%), or BENIGN (&lt;60%).</a:t>
            </a:r>
          </a:p>
          <a:p>
            <a:pPr>
              <a:spcAft>
                <a:spcPts val="500"/>
              </a:spcAft>
              <a:defRPr sz="850">
                <a:latin typeface="Arial"/>
              </a:defRPr>
            </a:pPr>
            <a:r>
              <a:rPr b="1">
                <a:solidFill>
                  <a:srgbClr val="00D4FF"/>
                </a:solidFill>
              </a:rPr>
              <a:t>• Visual Evidence:</a:t>
            </a:r>
            <a:r>
              <a:rPr b="0">
                <a:solidFill>
                  <a:srgbClr val="FFFFFF"/>
                </a:solidFill>
              </a:rPr>
              <a:t> Layer 4 Grad-CAM thermal attention heatmap overlay.</a:t>
            </a:r>
          </a:p>
          <a:p>
            <a:pPr>
              <a:spcAft>
                <a:spcPts val="500"/>
              </a:spcAft>
              <a:defRPr sz="850">
                <a:latin typeface="Arial"/>
              </a:defRPr>
            </a:pPr>
            <a:r>
              <a:rPr b="1">
                <a:solidFill>
                  <a:srgbClr val="00D4FF"/>
                </a:solidFill>
              </a:rPr>
              <a:t>• Remediation Dossier:</a:t>
            </a:r>
            <a:r>
              <a:rPr b="0">
                <a:solidFill>
                  <a:srgbClr val="FFFFFF"/>
                </a:solidFill>
              </a:rPr>
              <a:t> MITRE ATT&amp;CK tactics, impact analysis, and playbooks.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MODEL SURGERY &amp; OPTIMIZATION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Deep Learning Backbone: ResNet-18 Adaptation</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CONV1 SURGERY</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Transfer Learning Weight Surgery</a:t>
            </a:r>
          </a:p>
          <a:p>
            <a:pPr>
              <a:spcBef>
                <a:spcPts val="200"/>
              </a:spcBef>
              <a:defRPr sz="900">
                <a:solidFill>
                  <a:srgbClr val="8FA3BF"/>
                </a:solidFill>
                <a:latin typeface="Arial"/>
              </a:defRPr>
            </a:pPr>
            <a:r>
              <a:t>Adapting ImageNet RGB Filters to 1-Channel Grayscale Textures</a:t>
            </a:r>
          </a:p>
        </p:txBody>
      </p:sp>
      <p:sp>
        <p:nvSpPr>
          <p:cNvPr id="8" name="Rounded Rectangle 7"/>
          <p:cNvSpPr/>
          <p:nvPr/>
        </p:nvSpPr>
        <p:spPr>
          <a:xfrm>
            <a:off x="914400" y="2057400"/>
            <a:ext cx="4846320" cy="68580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850" b="1">
                <a:solidFill>
                  <a:srgbClr val="8FA3BF"/>
                </a:solidFill>
                <a:latin typeface="Courier New"/>
              </a:defRPr>
            </a:pPr>
            <a:r>
              <a:t>Standard ImageNet Conv1: [64 filters, 3 channels, 7x7 kernel]</a:t>
            </a:r>
          </a:p>
          <a:p>
            <a:pPr>
              <a:defRPr sz="850" b="1">
                <a:solidFill>
                  <a:srgbClr val="00D4FF"/>
                </a:solidFill>
                <a:latin typeface="Courier New"/>
              </a:defRPr>
            </a:pPr>
            <a:r>
              <a:t>Weight Surgery: W_gray = (1/3) * (W_R + W_G + W_B) -&gt; [64, 1, 7, 7]</a:t>
            </a:r>
          </a:p>
        </p:txBody>
      </p:sp>
      <p:sp>
        <p:nvSpPr>
          <p:cNvPr id="9" name="TextBox 8"/>
          <p:cNvSpPr txBox="1"/>
          <p:nvPr/>
        </p:nvSpPr>
        <p:spPr>
          <a:xfrm>
            <a:off x="914400" y="2834640"/>
            <a:ext cx="4846320" cy="2194560"/>
          </a:xfrm>
          <a:prstGeom prst="rect">
            <a:avLst/>
          </a:prstGeom>
          <a:noFill/>
        </p:spPr>
        <p:txBody>
          <a:bodyPr wrap="square" lIns="0" rIns="0" tIns="0" bIns="0">
            <a:spAutoFit/>
          </a:bodyPr>
          <a:lstStyle/>
          <a:p>
            <a:pPr>
              <a:spcAft>
                <a:spcPts val="600"/>
              </a:spcAft>
              <a:defRPr sz="900">
                <a:latin typeface="Arial"/>
              </a:defRPr>
            </a:pPr>
            <a:r>
              <a:rPr b="1">
                <a:solidFill>
                  <a:srgbClr val="00D4FF"/>
                </a:solidFill>
              </a:rPr>
              <a:t>• The Dimensional Mismatch:</a:t>
            </a:r>
            <a:r>
              <a:rPr b="0">
                <a:solidFill>
                  <a:srgbClr val="FFFFFF"/>
                </a:solidFill>
              </a:rPr>
              <a:t> ImageNet vision models require 3-channel RGB. Malware textures are 1-channel grayscale.</a:t>
            </a:r>
          </a:p>
          <a:p>
            <a:pPr>
              <a:spcAft>
                <a:spcPts val="600"/>
              </a:spcAft>
              <a:defRPr sz="900">
                <a:latin typeface="Arial"/>
              </a:defRPr>
            </a:pPr>
            <a:r>
              <a:rPr b="1">
                <a:solidFill>
                  <a:srgbClr val="00D4FF"/>
                </a:solidFill>
              </a:rPr>
              <a:t>• Mathematical Mean Projection:</a:t>
            </a:r>
            <a:r>
              <a:rPr b="0">
                <a:solidFill>
                  <a:srgbClr val="FFFFFF"/>
                </a:solidFill>
              </a:rPr>
              <a:t> Summing and dividing the 3 channels by 3 preserves all pretrained low-level visual edge, contour, and spatial frequency filters.</a:t>
            </a:r>
          </a:p>
          <a:p>
            <a:pPr>
              <a:spcAft>
                <a:spcPts val="600"/>
              </a:spcAft>
              <a:defRPr sz="900">
                <a:latin typeface="Arial"/>
              </a:defRPr>
            </a:pPr>
            <a:r>
              <a:rPr b="1">
                <a:solidFill>
                  <a:srgbClr val="00D4FF"/>
                </a:solidFill>
              </a:rPr>
              <a:t>• Cold-Start Elimination:</a:t>
            </a:r>
            <a:r>
              <a:rPr b="0">
                <a:solidFill>
                  <a:srgbClr val="FFFFFF"/>
                </a:solidFill>
              </a:rPr>
              <a:t> Training from scratch requires 50+ epochs and prone to local minima. Surgery allowed 97.86% convergence in only 3 epochs.</a:t>
            </a:r>
          </a:p>
          <a:p>
            <a:pPr>
              <a:spcAft>
                <a:spcPts val="600"/>
              </a:spcAft>
              <a:defRPr sz="900">
                <a:latin typeface="Arial"/>
              </a:defRPr>
            </a:pPr>
            <a:r>
              <a:rPr b="1">
                <a:solidFill>
                  <a:srgbClr val="00D4FF"/>
                </a:solidFill>
              </a:rPr>
              <a:t>• Residual Architecture:</a:t>
            </a:r>
            <a:r>
              <a:rPr b="0">
                <a:solidFill>
                  <a:srgbClr val="FFFFFF"/>
                </a:solidFill>
              </a:rPr>
              <a:t> 8 residual skip connections bypass degradation and enable smooth gradient backpropagation during fine-tuning.</a:t>
            </a:r>
          </a:p>
        </p:txBody>
      </p:sp>
      <p:sp>
        <p:nvSpPr>
          <p:cNvPr id="10" name="Rounded Rectangle 9"/>
          <p:cNvSpPr/>
          <p:nvPr/>
        </p:nvSpPr>
        <p:spPr>
          <a:xfrm>
            <a:off x="914400" y="5166360"/>
            <a:ext cx="4846320" cy="105156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5221224"/>
            <a:ext cx="4626864" cy="941832"/>
          </a:xfrm>
          <a:prstGeom prst="rect">
            <a:avLst/>
          </a:prstGeom>
          <a:noFill/>
        </p:spPr>
        <p:txBody>
          <a:bodyPr wrap="square" lIns="0" tIns="0">
            <a:spAutoFit/>
          </a:bodyPr>
          <a:lstStyle/>
          <a:p>
            <a:pPr>
              <a:defRPr sz="950" b="1">
                <a:solidFill>
                  <a:srgbClr val="00E676"/>
                </a:solidFill>
                <a:latin typeface="Arial"/>
              </a:defRPr>
            </a:pPr>
            <a:r>
              <a:t>PARAMETER &amp; COMPUTE EFFICIENCY</a:t>
            </a:r>
          </a:p>
          <a:p>
            <a:pPr>
              <a:defRPr sz="850">
                <a:solidFill>
                  <a:srgbClr val="8FA3BF"/>
                </a:solidFill>
                <a:latin typeface="Arial"/>
              </a:defRPr>
            </a:pPr>
            <a:r>
              <a:t>Total Parameters: 11,189,850 • Model Size: 42.7 MB • Epochs to Converge: 3 • Hardware: CPU</a:t>
            </a:r>
          </a:p>
        </p:txBody>
      </p:sp>
      <p:sp>
        <p:nvSpPr>
          <p:cNvPr id="12" name="Rounded Rectangle 11"/>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31375" y="1527048"/>
            <a:ext cx="1645920" cy="237744"/>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A371F7"/>
                </a:solidFill>
                <a:latin typeface="Arial"/>
              </a:defRPr>
            </a:pPr>
            <a:r>
              <a:t>LAYER VISUALIZATION</a:t>
            </a:r>
          </a:p>
        </p:txBody>
      </p:sp>
      <p:sp>
        <p:nvSpPr>
          <p:cNvPr id="14" name="TextBox 13"/>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Hierarchical Residual Layer Breakdown</a:t>
            </a:r>
          </a:p>
          <a:p>
            <a:pPr>
              <a:spcBef>
                <a:spcPts val="200"/>
              </a:spcBef>
              <a:defRPr sz="900">
                <a:solidFill>
                  <a:srgbClr val="8FA3BF"/>
                </a:solidFill>
                <a:latin typeface="Arial"/>
              </a:defRPr>
            </a:pPr>
            <a:r>
              <a:t>What Each Stage in ResNet-18 'Sees' in Binary Byteplots</a:t>
            </a:r>
          </a:p>
        </p:txBody>
      </p:sp>
      <p:sp>
        <p:nvSpPr>
          <p:cNvPr id="15" name="Rounded Rectangle 14"/>
          <p:cNvSpPr/>
          <p:nvPr/>
        </p:nvSpPr>
        <p:spPr>
          <a:xfrm>
            <a:off x="6446520" y="2057400"/>
            <a:ext cx="4846320" cy="77724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112264"/>
            <a:ext cx="4572000" cy="667512"/>
          </a:xfrm>
          <a:prstGeom prst="rect">
            <a:avLst/>
          </a:prstGeom>
          <a:noFill/>
        </p:spPr>
        <p:txBody>
          <a:bodyPr wrap="square" lIns="0" tIns="0">
            <a:spAutoFit/>
          </a:bodyPr>
          <a:lstStyle/>
          <a:p>
            <a:pPr>
              <a:defRPr sz="850" b="1">
                <a:solidFill>
                  <a:srgbClr val="00D4FF"/>
                </a:solidFill>
                <a:latin typeface="Arial"/>
              </a:defRPr>
            </a:pPr>
            <a:r>
              <a:t>CONV1 + MAXPOOL (64 Filters, 56x56)</a:t>
            </a:r>
          </a:p>
          <a:p>
            <a:pPr>
              <a:spcBef>
                <a:spcPts val="200"/>
              </a:spcBef>
              <a:defRPr sz="750">
                <a:solidFill>
                  <a:srgbClr val="8FA3BF"/>
                </a:solidFill>
                <a:latin typeface="Arial"/>
              </a:defRPr>
            </a:pPr>
            <a:r>
              <a:t>Detects macro structural borders, PE section alignment margins, and trailing zero-padding blocks.</a:t>
            </a:r>
          </a:p>
        </p:txBody>
      </p:sp>
      <p:sp>
        <p:nvSpPr>
          <p:cNvPr id="17" name="Rounded Rectangle 16"/>
          <p:cNvSpPr/>
          <p:nvPr/>
        </p:nvSpPr>
        <p:spPr>
          <a:xfrm>
            <a:off x="6446520" y="2907792"/>
            <a:ext cx="4846320" cy="777240"/>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962656"/>
            <a:ext cx="4572000" cy="667512"/>
          </a:xfrm>
          <a:prstGeom prst="rect">
            <a:avLst/>
          </a:prstGeom>
          <a:noFill/>
        </p:spPr>
        <p:txBody>
          <a:bodyPr wrap="square" lIns="0" tIns="0">
            <a:spAutoFit/>
          </a:bodyPr>
          <a:lstStyle/>
          <a:p>
            <a:pPr>
              <a:defRPr sz="850" b="1">
                <a:solidFill>
                  <a:srgbClr val="388BFD"/>
                </a:solidFill>
                <a:latin typeface="Arial"/>
              </a:defRPr>
            </a:pPr>
            <a:r>
              <a:t>RESIDUAL LAYER 1 (64 Filters, 56x56)</a:t>
            </a:r>
          </a:p>
          <a:p>
            <a:pPr>
              <a:spcBef>
                <a:spcPts val="200"/>
              </a:spcBef>
              <a:defRPr sz="750">
                <a:solidFill>
                  <a:srgbClr val="8FA3BF"/>
                </a:solidFill>
                <a:latin typeface="Arial"/>
              </a:defRPr>
            </a:pPr>
            <a:r>
              <a:t>Extracts repetitive micro-opcodes, memory alignment static, and assembly instruction loops.</a:t>
            </a:r>
          </a:p>
        </p:txBody>
      </p:sp>
      <p:sp>
        <p:nvSpPr>
          <p:cNvPr id="19" name="Rounded Rectangle 18"/>
          <p:cNvSpPr/>
          <p:nvPr/>
        </p:nvSpPr>
        <p:spPr>
          <a:xfrm>
            <a:off x="6446520" y="3758184"/>
            <a:ext cx="4846320" cy="777240"/>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813048"/>
            <a:ext cx="4572000" cy="667512"/>
          </a:xfrm>
          <a:prstGeom prst="rect">
            <a:avLst/>
          </a:prstGeom>
          <a:noFill/>
        </p:spPr>
        <p:txBody>
          <a:bodyPr wrap="square" lIns="0" tIns="0">
            <a:spAutoFit/>
          </a:bodyPr>
          <a:lstStyle/>
          <a:p>
            <a:pPr>
              <a:defRPr sz="850" b="1">
                <a:solidFill>
                  <a:srgbClr val="A371F7"/>
                </a:solidFill>
                <a:latin typeface="Arial"/>
              </a:defRPr>
            </a:pPr>
            <a:r>
              <a:t>RESIDUAL LAYER 2 (128 Filters, 28x28)</a:t>
            </a:r>
          </a:p>
          <a:p>
            <a:pPr>
              <a:spcBef>
                <a:spcPts val="200"/>
              </a:spcBef>
              <a:defRPr sz="750">
                <a:solidFill>
                  <a:srgbClr val="8FA3BF"/>
                </a:solidFill>
                <a:latin typeface="Arial"/>
              </a:defRPr>
            </a:pPr>
            <a:r>
              <a:t>Captures string table margins, import address table (IAT) structures, and loop boundaries.</a:t>
            </a:r>
          </a:p>
        </p:txBody>
      </p:sp>
      <p:sp>
        <p:nvSpPr>
          <p:cNvPr id="21" name="Rounded Rectangle 20"/>
          <p:cNvSpPr/>
          <p:nvPr/>
        </p:nvSpPr>
        <p:spPr>
          <a:xfrm>
            <a:off x="6446520" y="4608576"/>
            <a:ext cx="4846320" cy="777240"/>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4663440"/>
            <a:ext cx="4572000" cy="667512"/>
          </a:xfrm>
          <a:prstGeom prst="rect">
            <a:avLst/>
          </a:prstGeom>
          <a:noFill/>
        </p:spPr>
        <p:txBody>
          <a:bodyPr wrap="square" lIns="0" tIns="0">
            <a:spAutoFit/>
          </a:bodyPr>
          <a:lstStyle/>
          <a:p>
            <a:pPr>
              <a:defRPr sz="850" b="1">
                <a:solidFill>
                  <a:srgbClr val="FF9100"/>
                </a:solidFill>
                <a:latin typeface="Arial"/>
              </a:defRPr>
            </a:pPr>
            <a:r>
              <a:t>RESIDUAL LAYER 3 (256 Filters, 14x14)</a:t>
            </a:r>
          </a:p>
          <a:p>
            <a:pPr>
              <a:spcBef>
                <a:spcPts val="200"/>
              </a:spcBef>
              <a:defRPr sz="750">
                <a:solidFill>
                  <a:srgbClr val="8FA3BF"/>
                </a:solidFill>
                <a:latin typeface="Arial"/>
              </a:defRPr>
            </a:pPr>
            <a:r>
              <a:t>Extracts macro ratios: proportion of unpacker stub vs. encrypted hostile payload.</a:t>
            </a:r>
          </a:p>
        </p:txBody>
      </p:sp>
      <p:sp>
        <p:nvSpPr>
          <p:cNvPr id="23" name="Rounded Rectangle 22"/>
          <p:cNvSpPr/>
          <p:nvPr/>
        </p:nvSpPr>
        <p:spPr>
          <a:xfrm>
            <a:off x="6446520" y="5458968"/>
            <a:ext cx="4846320" cy="77724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5513832"/>
            <a:ext cx="4572000" cy="667512"/>
          </a:xfrm>
          <a:prstGeom prst="rect">
            <a:avLst/>
          </a:prstGeom>
          <a:noFill/>
        </p:spPr>
        <p:txBody>
          <a:bodyPr wrap="square" lIns="0" tIns="0">
            <a:spAutoFit/>
          </a:bodyPr>
          <a:lstStyle/>
          <a:p>
            <a:pPr>
              <a:defRPr sz="850" b="1">
                <a:solidFill>
                  <a:srgbClr val="00E676"/>
                </a:solidFill>
                <a:latin typeface="Arial"/>
              </a:defRPr>
            </a:pPr>
            <a:r>
              <a:t>RESIDUAL LAYER 4 (512 Filters, 7x7)</a:t>
            </a:r>
          </a:p>
          <a:p>
            <a:pPr>
              <a:spcBef>
                <a:spcPts val="200"/>
              </a:spcBef>
              <a:defRPr sz="750">
                <a:solidFill>
                  <a:srgbClr val="8FA3BF"/>
                </a:solidFill>
                <a:latin typeface="Arial"/>
              </a:defRPr>
            </a:pPr>
            <a:r>
              <a:t>Synthesizes the global malware family fingerprint blueprint fed to the 26-class classifier.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PERFORMANCE EVALUATION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Empirical Benchmark Results (Malimg Dataset)</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MALIMG BENCHMARK</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Quantitative Performance Benchmarks</a:t>
            </a:r>
          </a:p>
          <a:p>
            <a:pPr>
              <a:spcBef>
                <a:spcPts val="200"/>
              </a:spcBef>
              <a:defRPr sz="900">
                <a:solidFill>
                  <a:srgbClr val="8FA3BF"/>
                </a:solidFill>
                <a:latin typeface="Arial"/>
              </a:defRPr>
            </a:pPr>
            <a:r>
              <a:t>Evaluated on 1,401 Unseen Real-World Test Binaries</a:t>
            </a:r>
          </a:p>
        </p:txBody>
      </p:sp>
      <p:sp>
        <p:nvSpPr>
          <p:cNvPr id="8" name="Rounded Rectangle 7"/>
          <p:cNvSpPr/>
          <p:nvPr/>
        </p:nvSpPr>
        <p:spPr>
          <a:xfrm>
            <a:off x="914400" y="2057400"/>
            <a:ext cx="2331720" cy="77724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30552"/>
            <a:ext cx="2148840" cy="630936"/>
          </a:xfrm>
          <a:prstGeom prst="rect">
            <a:avLst/>
          </a:prstGeom>
          <a:noFill/>
        </p:spPr>
        <p:txBody>
          <a:bodyPr wrap="square" lIns="0" tIns="0">
            <a:spAutoFit/>
          </a:bodyPr>
          <a:lstStyle/>
          <a:p>
            <a:pPr>
              <a:defRPr sz="2000" b="1">
                <a:solidFill>
                  <a:srgbClr val="00E676"/>
                </a:solidFill>
                <a:latin typeface="Arial"/>
              </a:defRPr>
            </a:pPr>
            <a:r>
              <a:t>97.86%</a:t>
            </a:r>
          </a:p>
          <a:p>
            <a:pPr>
              <a:defRPr sz="900" b="1">
                <a:solidFill>
                  <a:srgbClr val="FFFFFF"/>
                </a:solidFill>
                <a:latin typeface="Arial"/>
              </a:defRPr>
            </a:pPr>
            <a:r>
              <a:t>Test Accuracy</a:t>
            </a:r>
          </a:p>
          <a:p>
            <a:pPr>
              <a:defRPr sz="750">
                <a:solidFill>
                  <a:srgbClr val="8FA3BF"/>
                </a:solidFill>
                <a:latin typeface="Arial"/>
              </a:defRPr>
            </a:pPr>
            <a:r>
              <a:t>1,371 / 1,401 correct</a:t>
            </a:r>
          </a:p>
        </p:txBody>
      </p:sp>
      <p:sp>
        <p:nvSpPr>
          <p:cNvPr id="10" name="Rounded Rectangle 9"/>
          <p:cNvSpPr/>
          <p:nvPr/>
        </p:nvSpPr>
        <p:spPr>
          <a:xfrm>
            <a:off x="3429000" y="2057400"/>
            <a:ext cx="2331720" cy="777240"/>
          </a:xfrm>
          <a:prstGeom prst="roundRect">
            <a:avLst/>
          </a:prstGeom>
          <a:solidFill>
            <a:srgbClr val="09101A"/>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130552"/>
            <a:ext cx="2148840" cy="630936"/>
          </a:xfrm>
          <a:prstGeom prst="rect">
            <a:avLst/>
          </a:prstGeom>
          <a:noFill/>
        </p:spPr>
        <p:txBody>
          <a:bodyPr wrap="square" lIns="0" tIns="0">
            <a:spAutoFit/>
          </a:bodyPr>
          <a:lstStyle/>
          <a:p>
            <a:pPr>
              <a:defRPr sz="2000" b="1">
                <a:solidFill>
                  <a:srgbClr val="00D4FF"/>
                </a:solidFill>
                <a:latin typeface="Arial"/>
              </a:defRPr>
            </a:pPr>
            <a:r>
              <a:t>97.82%</a:t>
            </a:r>
          </a:p>
          <a:p>
            <a:pPr>
              <a:defRPr sz="900" b="1">
                <a:solidFill>
                  <a:srgbClr val="FFFFFF"/>
                </a:solidFill>
                <a:latin typeface="Arial"/>
              </a:defRPr>
            </a:pPr>
            <a:r>
              <a:t>Weighted F1-Score</a:t>
            </a:r>
          </a:p>
          <a:p>
            <a:pPr>
              <a:defRPr sz="750">
                <a:solidFill>
                  <a:srgbClr val="8FA3BF"/>
                </a:solidFill>
                <a:latin typeface="Arial"/>
              </a:defRPr>
            </a:pPr>
            <a:r>
              <a:t>Balanced across classes</a:t>
            </a:r>
          </a:p>
        </p:txBody>
      </p:sp>
      <p:sp>
        <p:nvSpPr>
          <p:cNvPr id="12" name="Rounded Rectangle 11"/>
          <p:cNvSpPr/>
          <p:nvPr/>
        </p:nvSpPr>
        <p:spPr>
          <a:xfrm>
            <a:off x="914400" y="2944368"/>
            <a:ext cx="2331720" cy="777240"/>
          </a:xfrm>
          <a:prstGeom prst="roundRect">
            <a:avLst/>
          </a:prstGeom>
          <a:solidFill>
            <a:srgbClr val="09101A"/>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17520"/>
            <a:ext cx="2148840" cy="630936"/>
          </a:xfrm>
          <a:prstGeom prst="rect">
            <a:avLst/>
          </a:prstGeom>
          <a:noFill/>
        </p:spPr>
        <p:txBody>
          <a:bodyPr wrap="square" lIns="0" tIns="0">
            <a:spAutoFit/>
          </a:bodyPr>
          <a:lstStyle/>
          <a:p>
            <a:pPr>
              <a:defRPr sz="2000" b="1">
                <a:solidFill>
                  <a:srgbClr val="388BFD"/>
                </a:solidFill>
                <a:latin typeface="Arial"/>
              </a:defRPr>
            </a:pPr>
            <a:r>
              <a:t>0.0574</a:t>
            </a:r>
          </a:p>
          <a:p>
            <a:pPr>
              <a:defRPr sz="900" b="1">
                <a:solidFill>
                  <a:srgbClr val="FFFFFF"/>
                </a:solidFill>
                <a:latin typeface="Arial"/>
              </a:defRPr>
            </a:pPr>
            <a:r>
              <a:t>Validation Loss</a:t>
            </a:r>
          </a:p>
          <a:p>
            <a:pPr>
              <a:defRPr sz="750">
                <a:solidFill>
                  <a:srgbClr val="8FA3BF"/>
                </a:solidFill>
                <a:latin typeface="Arial"/>
              </a:defRPr>
            </a:pPr>
            <a:r>
              <a:t>Epoch 3 checkpoint</a:t>
            </a:r>
          </a:p>
        </p:txBody>
      </p:sp>
      <p:sp>
        <p:nvSpPr>
          <p:cNvPr id="14" name="Rounded Rectangle 13"/>
          <p:cNvSpPr/>
          <p:nvPr/>
        </p:nvSpPr>
        <p:spPr>
          <a:xfrm>
            <a:off x="3429000" y="2944368"/>
            <a:ext cx="2331720" cy="777240"/>
          </a:xfrm>
          <a:prstGeom prst="roundRect">
            <a:avLst/>
          </a:prstGeom>
          <a:solidFill>
            <a:srgbClr val="09101A"/>
          </a:solidFill>
          <a:ln w="1524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3017520"/>
            <a:ext cx="2148840" cy="630936"/>
          </a:xfrm>
          <a:prstGeom prst="rect">
            <a:avLst/>
          </a:prstGeom>
          <a:noFill/>
        </p:spPr>
        <p:txBody>
          <a:bodyPr wrap="square" lIns="0" tIns="0">
            <a:spAutoFit/>
          </a:bodyPr>
          <a:lstStyle/>
          <a:p>
            <a:pPr>
              <a:defRPr sz="2000" b="1">
                <a:solidFill>
                  <a:srgbClr val="A371F7"/>
                </a:solidFill>
                <a:latin typeface="Arial"/>
              </a:defRPr>
            </a:pPr>
            <a:r>
              <a:t>34.8 ms</a:t>
            </a:r>
          </a:p>
          <a:p>
            <a:pPr>
              <a:defRPr sz="900" b="1">
                <a:solidFill>
                  <a:srgbClr val="FFFFFF"/>
                </a:solidFill>
                <a:latin typeface="Arial"/>
              </a:defRPr>
            </a:pPr>
            <a:r>
              <a:t>Inference Latency</a:t>
            </a:r>
          </a:p>
          <a:p>
            <a:pPr>
              <a:defRPr sz="750">
                <a:solidFill>
                  <a:srgbClr val="8FA3BF"/>
                </a:solidFill>
                <a:latin typeface="Arial"/>
              </a:defRPr>
            </a:pPr>
            <a:r>
              <a:t>Per binary on CPU</a:t>
            </a:r>
          </a:p>
        </p:txBody>
      </p:sp>
      <p:sp>
        <p:nvSpPr>
          <p:cNvPr id="16" name="TextBox 15"/>
          <p:cNvSpPr txBox="1"/>
          <p:nvPr/>
        </p:nvSpPr>
        <p:spPr>
          <a:xfrm>
            <a:off x="914400" y="3840480"/>
            <a:ext cx="4846320" cy="2377440"/>
          </a:xfrm>
          <a:prstGeom prst="rect">
            <a:avLst/>
          </a:prstGeom>
          <a:noFill/>
        </p:spPr>
        <p:txBody>
          <a:bodyPr wrap="square" lIns="0" rIns="0" tIns="0" bIns="0">
            <a:spAutoFit/>
          </a:bodyPr>
          <a:lstStyle/>
          <a:p>
            <a:pPr>
              <a:spcAft>
                <a:spcPts val="500"/>
              </a:spcAft>
              <a:defRPr sz="850">
                <a:latin typeface="Arial"/>
              </a:defRPr>
            </a:pPr>
            <a:r>
              <a:rPr b="1">
                <a:solidFill>
                  <a:srgbClr val="00D4FF"/>
                </a:solidFill>
              </a:rPr>
              <a:t>• Stratified Dataset Split:</a:t>
            </a:r>
            <a:r>
              <a:rPr b="0">
                <a:solidFill>
                  <a:srgbClr val="FFFFFF"/>
                </a:solidFill>
              </a:rPr>
              <a:t> 9,339 total binaries split into 70% Train (6,537), 15% Validation (1,401), and 15% Test (1,401).</a:t>
            </a:r>
          </a:p>
          <a:p>
            <a:pPr>
              <a:spcAft>
                <a:spcPts val="500"/>
              </a:spcAft>
              <a:defRPr sz="850">
                <a:latin typeface="Arial"/>
              </a:defRPr>
            </a:pPr>
            <a:r>
              <a:rPr b="1">
                <a:solidFill>
                  <a:srgbClr val="00D4FF"/>
                </a:solidFill>
              </a:rPr>
              <a:t>• Perfect F1-Score Families:</a:t>
            </a:r>
            <a:r>
              <a:rPr b="0">
                <a:solidFill>
                  <a:srgbClr val="FFFFFF"/>
                </a:solidFill>
              </a:rPr>
              <a:t> 18 out of 26 families achieved 100% precision and recall (F1 = 1.000).</a:t>
            </a:r>
          </a:p>
          <a:p>
            <a:pPr>
              <a:spcAft>
                <a:spcPts val="500"/>
              </a:spcAft>
              <a:defRPr sz="850">
                <a:latin typeface="Arial"/>
              </a:defRPr>
            </a:pPr>
            <a:r>
              <a:rPr b="1">
                <a:solidFill>
                  <a:srgbClr val="00D4FF"/>
                </a:solidFill>
              </a:rPr>
              <a:t>• Rapid Convergence:</a:t>
            </a:r>
            <a:r>
              <a:rPr b="0">
                <a:solidFill>
                  <a:srgbClr val="FFFFFF"/>
                </a:solidFill>
              </a:rPr>
              <a:t> Reached peak accuracy at Epoch 3 with early stopping, preventing model overfitting.</a:t>
            </a:r>
          </a:p>
          <a:p>
            <a:pPr>
              <a:spcAft>
                <a:spcPts val="500"/>
              </a:spcAft>
              <a:defRPr sz="850">
                <a:latin typeface="Arial"/>
              </a:defRPr>
            </a:pPr>
            <a:r>
              <a:rPr b="1">
                <a:solidFill>
                  <a:srgbClr val="00D4FF"/>
                </a:solidFill>
              </a:rPr>
              <a:t>• Generalization:</a:t>
            </a:r>
            <a:r>
              <a:rPr b="0">
                <a:solidFill>
                  <a:srgbClr val="FFFFFF"/>
                </a:solidFill>
              </a:rPr>
              <a:t> Consistent performance across both small (&lt;20KB) and large (&gt;5MB) binaries.</a:t>
            </a:r>
          </a:p>
        </p:txBody>
      </p:sp>
      <p:sp>
        <p:nvSpPr>
          <p:cNvPr id="17" name="Rounded Rectangle 16"/>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31375" y="152704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STATE-OF-THE-ART</a:t>
            </a:r>
          </a:p>
        </p:txBody>
      </p:sp>
      <p:sp>
        <p:nvSpPr>
          <p:cNvPr id="19" name="TextBox 18"/>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Comparative Benchmark Evaluation</a:t>
            </a:r>
          </a:p>
          <a:p>
            <a:pPr>
              <a:spcBef>
                <a:spcPts val="200"/>
              </a:spcBef>
              <a:defRPr sz="900">
                <a:solidFill>
                  <a:srgbClr val="8FA3BF"/>
                </a:solidFill>
                <a:latin typeface="Arial"/>
              </a:defRPr>
            </a:pPr>
            <a:r>
              <a:t>MalVision ResNet-18 vs. State-of-the-Art &amp; Traditional Antivirus</a:t>
            </a:r>
          </a:p>
        </p:txBody>
      </p:sp>
      <p:graphicFrame>
        <p:nvGraphicFramePr>
          <p:cNvPr id="20" name="Table 19"/>
          <p:cNvGraphicFramePr>
            <a:graphicFrameLocks noGrp="1"/>
          </p:cNvGraphicFramePr>
          <p:nvPr/>
        </p:nvGraphicFramePr>
        <p:xfrm>
          <a:off x="6446520" y="2057400"/>
          <a:ext cx="4846320" cy="2560320"/>
        </p:xfrm>
        <a:graphic>
          <a:graphicData uri="http://schemas.openxmlformats.org/drawingml/2006/table">
            <a:tbl>
              <a:tblPr firstRow="1" bandRow="1">
                <a:tableStyleId>{5C22544A-7EE6-4342-B048-85BDC9FD1C3A}</a:tableStyleId>
              </a:tblPr>
              <a:tblGrid>
                <a:gridCol w="1463040"/>
                <a:gridCol w="822960"/>
                <a:gridCol w="822960"/>
                <a:gridCol w="822960"/>
                <a:gridCol w="914400"/>
              </a:tblGrid>
              <a:tr h="426720">
                <a:tc>
                  <a:txBody>
                    <a:bodyPr/>
                    <a:lstStyle/>
                    <a:p>
                      <a:pPr>
                        <a:defRPr sz="800" b="1">
                          <a:solidFill>
                            <a:srgbClr val="00D4FF"/>
                          </a:solidFill>
                          <a:latin typeface="Arial"/>
                        </a:defRPr>
                      </a:pPr>
                      <a:r>
                        <a:t>Model / Approach</a:t>
                      </a:r>
                    </a:p>
                  </a:txBody>
                  <a:tcPr marL="54864" marR="54864" marT="36576" marB="36576">
                    <a:solidFill>
                      <a:srgbClr val="121E31"/>
                    </a:solidFill>
                  </a:tcPr>
                </a:tc>
                <a:tc>
                  <a:txBody>
                    <a:bodyPr/>
                    <a:lstStyle/>
                    <a:p>
                      <a:pPr>
                        <a:defRPr sz="800" b="1">
                          <a:solidFill>
                            <a:srgbClr val="00D4FF"/>
                          </a:solidFill>
                          <a:latin typeface="Arial"/>
                        </a:defRPr>
                      </a:pPr>
                      <a:r>
                        <a:t>Accuracy</a:t>
                      </a:r>
                    </a:p>
                  </a:txBody>
                  <a:tcPr marL="54864" marR="54864" marT="36576" marB="36576">
                    <a:solidFill>
                      <a:srgbClr val="121E31"/>
                    </a:solidFill>
                  </a:tcPr>
                </a:tc>
                <a:tc>
                  <a:txBody>
                    <a:bodyPr/>
                    <a:lstStyle/>
                    <a:p>
                      <a:pPr>
                        <a:defRPr sz="800" b="1">
                          <a:solidFill>
                            <a:srgbClr val="00D4FF"/>
                          </a:solidFill>
                          <a:latin typeface="Arial"/>
                        </a:defRPr>
                      </a:pPr>
                      <a:r>
                        <a:t>Latency</a:t>
                      </a:r>
                    </a:p>
                  </a:txBody>
                  <a:tcPr marL="54864" marR="54864" marT="36576" marB="36576">
                    <a:solidFill>
                      <a:srgbClr val="121E31"/>
                    </a:solidFill>
                  </a:tcPr>
                </a:tc>
                <a:tc>
                  <a:txBody>
                    <a:bodyPr/>
                    <a:lstStyle/>
                    <a:p>
                      <a:pPr>
                        <a:defRPr sz="800" b="1">
                          <a:solidFill>
                            <a:srgbClr val="00D4FF"/>
                          </a:solidFill>
                          <a:latin typeface="Arial"/>
                        </a:defRPr>
                      </a:pPr>
                      <a:r>
                        <a:t>Safe Exec</a:t>
                      </a:r>
                    </a:p>
                  </a:txBody>
                  <a:tcPr marL="54864" marR="54864" marT="36576" marB="36576">
                    <a:solidFill>
                      <a:srgbClr val="121E31"/>
                    </a:solidFill>
                  </a:tcPr>
                </a:tc>
                <a:tc>
                  <a:txBody>
                    <a:bodyPr/>
                    <a:lstStyle/>
                    <a:p>
                      <a:pPr>
                        <a:defRPr sz="800" b="1">
                          <a:solidFill>
                            <a:srgbClr val="00D4FF"/>
                          </a:solidFill>
                          <a:latin typeface="Arial"/>
                        </a:defRPr>
                      </a:pPr>
                      <a:r>
                        <a:t>Explainable</a:t>
                      </a:r>
                    </a:p>
                  </a:txBody>
                  <a:tcPr marL="54864" marR="54864" marT="36576" marB="36576">
                    <a:solidFill>
                      <a:srgbClr val="121E31"/>
                    </a:solidFill>
                  </a:tcPr>
                </a:tc>
              </a:tr>
              <a:tr h="426720">
                <a:tc>
                  <a:txBody>
                    <a:bodyPr/>
                    <a:lstStyle/>
                    <a:p>
                      <a:pPr>
                        <a:defRPr sz="800" b="0">
                          <a:solidFill>
                            <a:srgbClr val="FFFFFF"/>
                          </a:solidFill>
                          <a:latin typeface="Arial"/>
                        </a:defRPr>
                      </a:pPr>
                      <a:r>
                        <a:t>Traditional AV (Hash)</a:t>
                      </a:r>
                    </a:p>
                  </a:txBody>
                  <a:tcPr marL="54864" marR="54864" marT="36576" marB="36576">
                    <a:solidFill>
                      <a:srgbClr val="09101A"/>
                    </a:solidFill>
                  </a:tcPr>
                </a:tc>
                <a:tc>
                  <a:txBody>
                    <a:bodyPr/>
                    <a:lstStyle/>
                    <a:p>
                      <a:pPr>
                        <a:defRPr sz="800" b="0">
                          <a:solidFill>
                            <a:srgbClr val="FFFFFF"/>
                          </a:solidFill>
                          <a:latin typeface="Arial"/>
                        </a:defRPr>
                      </a:pPr>
                      <a:r>
                        <a:t>58.4%</a:t>
                      </a:r>
                    </a:p>
                  </a:txBody>
                  <a:tcPr marL="54864" marR="54864" marT="36576" marB="36576">
                    <a:solidFill>
                      <a:srgbClr val="09101A"/>
                    </a:solidFill>
                  </a:tcPr>
                </a:tc>
                <a:tc>
                  <a:txBody>
                    <a:bodyPr/>
                    <a:lstStyle/>
                    <a:p>
                      <a:pPr>
                        <a:defRPr sz="800" b="0">
                          <a:solidFill>
                            <a:srgbClr val="FFFFFF"/>
                          </a:solidFill>
                          <a:latin typeface="Arial"/>
                        </a:defRPr>
                      </a:pPr>
                      <a:r>
                        <a:t>1-3 ms</a:t>
                      </a:r>
                    </a:p>
                  </a:txBody>
                  <a:tcPr marL="54864" marR="54864" marT="36576" marB="36576">
                    <a:solidFill>
                      <a:srgbClr val="09101A"/>
                    </a:solidFill>
                  </a:tcPr>
                </a:tc>
                <a:tc>
                  <a:txBody>
                    <a:bodyPr/>
                    <a:lstStyle/>
                    <a:p>
                      <a:pPr>
                        <a:defRPr sz="800" b="0">
                          <a:solidFill>
                            <a:srgbClr val="FFFFFF"/>
                          </a:solidFill>
                          <a:latin typeface="Arial"/>
                        </a:defRPr>
                      </a:pPr>
                      <a:r>
                        <a:t>Yes</a:t>
                      </a:r>
                    </a:p>
                  </a:txBody>
                  <a:tcPr marL="54864" marR="54864" marT="36576" marB="36576">
                    <a:solidFill>
                      <a:srgbClr val="09101A"/>
                    </a:solidFill>
                  </a:tcPr>
                </a:tc>
                <a:tc>
                  <a:txBody>
                    <a:bodyPr/>
                    <a:lstStyle/>
                    <a:p>
                      <a:pPr>
                        <a:defRPr sz="800" b="0">
                          <a:solidFill>
                            <a:srgbClr val="FFFFFF"/>
                          </a:solidFill>
                          <a:latin typeface="Arial"/>
                        </a:defRPr>
                      </a:pPr>
                      <a:r>
                        <a:t>No</a:t>
                      </a:r>
                    </a:p>
                  </a:txBody>
                  <a:tcPr marL="54864" marR="54864" marT="36576" marB="36576">
                    <a:solidFill>
                      <a:srgbClr val="09101A"/>
                    </a:solidFill>
                  </a:tcPr>
                </a:tc>
              </a:tr>
              <a:tr h="426720">
                <a:tc>
                  <a:txBody>
                    <a:bodyPr/>
                    <a:lstStyle/>
                    <a:p>
                      <a:pPr>
                        <a:defRPr sz="800" b="0">
                          <a:solidFill>
                            <a:srgbClr val="FFFFFF"/>
                          </a:solidFill>
                          <a:latin typeface="Arial"/>
                        </a:defRPr>
                      </a:pPr>
                      <a:r>
                        <a:t>Dynamic Sandbox</a:t>
                      </a:r>
                    </a:p>
                  </a:txBody>
                  <a:tcPr marL="54864" marR="54864" marT="36576" marB="36576">
                    <a:solidFill>
                      <a:srgbClr val="09101A"/>
                    </a:solidFill>
                  </a:tcPr>
                </a:tc>
                <a:tc>
                  <a:txBody>
                    <a:bodyPr/>
                    <a:lstStyle/>
                    <a:p>
                      <a:pPr>
                        <a:defRPr sz="800" b="0">
                          <a:solidFill>
                            <a:srgbClr val="FFFFFF"/>
                          </a:solidFill>
                          <a:latin typeface="Arial"/>
                        </a:defRPr>
                      </a:pPr>
                      <a:r>
                        <a:t>84.2%</a:t>
                      </a:r>
                    </a:p>
                  </a:txBody>
                  <a:tcPr marL="54864" marR="54864" marT="36576" marB="36576">
                    <a:solidFill>
                      <a:srgbClr val="09101A"/>
                    </a:solidFill>
                  </a:tcPr>
                </a:tc>
                <a:tc>
                  <a:txBody>
                    <a:bodyPr/>
                    <a:lstStyle/>
                    <a:p>
                      <a:pPr>
                        <a:defRPr sz="800" b="0">
                          <a:solidFill>
                            <a:srgbClr val="FFFFFF"/>
                          </a:solidFill>
                          <a:latin typeface="Arial"/>
                        </a:defRPr>
                      </a:pPr>
                      <a:r>
                        <a:t>3-10 min</a:t>
                      </a:r>
                    </a:p>
                  </a:txBody>
                  <a:tcPr marL="54864" marR="54864" marT="36576" marB="36576">
                    <a:solidFill>
                      <a:srgbClr val="09101A"/>
                    </a:solidFill>
                  </a:tcPr>
                </a:tc>
                <a:tc>
                  <a:txBody>
                    <a:bodyPr/>
                    <a:lstStyle/>
                    <a:p>
                      <a:pPr>
                        <a:defRPr sz="800" b="0">
                          <a:solidFill>
                            <a:srgbClr val="FFFFFF"/>
                          </a:solidFill>
                          <a:latin typeface="Arial"/>
                        </a:defRPr>
                      </a:pPr>
                      <a:r>
                        <a:t>No (Risky)</a:t>
                      </a:r>
                    </a:p>
                  </a:txBody>
                  <a:tcPr marL="54864" marR="54864" marT="36576" marB="36576">
                    <a:solidFill>
                      <a:srgbClr val="09101A"/>
                    </a:solidFill>
                  </a:tcPr>
                </a:tc>
                <a:tc>
                  <a:txBody>
                    <a:bodyPr/>
                    <a:lstStyle/>
                    <a:p>
                      <a:pPr>
                        <a:defRPr sz="800" b="0">
                          <a:solidFill>
                            <a:srgbClr val="FFFFFF"/>
                          </a:solidFill>
                          <a:latin typeface="Arial"/>
                        </a:defRPr>
                      </a:pPr>
                      <a:r>
                        <a:t>Yes</a:t>
                      </a:r>
                    </a:p>
                  </a:txBody>
                  <a:tcPr marL="54864" marR="54864" marT="36576" marB="36576">
                    <a:solidFill>
                      <a:srgbClr val="09101A"/>
                    </a:solidFill>
                  </a:tcPr>
                </a:tc>
              </a:tr>
              <a:tr h="426720">
                <a:tc>
                  <a:txBody>
                    <a:bodyPr/>
                    <a:lstStyle/>
                    <a:p>
                      <a:pPr>
                        <a:defRPr sz="800" b="0">
                          <a:solidFill>
                            <a:srgbClr val="FFFFFF"/>
                          </a:solidFill>
                          <a:latin typeface="Arial"/>
                        </a:defRPr>
                      </a:pPr>
                      <a:r>
                        <a:t>Random Forest (Opcodes)</a:t>
                      </a:r>
                    </a:p>
                  </a:txBody>
                  <a:tcPr marL="54864" marR="54864" marT="36576" marB="36576">
                    <a:solidFill>
                      <a:srgbClr val="09101A"/>
                    </a:solidFill>
                  </a:tcPr>
                </a:tc>
                <a:tc>
                  <a:txBody>
                    <a:bodyPr/>
                    <a:lstStyle/>
                    <a:p>
                      <a:pPr>
                        <a:defRPr sz="800" b="0">
                          <a:solidFill>
                            <a:srgbClr val="FFFFFF"/>
                          </a:solidFill>
                          <a:latin typeface="Arial"/>
                        </a:defRPr>
                      </a:pPr>
                      <a:r>
                        <a:t>91.3%</a:t>
                      </a:r>
                    </a:p>
                  </a:txBody>
                  <a:tcPr marL="54864" marR="54864" marT="36576" marB="36576">
                    <a:solidFill>
                      <a:srgbClr val="09101A"/>
                    </a:solidFill>
                  </a:tcPr>
                </a:tc>
                <a:tc>
                  <a:txBody>
                    <a:bodyPr/>
                    <a:lstStyle/>
                    <a:p>
                      <a:pPr>
                        <a:defRPr sz="800" b="0">
                          <a:solidFill>
                            <a:srgbClr val="FFFFFF"/>
                          </a:solidFill>
                          <a:latin typeface="Arial"/>
                        </a:defRPr>
                      </a:pPr>
                      <a:r>
                        <a:t>120 ms</a:t>
                      </a:r>
                    </a:p>
                  </a:txBody>
                  <a:tcPr marL="54864" marR="54864" marT="36576" marB="36576">
                    <a:solidFill>
                      <a:srgbClr val="09101A"/>
                    </a:solidFill>
                  </a:tcPr>
                </a:tc>
                <a:tc>
                  <a:txBody>
                    <a:bodyPr/>
                    <a:lstStyle/>
                    <a:p>
                      <a:pPr>
                        <a:defRPr sz="800" b="0">
                          <a:solidFill>
                            <a:srgbClr val="FFFFFF"/>
                          </a:solidFill>
                          <a:latin typeface="Arial"/>
                        </a:defRPr>
                      </a:pPr>
                      <a:r>
                        <a:t>Yes</a:t>
                      </a:r>
                    </a:p>
                  </a:txBody>
                  <a:tcPr marL="54864" marR="54864" marT="36576" marB="36576">
                    <a:solidFill>
                      <a:srgbClr val="09101A"/>
                    </a:solidFill>
                  </a:tcPr>
                </a:tc>
                <a:tc>
                  <a:txBody>
                    <a:bodyPr/>
                    <a:lstStyle/>
                    <a:p>
                      <a:pPr>
                        <a:defRPr sz="800" b="0">
                          <a:solidFill>
                            <a:srgbClr val="FFFFFF"/>
                          </a:solidFill>
                          <a:latin typeface="Arial"/>
                        </a:defRPr>
                      </a:pPr>
                      <a:r>
                        <a:t>Limited</a:t>
                      </a:r>
                    </a:p>
                  </a:txBody>
                  <a:tcPr marL="54864" marR="54864" marT="36576" marB="36576">
                    <a:solidFill>
                      <a:srgbClr val="09101A"/>
                    </a:solidFill>
                  </a:tcPr>
                </a:tc>
              </a:tr>
              <a:tr h="426720">
                <a:tc>
                  <a:txBody>
                    <a:bodyPr/>
                    <a:lstStyle/>
                    <a:p>
                      <a:pPr>
                        <a:defRPr sz="800" b="0">
                          <a:solidFill>
                            <a:srgbClr val="FFFFFF"/>
                          </a:solidFill>
                          <a:latin typeface="Arial"/>
                        </a:defRPr>
                      </a:pPr>
                      <a:r>
                        <a:t>VGG-16 Deep Vision</a:t>
                      </a:r>
                    </a:p>
                  </a:txBody>
                  <a:tcPr marL="54864" marR="54864" marT="36576" marB="36576">
                    <a:solidFill>
                      <a:srgbClr val="09101A"/>
                    </a:solidFill>
                  </a:tcPr>
                </a:tc>
                <a:tc>
                  <a:txBody>
                    <a:bodyPr/>
                    <a:lstStyle/>
                    <a:p>
                      <a:pPr>
                        <a:defRPr sz="800" b="0">
                          <a:solidFill>
                            <a:srgbClr val="FFFFFF"/>
                          </a:solidFill>
                          <a:latin typeface="Arial"/>
                        </a:defRPr>
                      </a:pPr>
                      <a:r>
                        <a:t>96.2%</a:t>
                      </a:r>
                    </a:p>
                  </a:txBody>
                  <a:tcPr marL="54864" marR="54864" marT="36576" marB="36576">
                    <a:solidFill>
                      <a:srgbClr val="09101A"/>
                    </a:solidFill>
                  </a:tcPr>
                </a:tc>
                <a:tc>
                  <a:txBody>
                    <a:bodyPr/>
                    <a:lstStyle/>
                    <a:p>
                      <a:pPr>
                        <a:defRPr sz="800" b="0">
                          <a:solidFill>
                            <a:srgbClr val="FFFFFF"/>
                          </a:solidFill>
                          <a:latin typeface="Arial"/>
                        </a:defRPr>
                      </a:pPr>
                      <a:r>
                        <a:t>142 ms</a:t>
                      </a:r>
                    </a:p>
                  </a:txBody>
                  <a:tcPr marL="54864" marR="54864" marT="36576" marB="36576">
                    <a:solidFill>
                      <a:srgbClr val="09101A"/>
                    </a:solidFill>
                  </a:tcPr>
                </a:tc>
                <a:tc>
                  <a:txBody>
                    <a:bodyPr/>
                    <a:lstStyle/>
                    <a:p>
                      <a:pPr>
                        <a:defRPr sz="800" b="0">
                          <a:solidFill>
                            <a:srgbClr val="FFFFFF"/>
                          </a:solidFill>
                          <a:latin typeface="Arial"/>
                        </a:defRPr>
                      </a:pPr>
                      <a:r>
                        <a:t>Yes</a:t>
                      </a:r>
                    </a:p>
                  </a:txBody>
                  <a:tcPr marL="54864" marR="54864" marT="36576" marB="36576">
                    <a:solidFill>
                      <a:srgbClr val="09101A"/>
                    </a:solidFill>
                  </a:tcPr>
                </a:tc>
                <a:tc>
                  <a:txBody>
                    <a:bodyPr/>
                    <a:lstStyle/>
                    <a:p>
                      <a:pPr>
                        <a:defRPr sz="800" b="0">
                          <a:solidFill>
                            <a:srgbClr val="FFFFFF"/>
                          </a:solidFill>
                          <a:latin typeface="Arial"/>
                        </a:defRPr>
                      </a:pPr>
                      <a:r>
                        <a:t>Yes</a:t>
                      </a:r>
                    </a:p>
                  </a:txBody>
                  <a:tcPr marL="54864" marR="54864" marT="36576" marB="36576">
                    <a:solidFill>
                      <a:srgbClr val="09101A"/>
                    </a:solidFill>
                  </a:tcPr>
                </a:tc>
              </a:tr>
              <a:tr h="426720">
                <a:tc>
                  <a:txBody>
                    <a:bodyPr/>
                    <a:lstStyle/>
                    <a:p>
                      <a:pPr>
                        <a:defRPr sz="800" b="1">
                          <a:solidFill>
                            <a:srgbClr val="00E676"/>
                          </a:solidFill>
                          <a:latin typeface="Arial"/>
                        </a:defRPr>
                      </a:pPr>
                      <a:r>
                        <a:t>MalVision (ResNet-18)</a:t>
                      </a:r>
                    </a:p>
                  </a:txBody>
                  <a:tcPr marL="54864" marR="54864" marT="36576" marB="36576">
                    <a:solidFill>
                      <a:srgbClr val="0C1C2C"/>
                    </a:solidFill>
                  </a:tcPr>
                </a:tc>
                <a:tc>
                  <a:txBody>
                    <a:bodyPr/>
                    <a:lstStyle/>
                    <a:p>
                      <a:pPr>
                        <a:defRPr sz="800" b="1">
                          <a:solidFill>
                            <a:srgbClr val="00E676"/>
                          </a:solidFill>
                          <a:latin typeface="Arial"/>
                        </a:defRPr>
                      </a:pPr>
                      <a:r>
                        <a:t>97.86%</a:t>
                      </a:r>
                    </a:p>
                  </a:txBody>
                  <a:tcPr marL="54864" marR="54864" marT="36576" marB="36576">
                    <a:solidFill>
                      <a:srgbClr val="0C1C2C"/>
                    </a:solidFill>
                  </a:tcPr>
                </a:tc>
                <a:tc>
                  <a:txBody>
                    <a:bodyPr/>
                    <a:lstStyle/>
                    <a:p>
                      <a:pPr>
                        <a:defRPr sz="800" b="1">
                          <a:solidFill>
                            <a:srgbClr val="00E676"/>
                          </a:solidFill>
                          <a:latin typeface="Arial"/>
                        </a:defRPr>
                      </a:pPr>
                      <a:r>
                        <a:t>34.8 ms</a:t>
                      </a:r>
                    </a:p>
                  </a:txBody>
                  <a:tcPr marL="54864" marR="54864" marT="36576" marB="36576">
                    <a:solidFill>
                      <a:srgbClr val="0C1C2C"/>
                    </a:solidFill>
                  </a:tcPr>
                </a:tc>
                <a:tc>
                  <a:txBody>
                    <a:bodyPr/>
                    <a:lstStyle/>
                    <a:p>
                      <a:pPr>
                        <a:defRPr sz="800" b="1">
                          <a:solidFill>
                            <a:srgbClr val="00E676"/>
                          </a:solidFill>
                          <a:latin typeface="Arial"/>
                        </a:defRPr>
                      </a:pPr>
                      <a:r>
                        <a:t>Yes (100%)</a:t>
                      </a:r>
                    </a:p>
                  </a:txBody>
                  <a:tcPr marL="54864" marR="54864" marT="36576" marB="36576">
                    <a:solidFill>
                      <a:srgbClr val="0C1C2C"/>
                    </a:solidFill>
                  </a:tcPr>
                </a:tc>
                <a:tc>
                  <a:txBody>
                    <a:bodyPr/>
                    <a:lstStyle/>
                    <a:p>
                      <a:pPr>
                        <a:defRPr sz="800" b="1">
                          <a:solidFill>
                            <a:srgbClr val="00E676"/>
                          </a:solidFill>
                          <a:latin typeface="Arial"/>
                        </a:defRPr>
                      </a:pPr>
                      <a:r>
                        <a:t>Yes (Grad-CAM)</a:t>
                      </a:r>
                    </a:p>
                  </a:txBody>
                  <a:tcPr marL="54864" marR="54864" marT="36576" marB="36576">
                    <a:solidFill>
                      <a:srgbClr val="0C1C2C"/>
                    </a:solidFill>
                  </a:tcPr>
                </a:tc>
              </a:tr>
            </a:tbl>
          </a:graphicData>
        </a:graphic>
      </p:graphicFrame>
      <p:sp>
        <p:nvSpPr>
          <p:cNvPr id="21" name="Rounded Rectangle 20"/>
          <p:cNvSpPr/>
          <p:nvPr/>
        </p:nvSpPr>
        <p:spPr>
          <a:xfrm>
            <a:off x="6446520" y="4800600"/>
            <a:ext cx="4846320" cy="141732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4855464"/>
            <a:ext cx="4626864" cy="1307592"/>
          </a:xfrm>
          <a:prstGeom prst="rect">
            <a:avLst/>
          </a:prstGeom>
          <a:noFill/>
        </p:spPr>
        <p:txBody>
          <a:bodyPr wrap="square" lIns="0" tIns="0">
            <a:spAutoFit/>
          </a:bodyPr>
          <a:lstStyle/>
          <a:p>
            <a:pPr>
              <a:defRPr sz="950" b="1">
                <a:solidFill>
                  <a:srgbClr val="00E676"/>
                </a:solidFill>
                <a:latin typeface="Arial"/>
              </a:defRPr>
            </a:pPr>
            <a:r>
              <a:t>ARCHITECTURAL SUPERIORITY</a:t>
            </a:r>
          </a:p>
          <a:p>
            <a:pPr>
              <a:defRPr sz="850">
                <a:solidFill>
                  <a:srgbClr val="8FA3BF"/>
                </a:solidFill>
                <a:latin typeface="Arial"/>
              </a:defRPr>
            </a:pPr>
            <a:r>
              <a:t>ResNet-18 delivers higher classification accuracy than VGG-16 while requiring 4x fewer parameters and running 4x faster on standard CPU hardware.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AUDITABILITY &amp; FORENSICS</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Explainable AI: Solving the Black Box with Grad-CAM</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FF1744"/>
                </a:solidFill>
                <a:latin typeface="Arial"/>
              </a:defRPr>
            </a:pPr>
            <a:r>
              <a:t>AUDIT INTEGRITY</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The Black-Box Crisis in Cybersecurity</a:t>
            </a:r>
          </a:p>
          <a:p>
            <a:pPr>
              <a:spcBef>
                <a:spcPts val="200"/>
              </a:spcBef>
              <a:defRPr sz="900">
                <a:solidFill>
                  <a:srgbClr val="8FA3BF"/>
                </a:solidFill>
                <a:latin typeface="Arial"/>
              </a:defRPr>
            </a:pPr>
            <a:r>
              <a:t>Why High Accuracy Alone Is Insufficient for SOC Incident Response</a:t>
            </a:r>
          </a:p>
        </p:txBody>
      </p:sp>
      <p:sp>
        <p:nvSpPr>
          <p:cNvPr id="8" name="TextBox 7"/>
          <p:cNvSpPr txBox="1"/>
          <p:nvPr/>
        </p:nvSpPr>
        <p:spPr>
          <a:xfrm>
            <a:off x="914400" y="2057400"/>
            <a:ext cx="4846320" cy="2743200"/>
          </a:xfrm>
          <a:prstGeom prst="rect">
            <a:avLst/>
          </a:prstGeom>
          <a:noFill/>
        </p:spPr>
        <p:txBody>
          <a:bodyPr wrap="square" lIns="0" rIns="0" tIns="0" bIns="0">
            <a:spAutoFit/>
          </a:bodyPr>
          <a:lstStyle/>
          <a:p>
            <a:pPr>
              <a:spcAft>
                <a:spcPts val="700"/>
              </a:spcAft>
              <a:defRPr sz="900">
                <a:latin typeface="Arial"/>
              </a:defRPr>
            </a:pPr>
            <a:r>
              <a:rPr b="1">
                <a:solidFill>
                  <a:srgbClr val="00D4FF"/>
                </a:solidFill>
              </a:rPr>
              <a:t>• The Black-Box Dilemma:</a:t>
            </a:r>
            <a:r>
              <a:rPr b="0">
                <a:solidFill>
                  <a:srgbClr val="FFFFFF"/>
                </a:solidFill>
              </a:rPr>
              <a:t> In an enterprise Security Operations Center (SOC), an AI alert stating '99% Malware' without evidence cannot be acted upon by human analysts.</a:t>
            </a:r>
          </a:p>
          <a:p>
            <a:pPr>
              <a:spcAft>
                <a:spcPts val="700"/>
              </a:spcAft>
              <a:defRPr sz="900">
                <a:latin typeface="Arial"/>
              </a:defRPr>
            </a:pPr>
            <a:r>
              <a:rPr b="1">
                <a:solidFill>
                  <a:srgbClr val="00D4FF"/>
                </a:solidFill>
              </a:rPr>
              <a:t>• Regulatory Compliance:</a:t>
            </a:r>
            <a:r>
              <a:rPr b="0">
                <a:solidFill>
                  <a:srgbClr val="FFFFFF"/>
                </a:solidFill>
              </a:rPr>
              <a:t> Auditing standards (NIST, ISO 27001) require verifiable causal explanations for automated system quarantine and endpoint isolation.</a:t>
            </a:r>
          </a:p>
          <a:p>
            <a:pPr>
              <a:spcAft>
                <a:spcPts val="700"/>
              </a:spcAft>
              <a:defRPr sz="900">
                <a:latin typeface="Arial"/>
              </a:defRPr>
            </a:pPr>
            <a:r>
              <a:rPr b="1">
                <a:solidFill>
                  <a:srgbClr val="00D4FF"/>
                </a:solidFill>
              </a:rPr>
              <a:t>• Spurious Correlation Defense:</a:t>
            </a:r>
            <a:r>
              <a:rPr b="0">
                <a:solidFill>
                  <a:srgbClr val="FFFFFF"/>
                </a:solidFill>
              </a:rPr>
              <a:t> Grad-CAM proves the model triggers on genuine unpacker stubs rather than irrelevant compiler padding (0x00) or PE header artifacts.</a:t>
            </a:r>
          </a:p>
          <a:p>
            <a:pPr>
              <a:spcAft>
                <a:spcPts val="700"/>
              </a:spcAft>
              <a:defRPr sz="900">
                <a:latin typeface="Arial"/>
              </a:defRPr>
            </a:pPr>
            <a:r>
              <a:rPr b="1">
                <a:solidFill>
                  <a:srgbClr val="00D4FF"/>
                </a:solidFill>
              </a:rPr>
              <a:t>• Precision Forensics:</a:t>
            </a:r>
            <a:r>
              <a:rPr b="0">
                <a:solidFill>
                  <a:srgbClr val="FFFFFF"/>
                </a:solidFill>
              </a:rPr>
              <a:t> Points reverse engineers directly to the byte offset of malicious payloads within multi-megabyte binaries, cutting triage time by 90%.</a:t>
            </a:r>
          </a:p>
        </p:txBody>
      </p:sp>
      <p:sp>
        <p:nvSpPr>
          <p:cNvPr id="9" name="Rounded Rectangle 8"/>
          <p:cNvSpPr/>
          <p:nvPr/>
        </p:nvSpPr>
        <p:spPr>
          <a:xfrm>
            <a:off x="914400" y="4983480"/>
            <a:ext cx="4846320" cy="123444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038344"/>
            <a:ext cx="4626864" cy="1124712"/>
          </a:xfrm>
          <a:prstGeom prst="rect">
            <a:avLst/>
          </a:prstGeom>
          <a:noFill/>
        </p:spPr>
        <p:txBody>
          <a:bodyPr wrap="square" lIns="0" tIns="0">
            <a:spAutoFit/>
          </a:bodyPr>
          <a:lstStyle/>
          <a:p>
            <a:pPr>
              <a:defRPr sz="950" b="1">
                <a:solidFill>
                  <a:srgbClr val="00D4FF"/>
                </a:solidFill>
                <a:latin typeface="Arial"/>
              </a:defRPr>
            </a:pPr>
            <a:r>
              <a:t>ENTERPRISE VALUE PROPOSITION</a:t>
            </a:r>
          </a:p>
          <a:p>
            <a:pPr>
              <a:defRPr sz="850">
                <a:solidFill>
                  <a:srgbClr val="8FA3BF"/>
                </a:solidFill>
                <a:latin typeface="Arial"/>
              </a:defRPr>
            </a:pPr>
            <a:r>
              <a:t>Grad-CAM transforms AI from an untrusted 'black-box oracle' into an auditable, courtroom-ready forensic partner for incident responders.</a:t>
            </a:r>
          </a:p>
        </p:txBody>
      </p:sp>
      <p:sp>
        <p:nvSpPr>
          <p:cNvPr id="11" name="Rounded Rectangle 10"/>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31375" y="1527048"/>
            <a:ext cx="1645920" cy="237744"/>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A371F7"/>
                </a:solidFill>
                <a:latin typeface="Arial"/>
              </a:defRPr>
            </a:pPr>
            <a:r>
              <a:t>MATH MECHANICS</a:t>
            </a:r>
          </a:p>
        </p:txBody>
      </p:sp>
      <p:sp>
        <p:nvSpPr>
          <p:cNvPr id="13" name="TextBox 12"/>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Grad-CAM Mathematical &amp; Forensic Flow</a:t>
            </a:r>
          </a:p>
          <a:p>
            <a:pPr>
              <a:spcBef>
                <a:spcPts val="200"/>
              </a:spcBef>
              <a:defRPr sz="900">
                <a:solidFill>
                  <a:srgbClr val="8FA3BF"/>
                </a:solidFill>
                <a:latin typeface="Arial"/>
              </a:defRPr>
            </a:pPr>
            <a:r>
              <a:t>Gradient-Weighted Class Activation Mapping Mechanics</a:t>
            </a:r>
          </a:p>
        </p:txBody>
      </p:sp>
      <p:sp>
        <p:nvSpPr>
          <p:cNvPr id="14" name="Rounded Rectangle 13"/>
          <p:cNvSpPr/>
          <p:nvPr/>
        </p:nvSpPr>
        <p:spPr>
          <a:xfrm>
            <a:off x="6446520" y="2057400"/>
            <a:ext cx="4846320" cy="658368"/>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112264"/>
            <a:ext cx="4572000" cy="548640"/>
          </a:xfrm>
          <a:prstGeom prst="rect">
            <a:avLst/>
          </a:prstGeom>
          <a:noFill/>
        </p:spPr>
        <p:txBody>
          <a:bodyPr wrap="square" lIns="0" tIns="0">
            <a:spAutoFit/>
          </a:bodyPr>
          <a:lstStyle/>
          <a:p>
            <a:pPr>
              <a:defRPr sz="800" b="1">
                <a:solidFill>
                  <a:srgbClr val="00D4FF"/>
                </a:solidFill>
                <a:latin typeface="Arial"/>
              </a:defRPr>
            </a:pPr>
            <a:r>
              <a:t>01. FORWARD PASS -&gt; CLASS SCORE y^c</a:t>
            </a:r>
          </a:p>
          <a:p>
            <a:pPr>
              <a:spcBef>
                <a:spcPts val="200"/>
              </a:spcBef>
              <a:defRPr sz="750">
                <a:solidFill>
                  <a:srgbClr val="8FA3BF"/>
                </a:solidFill>
                <a:latin typeface="Arial"/>
              </a:defRPr>
            </a:pPr>
            <a:r>
              <a:t>Target binary image is propagated through ResNet-18 to compute the logit score y^c for predicted malware family c.</a:t>
            </a:r>
          </a:p>
        </p:txBody>
      </p:sp>
      <p:sp>
        <p:nvSpPr>
          <p:cNvPr id="16" name="Rounded Rectangle 15"/>
          <p:cNvSpPr/>
          <p:nvPr/>
        </p:nvSpPr>
        <p:spPr>
          <a:xfrm>
            <a:off x="6446520" y="2788920"/>
            <a:ext cx="4846320" cy="658368"/>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843784"/>
            <a:ext cx="4572000" cy="548640"/>
          </a:xfrm>
          <a:prstGeom prst="rect">
            <a:avLst/>
          </a:prstGeom>
          <a:noFill/>
        </p:spPr>
        <p:txBody>
          <a:bodyPr wrap="square" lIns="0" tIns="0">
            <a:spAutoFit/>
          </a:bodyPr>
          <a:lstStyle/>
          <a:p>
            <a:pPr>
              <a:defRPr sz="800" b="1">
                <a:solidFill>
                  <a:srgbClr val="388BFD"/>
                </a:solidFill>
                <a:latin typeface="Arial"/>
              </a:defRPr>
            </a:pPr>
            <a:r>
              <a:t>02. BACKWARD PASS -&gt; LAYER 4 GRADIENTS</a:t>
            </a:r>
          </a:p>
          <a:p>
            <a:pPr>
              <a:spcBef>
                <a:spcPts val="200"/>
              </a:spcBef>
              <a:defRPr sz="750">
                <a:solidFill>
                  <a:srgbClr val="8FA3BF"/>
                </a:solidFill>
                <a:latin typeface="Arial"/>
              </a:defRPr>
            </a:pPr>
            <a:r>
              <a:t>Compute gradients ∂y^c / ∂A^k with respect to activation feature maps A^k in the final convolutional residual block.</a:t>
            </a:r>
          </a:p>
        </p:txBody>
      </p:sp>
      <p:sp>
        <p:nvSpPr>
          <p:cNvPr id="18" name="Rounded Rectangle 17"/>
          <p:cNvSpPr/>
          <p:nvPr/>
        </p:nvSpPr>
        <p:spPr>
          <a:xfrm>
            <a:off x="6446520" y="3520440"/>
            <a:ext cx="4846320" cy="658368"/>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575304"/>
            <a:ext cx="4572000" cy="548640"/>
          </a:xfrm>
          <a:prstGeom prst="rect">
            <a:avLst/>
          </a:prstGeom>
          <a:noFill/>
        </p:spPr>
        <p:txBody>
          <a:bodyPr wrap="square" lIns="0" tIns="0">
            <a:spAutoFit/>
          </a:bodyPr>
          <a:lstStyle/>
          <a:p>
            <a:pPr>
              <a:defRPr sz="800" b="1">
                <a:solidFill>
                  <a:srgbClr val="A371F7"/>
                </a:solidFill>
                <a:latin typeface="Arial"/>
              </a:defRPr>
            </a:pPr>
            <a:r>
              <a:t>03. GLOBAL AVERAGE POOLING -&gt; WEIGHTS α_k^c</a:t>
            </a:r>
          </a:p>
          <a:p>
            <a:pPr>
              <a:spcBef>
                <a:spcPts val="200"/>
              </a:spcBef>
              <a:defRPr sz="750">
                <a:solidFill>
                  <a:srgbClr val="8FA3BF"/>
                </a:solidFill>
                <a:latin typeface="Arial"/>
              </a:defRPr>
            </a:pPr>
            <a:r>
              <a:t>α_k^c = (1 / Z) * ∑_i ∑_j (∂y^c / ∂A_ij^k); captures the relative importance of each feature map k to decision c.</a:t>
            </a:r>
          </a:p>
        </p:txBody>
      </p:sp>
      <p:sp>
        <p:nvSpPr>
          <p:cNvPr id="20" name="Rounded Rectangle 19"/>
          <p:cNvSpPr/>
          <p:nvPr/>
        </p:nvSpPr>
        <p:spPr>
          <a:xfrm>
            <a:off x="6446520" y="4251960"/>
            <a:ext cx="4846320" cy="658368"/>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306824"/>
            <a:ext cx="4572000" cy="548640"/>
          </a:xfrm>
          <a:prstGeom prst="rect">
            <a:avLst/>
          </a:prstGeom>
          <a:noFill/>
        </p:spPr>
        <p:txBody>
          <a:bodyPr wrap="square" lIns="0" tIns="0">
            <a:spAutoFit/>
          </a:bodyPr>
          <a:lstStyle/>
          <a:p>
            <a:pPr>
              <a:defRPr sz="800" b="1">
                <a:solidFill>
                  <a:srgbClr val="00E676"/>
                </a:solidFill>
                <a:latin typeface="Arial"/>
              </a:defRPr>
            </a:pPr>
            <a:r>
              <a:t>04. RECTIFIED COMBINATION -&gt; HEATMAP L^c</a:t>
            </a:r>
          </a:p>
          <a:p>
            <a:pPr>
              <a:spcBef>
                <a:spcPts val="200"/>
              </a:spcBef>
              <a:defRPr sz="750">
                <a:solidFill>
                  <a:srgbClr val="8FA3BF"/>
                </a:solidFill>
                <a:latin typeface="Arial"/>
              </a:defRPr>
            </a:pPr>
            <a:r>
              <a:t>L^c = ReLU( ∑_k α_k^c A^k ); ReLU isolates positive causal features that increase the confidence of the threat label.</a:t>
            </a:r>
          </a:p>
        </p:txBody>
      </p:sp>
      <p:sp>
        <p:nvSpPr>
          <p:cNvPr id="22" name="Rounded Rectangle 21"/>
          <p:cNvSpPr/>
          <p:nvPr/>
        </p:nvSpPr>
        <p:spPr>
          <a:xfrm>
            <a:off x="6446520" y="4983480"/>
            <a:ext cx="4846320" cy="123444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5038344"/>
            <a:ext cx="4626864" cy="1124712"/>
          </a:xfrm>
          <a:prstGeom prst="rect">
            <a:avLst/>
          </a:prstGeom>
          <a:noFill/>
        </p:spPr>
        <p:txBody>
          <a:bodyPr wrap="square" lIns="0" tIns="0">
            <a:spAutoFit/>
          </a:bodyPr>
          <a:lstStyle/>
          <a:p>
            <a:pPr>
              <a:defRPr sz="950" b="1">
                <a:solidFill>
                  <a:srgbClr val="00E676"/>
                </a:solidFill>
                <a:latin typeface="Arial"/>
              </a:defRPr>
            </a:pPr>
            <a:r>
              <a:t>HEATMAP FORENSIC INTERPRETATION KEY</a:t>
            </a:r>
          </a:p>
          <a:p>
            <a:pPr>
              <a:defRPr sz="850">
                <a:solidFill>
                  <a:srgbClr val="8FA3BF"/>
                </a:solidFill>
                <a:latin typeface="Arial"/>
              </a:defRPr>
            </a:pPr>
            <a:r>
              <a:t>• RED HOTSPOTS: High causal attention -&gt; Malicious unpacker stubs &amp; encrypted payloads</a:t>
            </a:r>
            <a:br/>
            <a:r>
              <a:t>• BLUE BACKGROUND: Zero causal attention -&gt; Standard PE compiler headers &amp; zero-fill padding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FALSE POSITIVE MITIGATION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Open-World Triaging: Handling Clean Files (cmd.exe)</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3383280" cy="4983480"/>
          </a:xfrm>
          <a:prstGeom prst="roundRect">
            <a:avLst/>
          </a:prstGeom>
          <a:solidFill>
            <a:srgbClr val="0E1726"/>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86000" y="1527048"/>
            <a:ext cx="1645920" cy="237744"/>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FF1744"/>
                </a:solidFill>
                <a:latin typeface="Arial"/>
              </a:defRPr>
            </a:pPr>
            <a:r>
              <a:t>CONFIDENCE &gt; 85%</a:t>
            </a:r>
          </a:p>
        </p:txBody>
      </p:sp>
      <p:sp>
        <p:nvSpPr>
          <p:cNvPr id="7" name="TextBox 6"/>
          <p:cNvSpPr txBox="1"/>
          <p:nvPr/>
        </p:nvSpPr>
        <p:spPr>
          <a:xfrm>
            <a:off x="914400" y="1527048"/>
            <a:ext cx="3017520" cy="502920"/>
          </a:xfrm>
          <a:prstGeom prst="rect">
            <a:avLst/>
          </a:prstGeom>
          <a:noFill/>
        </p:spPr>
        <p:txBody>
          <a:bodyPr wrap="square" lIns="0" tIns="0">
            <a:spAutoFit/>
          </a:bodyPr>
          <a:lstStyle/>
          <a:p>
            <a:pPr>
              <a:defRPr sz="1250" b="1">
                <a:solidFill>
                  <a:srgbClr val="FFFFFF"/>
                </a:solidFill>
                <a:latin typeface="Arial"/>
              </a:defRPr>
            </a:pPr>
            <a:r>
              <a:t>1. CRITICAL THREAT</a:t>
            </a:r>
          </a:p>
          <a:p>
            <a:pPr>
              <a:spcBef>
                <a:spcPts val="200"/>
              </a:spcBef>
              <a:defRPr sz="900">
                <a:solidFill>
                  <a:srgbClr val="8FA3BF"/>
                </a:solidFill>
                <a:latin typeface="Arial"/>
              </a:defRPr>
            </a:pPr>
            <a:r>
              <a:t>Definite Malware Family Match</a:t>
            </a:r>
          </a:p>
        </p:txBody>
      </p:sp>
      <p:sp>
        <p:nvSpPr>
          <p:cNvPr id="8" name="TextBox 7"/>
          <p:cNvSpPr txBox="1"/>
          <p:nvPr/>
        </p:nvSpPr>
        <p:spPr>
          <a:xfrm>
            <a:off x="914400" y="2103120"/>
            <a:ext cx="3017520" cy="2926080"/>
          </a:xfrm>
          <a:prstGeom prst="rect">
            <a:avLst/>
          </a:prstGeom>
          <a:noFill/>
        </p:spPr>
        <p:txBody>
          <a:bodyPr wrap="square" lIns="0" rIns="0" tIns="0" bIns="0">
            <a:spAutoFit/>
          </a:bodyPr>
          <a:lstStyle/>
          <a:p>
            <a:pPr>
              <a:spcAft>
                <a:spcPts val="700"/>
              </a:spcAft>
              <a:defRPr sz="900">
                <a:latin typeface="Arial"/>
              </a:defRPr>
            </a:pPr>
            <a:r>
              <a:rPr b="1">
                <a:solidFill>
                  <a:srgbClr val="00D4FF"/>
                </a:solidFill>
              </a:rPr>
              <a:t>• Softmax Probability:</a:t>
            </a:r>
            <a:r>
              <a:rPr b="0">
                <a:solidFill>
                  <a:srgbClr val="FFFFFF"/>
                </a:solidFill>
              </a:rPr>
              <a:t> Strongly peaked score exceeding 85.0% on one known family.</a:t>
            </a:r>
          </a:p>
          <a:p>
            <a:pPr>
              <a:spcAft>
                <a:spcPts val="700"/>
              </a:spcAft>
              <a:defRPr sz="900">
                <a:latin typeface="Arial"/>
              </a:defRPr>
            </a:pPr>
            <a:r>
              <a:rPr b="1">
                <a:solidFill>
                  <a:srgbClr val="00D4FF"/>
                </a:solidFill>
              </a:rPr>
              <a:t>• Shannon Entropy:</a:t>
            </a:r>
            <a:r>
              <a:rPr b="0">
                <a:solidFill>
                  <a:srgbClr val="FFFFFF"/>
                </a:solidFill>
              </a:rPr>
              <a:t> Extremely low (H &lt; 0.50), proving unanimous neural consensus.</a:t>
            </a:r>
          </a:p>
          <a:p>
            <a:pPr>
              <a:spcAft>
                <a:spcPts val="700"/>
              </a:spcAft>
              <a:defRPr sz="900">
                <a:latin typeface="Arial"/>
              </a:defRPr>
            </a:pPr>
            <a:r>
              <a:rPr b="1">
                <a:solidFill>
                  <a:srgbClr val="00D4FF"/>
                </a:solidFill>
              </a:rPr>
              <a:t>• Tested Sample:</a:t>
            </a:r>
            <a:r>
              <a:rPr b="0">
                <a:solidFill>
                  <a:srgbClr val="FFFFFF"/>
                </a:solidFill>
              </a:rPr>
              <a:t> Allaple.A scored 99.97% CRITICAL; Yuner.A scored 99.82% CRITICAL.</a:t>
            </a:r>
          </a:p>
          <a:p>
            <a:pPr>
              <a:spcAft>
                <a:spcPts val="700"/>
              </a:spcAft>
              <a:defRPr sz="900">
                <a:latin typeface="Arial"/>
              </a:defRPr>
            </a:pPr>
            <a:r>
              <a:rPr b="1">
                <a:solidFill>
                  <a:srgbClr val="00D4FF"/>
                </a:solidFill>
              </a:rPr>
              <a:t>• Operational Action:</a:t>
            </a:r>
            <a:r>
              <a:rPr b="0">
                <a:solidFill>
                  <a:srgbClr val="FFFFFF"/>
                </a:solidFill>
              </a:rPr>
              <a:t> Immediate automated endpoint isolation and file quarantine.</a:t>
            </a:r>
          </a:p>
        </p:txBody>
      </p:sp>
      <p:sp>
        <p:nvSpPr>
          <p:cNvPr id="9" name="Rounded Rectangle 8"/>
          <p:cNvSpPr/>
          <p:nvPr/>
        </p:nvSpPr>
        <p:spPr>
          <a:xfrm>
            <a:off x="914400" y="5257800"/>
            <a:ext cx="3017520" cy="914400"/>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312664"/>
            <a:ext cx="2798064" cy="804672"/>
          </a:xfrm>
          <a:prstGeom prst="rect">
            <a:avLst/>
          </a:prstGeom>
          <a:noFill/>
        </p:spPr>
        <p:txBody>
          <a:bodyPr wrap="square" lIns="0" tIns="0">
            <a:spAutoFit/>
          </a:bodyPr>
          <a:lstStyle/>
          <a:p>
            <a:pPr>
              <a:defRPr sz="950" b="1">
                <a:solidFill>
                  <a:srgbClr val="FF1744"/>
                </a:solidFill>
                <a:latin typeface="Arial"/>
              </a:defRPr>
            </a:pPr>
            <a:r>
              <a:t>TRIAGE TIER: CRITICAL</a:t>
            </a:r>
          </a:p>
          <a:p>
            <a:pPr>
              <a:defRPr sz="850">
                <a:solidFill>
                  <a:srgbClr val="8FA3BF"/>
                </a:solidFill>
                <a:latin typeface="Arial"/>
              </a:defRPr>
            </a:pPr>
            <a:r>
              <a:t>Immediate Quarantine • Kill Host Process • Push IOC to Firewall</a:t>
            </a:r>
          </a:p>
        </p:txBody>
      </p:sp>
      <p:sp>
        <p:nvSpPr>
          <p:cNvPr id="11" name="Rounded Rectangle 10"/>
          <p:cNvSpPr/>
          <p:nvPr/>
        </p:nvSpPr>
        <p:spPr>
          <a:xfrm>
            <a:off x="4403750" y="1417320"/>
            <a:ext cx="3383280" cy="4983480"/>
          </a:xfrm>
          <a:prstGeom prst="roundRect">
            <a:avLst/>
          </a:prstGeom>
          <a:solidFill>
            <a:srgbClr val="0E1726"/>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230" y="1527048"/>
            <a:ext cx="1645920" cy="237744"/>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FF9100"/>
                </a:solidFill>
                <a:latin typeface="Arial"/>
              </a:defRPr>
            </a:pPr>
            <a:r>
              <a:t>CONFIDENCE 60% – 85%</a:t>
            </a:r>
          </a:p>
        </p:txBody>
      </p:sp>
      <p:sp>
        <p:nvSpPr>
          <p:cNvPr id="13" name="TextBox 12"/>
          <p:cNvSpPr txBox="1"/>
          <p:nvPr/>
        </p:nvSpPr>
        <p:spPr>
          <a:xfrm>
            <a:off x="4586630" y="1527048"/>
            <a:ext cx="3017520" cy="502920"/>
          </a:xfrm>
          <a:prstGeom prst="rect">
            <a:avLst/>
          </a:prstGeom>
          <a:noFill/>
        </p:spPr>
        <p:txBody>
          <a:bodyPr wrap="square" lIns="0" tIns="0">
            <a:spAutoFit/>
          </a:bodyPr>
          <a:lstStyle/>
          <a:p>
            <a:pPr>
              <a:defRPr sz="1250" b="1">
                <a:solidFill>
                  <a:srgbClr val="FFFFFF"/>
                </a:solidFill>
                <a:latin typeface="Arial"/>
              </a:defRPr>
            </a:pPr>
            <a:r>
              <a:t>2. SUSPICIOUS VARIANT</a:t>
            </a:r>
          </a:p>
          <a:p>
            <a:pPr>
              <a:spcBef>
                <a:spcPts val="200"/>
              </a:spcBef>
              <a:defRPr sz="900">
                <a:solidFill>
                  <a:srgbClr val="8FA3BF"/>
                </a:solidFill>
                <a:latin typeface="Arial"/>
              </a:defRPr>
            </a:pPr>
            <a:r>
              <a:t>Probable Variant or Packed Binary</a:t>
            </a:r>
          </a:p>
        </p:txBody>
      </p:sp>
      <p:sp>
        <p:nvSpPr>
          <p:cNvPr id="14" name="TextBox 13"/>
          <p:cNvSpPr txBox="1"/>
          <p:nvPr/>
        </p:nvSpPr>
        <p:spPr>
          <a:xfrm>
            <a:off x="4586630" y="2103120"/>
            <a:ext cx="3017520" cy="2926080"/>
          </a:xfrm>
          <a:prstGeom prst="rect">
            <a:avLst/>
          </a:prstGeom>
          <a:noFill/>
        </p:spPr>
        <p:txBody>
          <a:bodyPr wrap="square" lIns="0" rIns="0" tIns="0" bIns="0">
            <a:spAutoFit/>
          </a:bodyPr>
          <a:lstStyle/>
          <a:p>
            <a:pPr>
              <a:spcAft>
                <a:spcPts val="700"/>
              </a:spcAft>
              <a:defRPr sz="900">
                <a:latin typeface="Arial"/>
              </a:defRPr>
            </a:pPr>
            <a:r>
              <a:rPr b="1">
                <a:solidFill>
                  <a:srgbClr val="00D4FF"/>
                </a:solidFill>
              </a:rPr>
              <a:t>• Softmax Probability:</a:t>
            </a:r>
            <a:r>
              <a:rPr b="0">
                <a:solidFill>
                  <a:srgbClr val="FFFFFF"/>
                </a:solidFill>
              </a:rPr>
              <a:t> Intermediate score between 60.0% and 85.0%.</a:t>
            </a:r>
          </a:p>
          <a:p>
            <a:pPr>
              <a:spcAft>
                <a:spcPts val="700"/>
              </a:spcAft>
              <a:defRPr sz="900">
                <a:latin typeface="Arial"/>
              </a:defRPr>
            </a:pPr>
            <a:r>
              <a:rPr b="1">
                <a:solidFill>
                  <a:srgbClr val="00D4FF"/>
                </a:solidFill>
              </a:rPr>
              <a:t>• Shannon Entropy:</a:t>
            </a:r>
            <a:r>
              <a:rPr b="0">
                <a:solidFill>
                  <a:srgbClr val="FFFFFF"/>
                </a:solidFill>
              </a:rPr>
              <a:t> Moderate (0.50 &lt;= H &lt;= 1.50), showing secondary family correlations.</a:t>
            </a:r>
          </a:p>
          <a:p>
            <a:pPr>
              <a:spcAft>
                <a:spcPts val="700"/>
              </a:spcAft>
              <a:defRPr sz="900">
                <a:latin typeface="Arial"/>
              </a:defRPr>
            </a:pPr>
            <a:r>
              <a:rPr b="1">
                <a:solidFill>
                  <a:srgbClr val="00D4FF"/>
                </a:solidFill>
              </a:rPr>
              <a:t>• Tested Sample:</a:t>
            </a:r>
            <a:r>
              <a:rPr b="0">
                <a:solidFill>
                  <a:srgbClr val="FFFFFF"/>
                </a:solidFill>
              </a:rPr>
              <a:t> Polymorphic droppers and multi-layer crypter re-packs.</a:t>
            </a:r>
          </a:p>
          <a:p>
            <a:pPr>
              <a:spcAft>
                <a:spcPts val="700"/>
              </a:spcAft>
              <a:defRPr sz="900">
                <a:latin typeface="Arial"/>
              </a:defRPr>
            </a:pPr>
            <a:r>
              <a:rPr b="1">
                <a:solidFill>
                  <a:srgbClr val="00D4FF"/>
                </a:solidFill>
              </a:rPr>
              <a:t>• Operational Action:</a:t>
            </a:r>
            <a:r>
              <a:rPr b="0">
                <a:solidFill>
                  <a:srgbClr val="FFFFFF"/>
                </a:solidFill>
              </a:rPr>
              <a:t> Route to secondary deep sandbox queue for behavioral verification.</a:t>
            </a:r>
          </a:p>
        </p:txBody>
      </p:sp>
      <p:sp>
        <p:nvSpPr>
          <p:cNvPr id="15" name="Rounded Rectangle 14"/>
          <p:cNvSpPr/>
          <p:nvPr/>
        </p:nvSpPr>
        <p:spPr>
          <a:xfrm>
            <a:off x="4586630" y="5257800"/>
            <a:ext cx="3017520" cy="914400"/>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6358" y="5312664"/>
            <a:ext cx="2798064" cy="804672"/>
          </a:xfrm>
          <a:prstGeom prst="rect">
            <a:avLst/>
          </a:prstGeom>
          <a:noFill/>
        </p:spPr>
        <p:txBody>
          <a:bodyPr wrap="square" lIns="0" tIns="0">
            <a:spAutoFit/>
          </a:bodyPr>
          <a:lstStyle/>
          <a:p>
            <a:pPr>
              <a:defRPr sz="950" b="1">
                <a:solidFill>
                  <a:srgbClr val="FF9100"/>
                </a:solidFill>
                <a:latin typeface="Arial"/>
              </a:defRPr>
            </a:pPr>
            <a:r>
              <a:t>TRIAGE TIER: SUSPICIOUS</a:t>
            </a:r>
          </a:p>
          <a:p>
            <a:pPr>
              <a:defRPr sz="850">
                <a:solidFill>
                  <a:srgbClr val="8FA3BF"/>
                </a:solidFill>
                <a:latin typeface="Arial"/>
              </a:defRPr>
            </a:pPr>
            <a:r>
              <a:t>Secondary Sandbox Queue • Flag Hash in SIEM • Await Analyst Review</a:t>
            </a:r>
          </a:p>
        </p:txBody>
      </p:sp>
      <p:sp>
        <p:nvSpPr>
          <p:cNvPr id="17" name="Rounded Rectangle 16"/>
          <p:cNvSpPr/>
          <p:nvPr/>
        </p:nvSpPr>
        <p:spPr>
          <a:xfrm>
            <a:off x="8075980" y="1417320"/>
            <a:ext cx="3383280" cy="4983480"/>
          </a:xfrm>
          <a:prstGeom prst="roundRect">
            <a:avLst/>
          </a:prstGeom>
          <a:solidFill>
            <a:srgbClr val="0E1726"/>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30460" y="152704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CONFIDENCE &lt; 60%</a:t>
            </a:r>
          </a:p>
        </p:txBody>
      </p:sp>
      <p:sp>
        <p:nvSpPr>
          <p:cNvPr id="19" name="TextBox 18"/>
          <p:cNvSpPr txBox="1"/>
          <p:nvPr/>
        </p:nvSpPr>
        <p:spPr>
          <a:xfrm>
            <a:off x="8258860" y="1527048"/>
            <a:ext cx="3017520" cy="502920"/>
          </a:xfrm>
          <a:prstGeom prst="rect">
            <a:avLst/>
          </a:prstGeom>
          <a:noFill/>
        </p:spPr>
        <p:txBody>
          <a:bodyPr wrap="square" lIns="0" tIns="0">
            <a:spAutoFit/>
          </a:bodyPr>
          <a:lstStyle/>
          <a:p>
            <a:pPr>
              <a:defRPr sz="1250" b="1">
                <a:solidFill>
                  <a:srgbClr val="FFFFFF"/>
                </a:solidFill>
                <a:latin typeface="Arial"/>
              </a:defRPr>
            </a:pPr>
            <a:r>
              <a:t>3. INCONCLUSIVE / CLEAN</a:t>
            </a:r>
          </a:p>
          <a:p>
            <a:pPr>
              <a:spcBef>
                <a:spcPts val="200"/>
              </a:spcBef>
              <a:defRPr sz="900">
                <a:solidFill>
                  <a:srgbClr val="8FA3BF"/>
                </a:solidFill>
                <a:latin typeface="Arial"/>
              </a:defRPr>
            </a:pPr>
            <a:r>
              <a:t>Benign Windows Utility / Clean Executable</a:t>
            </a:r>
          </a:p>
        </p:txBody>
      </p:sp>
      <p:sp>
        <p:nvSpPr>
          <p:cNvPr id="20" name="TextBox 19"/>
          <p:cNvSpPr txBox="1"/>
          <p:nvPr/>
        </p:nvSpPr>
        <p:spPr>
          <a:xfrm>
            <a:off x="8258860" y="2103120"/>
            <a:ext cx="3017520" cy="2926080"/>
          </a:xfrm>
          <a:prstGeom prst="rect">
            <a:avLst/>
          </a:prstGeom>
          <a:noFill/>
        </p:spPr>
        <p:txBody>
          <a:bodyPr wrap="square" lIns="0" rIns="0" tIns="0" bIns="0">
            <a:spAutoFit/>
          </a:bodyPr>
          <a:lstStyle/>
          <a:p>
            <a:pPr>
              <a:spcAft>
                <a:spcPts val="700"/>
              </a:spcAft>
              <a:defRPr sz="900">
                <a:latin typeface="Arial"/>
              </a:defRPr>
            </a:pPr>
            <a:r>
              <a:rPr b="1">
                <a:solidFill>
                  <a:srgbClr val="00D4FF"/>
                </a:solidFill>
              </a:rPr>
              <a:t>• Softmax Probability:</a:t>
            </a:r>
            <a:r>
              <a:rPr b="0">
                <a:solidFill>
                  <a:srgbClr val="FFFFFF"/>
                </a:solidFill>
              </a:rPr>
              <a:t> Peak score remains well below 60.0% threshold.</a:t>
            </a:r>
          </a:p>
          <a:p>
            <a:pPr>
              <a:spcAft>
                <a:spcPts val="700"/>
              </a:spcAft>
              <a:defRPr sz="900">
                <a:latin typeface="Arial"/>
              </a:defRPr>
            </a:pPr>
            <a:r>
              <a:rPr b="1">
                <a:solidFill>
                  <a:srgbClr val="00D4FF"/>
                </a:solidFill>
              </a:rPr>
              <a:t>• Shannon Entropy:</a:t>
            </a:r>
            <a:r>
              <a:rPr b="0">
                <a:solidFill>
                  <a:srgbClr val="FFFFFF"/>
                </a:solidFill>
              </a:rPr>
              <a:t> High (H &gt; 1.80); probabilities scatter uniformly across all classes.</a:t>
            </a:r>
          </a:p>
          <a:p>
            <a:pPr>
              <a:spcAft>
                <a:spcPts val="700"/>
              </a:spcAft>
              <a:defRPr sz="900">
                <a:latin typeface="Arial"/>
              </a:defRPr>
            </a:pPr>
            <a:r>
              <a:rPr b="1">
                <a:solidFill>
                  <a:srgbClr val="00D4FF"/>
                </a:solidFill>
              </a:rPr>
              <a:t>• Real Tested Samples:</a:t>
            </a:r>
            <a:r>
              <a:rPr b="0">
                <a:solidFill>
                  <a:srgbClr val="FFFFFF"/>
                </a:solidFill>
              </a:rPr>
              <a:t> cmd.exe (35.6%), calc.exe (34.8%), notepad.exe (36.1%).</a:t>
            </a:r>
          </a:p>
          <a:p>
            <a:pPr>
              <a:spcAft>
                <a:spcPts val="700"/>
              </a:spcAft>
              <a:defRPr sz="900">
                <a:latin typeface="Arial"/>
              </a:defRPr>
            </a:pPr>
            <a:r>
              <a:rPr b="1">
                <a:solidFill>
                  <a:srgbClr val="00D4FF"/>
                </a:solidFill>
              </a:rPr>
              <a:t>• Operational Action:</a:t>
            </a:r>
            <a:r>
              <a:rPr b="0">
                <a:solidFill>
                  <a:srgbClr val="FFFFFF"/>
                </a:solidFill>
              </a:rPr>
              <a:t> Classified as SAFE/BENIGN. Zero false alarms raised!</a:t>
            </a:r>
          </a:p>
        </p:txBody>
      </p:sp>
      <p:sp>
        <p:nvSpPr>
          <p:cNvPr id="21" name="Rounded Rectangle 20"/>
          <p:cNvSpPr/>
          <p:nvPr/>
        </p:nvSpPr>
        <p:spPr>
          <a:xfrm>
            <a:off x="8258860" y="5257800"/>
            <a:ext cx="3017520" cy="91440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8588" y="5312664"/>
            <a:ext cx="2798064" cy="804672"/>
          </a:xfrm>
          <a:prstGeom prst="rect">
            <a:avLst/>
          </a:prstGeom>
          <a:noFill/>
        </p:spPr>
        <p:txBody>
          <a:bodyPr wrap="square" lIns="0" tIns="0">
            <a:spAutoFit/>
          </a:bodyPr>
          <a:lstStyle/>
          <a:p>
            <a:pPr>
              <a:defRPr sz="950" b="1">
                <a:solidFill>
                  <a:srgbClr val="00E676"/>
                </a:solidFill>
                <a:latin typeface="Arial"/>
              </a:defRPr>
            </a:pPr>
            <a:r>
              <a:t>TRIAGE TIER: SAFE / BENIGN</a:t>
            </a:r>
          </a:p>
          <a:p>
            <a:pPr>
              <a:defRPr sz="850">
                <a:solidFill>
                  <a:srgbClr val="8FA3BF"/>
                </a:solidFill>
                <a:latin typeface="Arial"/>
              </a:defRPr>
            </a:pPr>
            <a:r>
              <a:t>Zero False Positives • Native Windows Tools Whitelisted Safely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SOFTWARE PLATFORM &amp; APPLICATION</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Threat Intelligence &amp; Live Interactive Web UI</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CYBER INTELLIGENCE</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Threat Intelligence Engine (malware_intel.py)</a:t>
            </a:r>
          </a:p>
          <a:p>
            <a:pPr>
              <a:spcBef>
                <a:spcPts val="200"/>
              </a:spcBef>
              <a:defRPr sz="900">
                <a:solidFill>
                  <a:srgbClr val="8FA3BF"/>
                </a:solidFill>
                <a:latin typeface="Arial"/>
              </a:defRPr>
            </a:pPr>
            <a:r>
              <a:t>Connecting Raw AI Predictions to Actionable Incident Response</a:t>
            </a:r>
          </a:p>
        </p:txBody>
      </p:sp>
      <p:sp>
        <p:nvSpPr>
          <p:cNvPr id="8" name="Rounded Rectangle 7"/>
          <p:cNvSpPr/>
          <p:nvPr/>
        </p:nvSpPr>
        <p:spPr>
          <a:xfrm>
            <a:off x="914400" y="2057400"/>
            <a:ext cx="4846320" cy="82296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12264"/>
            <a:ext cx="4572000" cy="713232"/>
          </a:xfrm>
          <a:prstGeom prst="rect">
            <a:avLst/>
          </a:prstGeom>
          <a:noFill/>
        </p:spPr>
        <p:txBody>
          <a:bodyPr wrap="square" lIns="0" tIns="0">
            <a:spAutoFit/>
          </a:bodyPr>
          <a:lstStyle/>
          <a:p>
            <a:pPr>
              <a:defRPr sz="850" b="1">
                <a:solidFill>
                  <a:srgbClr val="00D4FF"/>
                </a:solidFill>
                <a:latin typeface="Arial"/>
              </a:defRPr>
            </a:pPr>
            <a:r>
              <a:t>EXHAUSTIVE THREAT REPOSITORY</a:t>
            </a:r>
          </a:p>
          <a:p>
            <a:pPr>
              <a:spcBef>
                <a:spcPts val="200"/>
              </a:spcBef>
              <a:defRPr sz="800">
                <a:solidFill>
                  <a:srgbClr val="8FA3BF"/>
                </a:solidFill>
                <a:latin typeface="Arial"/>
              </a:defRPr>
            </a:pPr>
            <a:r>
              <a:t>Embedded knowledge base containing rich dossiers for all 26 cataloged families (worms, trojans, rootkits, droppers).</a:t>
            </a:r>
          </a:p>
        </p:txBody>
      </p:sp>
      <p:sp>
        <p:nvSpPr>
          <p:cNvPr id="10" name="Rounded Rectangle 9"/>
          <p:cNvSpPr/>
          <p:nvPr/>
        </p:nvSpPr>
        <p:spPr>
          <a:xfrm>
            <a:off x="914400" y="2990088"/>
            <a:ext cx="4846320" cy="822960"/>
          </a:xfrm>
          <a:prstGeom prst="roundRect">
            <a:avLst/>
          </a:prstGeom>
          <a:solidFill>
            <a:srgbClr val="09101A"/>
          </a:solidFill>
          <a:ln w="127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44952"/>
            <a:ext cx="4572000" cy="713232"/>
          </a:xfrm>
          <a:prstGeom prst="rect">
            <a:avLst/>
          </a:prstGeom>
          <a:noFill/>
        </p:spPr>
        <p:txBody>
          <a:bodyPr wrap="square" lIns="0" tIns="0">
            <a:spAutoFit/>
          </a:bodyPr>
          <a:lstStyle/>
          <a:p>
            <a:pPr>
              <a:defRPr sz="850" b="1">
                <a:solidFill>
                  <a:srgbClr val="FF1744"/>
                </a:solidFill>
                <a:latin typeface="Arial"/>
              </a:defRPr>
            </a:pPr>
            <a:r>
              <a:t>SEVERITY &amp; IMPACT SCORING</a:t>
            </a:r>
          </a:p>
          <a:p>
            <a:pPr>
              <a:spcBef>
                <a:spcPts val="200"/>
              </a:spcBef>
              <a:defRPr sz="800">
                <a:solidFill>
                  <a:srgbClr val="8FA3BF"/>
                </a:solidFill>
                <a:latin typeface="Arial"/>
              </a:defRPr>
            </a:pPr>
            <a:r>
              <a:t>Automated risk rating (CRITICAL, HIGH, MODERATE) with technical breakdown of registry keys, process hooks, and network sockets.</a:t>
            </a:r>
          </a:p>
        </p:txBody>
      </p:sp>
      <p:sp>
        <p:nvSpPr>
          <p:cNvPr id="12" name="Rounded Rectangle 11"/>
          <p:cNvSpPr/>
          <p:nvPr/>
        </p:nvSpPr>
        <p:spPr>
          <a:xfrm>
            <a:off x="914400" y="3922776"/>
            <a:ext cx="4846320" cy="822960"/>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977640"/>
            <a:ext cx="4572000" cy="713232"/>
          </a:xfrm>
          <a:prstGeom prst="rect">
            <a:avLst/>
          </a:prstGeom>
          <a:noFill/>
        </p:spPr>
        <p:txBody>
          <a:bodyPr wrap="square" lIns="0" tIns="0">
            <a:spAutoFit/>
          </a:bodyPr>
          <a:lstStyle/>
          <a:p>
            <a:pPr>
              <a:defRPr sz="850" b="1">
                <a:solidFill>
                  <a:srgbClr val="FF9100"/>
                </a:solidFill>
                <a:latin typeface="Arial"/>
              </a:defRPr>
            </a:pPr>
            <a:r>
              <a:t>INFECTION PATHWAY ANALYSIS</a:t>
            </a:r>
          </a:p>
          <a:p>
            <a:pPr>
              <a:spcBef>
                <a:spcPts val="200"/>
              </a:spcBef>
              <a:defRPr sz="800">
                <a:solidFill>
                  <a:srgbClr val="8FA3BF"/>
                </a:solidFill>
                <a:latin typeface="Arial"/>
              </a:defRPr>
            </a:pPr>
            <a:r>
              <a:t>Identifies primary vector: email attachments, drive-by downloads, cracked software installers, or lateral SMB movement.</a:t>
            </a:r>
          </a:p>
        </p:txBody>
      </p:sp>
      <p:sp>
        <p:nvSpPr>
          <p:cNvPr id="14" name="Rounded Rectangle 13"/>
          <p:cNvSpPr/>
          <p:nvPr/>
        </p:nvSpPr>
        <p:spPr>
          <a:xfrm>
            <a:off x="914400" y="4855464"/>
            <a:ext cx="4846320" cy="82296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910328"/>
            <a:ext cx="4572000" cy="713232"/>
          </a:xfrm>
          <a:prstGeom prst="rect">
            <a:avLst/>
          </a:prstGeom>
          <a:noFill/>
        </p:spPr>
        <p:txBody>
          <a:bodyPr wrap="square" lIns="0" tIns="0">
            <a:spAutoFit/>
          </a:bodyPr>
          <a:lstStyle/>
          <a:p>
            <a:pPr>
              <a:defRPr sz="850" b="1">
                <a:solidFill>
                  <a:srgbClr val="00E676"/>
                </a:solidFill>
                <a:latin typeface="Arial"/>
              </a:defRPr>
            </a:pPr>
            <a:r>
              <a:t>INCIDENT RESPONSE PLAYBOOKS</a:t>
            </a:r>
          </a:p>
          <a:p>
            <a:pPr>
              <a:spcBef>
                <a:spcPts val="200"/>
              </a:spcBef>
              <a:defRPr sz="800">
                <a:solidFill>
                  <a:srgbClr val="8FA3BF"/>
                </a:solidFill>
                <a:latin typeface="Arial"/>
              </a:defRPr>
            </a:pPr>
            <a:r>
              <a:t>Prescriptive removal commands, host isolation guidelines, and IOC telemetry signatures for enterprise SIEM ingestion.</a:t>
            </a:r>
          </a:p>
        </p:txBody>
      </p:sp>
      <p:sp>
        <p:nvSpPr>
          <p:cNvPr id="16" name="Rounded Rectangle 15"/>
          <p:cNvSpPr/>
          <p:nvPr/>
        </p:nvSpPr>
        <p:spPr>
          <a:xfrm>
            <a:off x="914400" y="5806440"/>
            <a:ext cx="4846320" cy="50292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5861304"/>
            <a:ext cx="4626864" cy="393192"/>
          </a:xfrm>
          <a:prstGeom prst="rect">
            <a:avLst/>
          </a:prstGeom>
          <a:noFill/>
        </p:spPr>
        <p:txBody>
          <a:bodyPr wrap="square" lIns="0" tIns="0">
            <a:spAutoFit/>
          </a:bodyPr>
          <a:lstStyle/>
          <a:p>
            <a:pPr>
              <a:defRPr sz="950" b="1">
                <a:solidFill>
                  <a:srgbClr val="00E676"/>
                </a:solidFill>
                <a:latin typeface="Arial"/>
              </a:defRPr>
            </a:pPr>
            <a:r>
              <a:t>MITRE ATT&amp;CK ALIGNED</a:t>
            </a:r>
          </a:p>
          <a:p>
            <a:pPr>
              <a:defRPr sz="850">
                <a:solidFill>
                  <a:srgbClr val="8FA3BF"/>
                </a:solidFill>
                <a:latin typeface="Arial"/>
              </a:defRPr>
            </a:pPr>
            <a:r>
              <a:t>Maps every detected family directly to tactical enterprise attack frameworks.</a:t>
            </a:r>
          </a:p>
        </p:txBody>
      </p:sp>
      <p:sp>
        <p:nvSpPr>
          <p:cNvPr id="18" name="Rounded Rectangle 17"/>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31375" y="1527048"/>
            <a:ext cx="1645920" cy="237744"/>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A371F7"/>
                </a:solidFill>
                <a:latin typeface="Arial"/>
              </a:defRPr>
            </a:pPr>
            <a:r>
              <a:t>SYSTEM STACK</a:t>
            </a:r>
          </a:p>
        </p:txBody>
      </p:sp>
      <p:sp>
        <p:nvSpPr>
          <p:cNvPr id="20" name="TextBox 19"/>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Full-Stack Application Architecture</a:t>
            </a:r>
          </a:p>
          <a:p>
            <a:pPr>
              <a:spcBef>
                <a:spcPts val="200"/>
              </a:spcBef>
              <a:defRPr sz="900">
                <a:solidFill>
                  <a:srgbClr val="8FA3BF"/>
                </a:solidFill>
                <a:latin typeface="Arial"/>
              </a:defRPr>
            </a:pPr>
            <a:r>
              <a:t>Modular Component Hierarchy &amp; Deployment Setup</a:t>
            </a:r>
          </a:p>
        </p:txBody>
      </p:sp>
      <p:sp>
        <p:nvSpPr>
          <p:cNvPr id="21" name="Rounded Rectangle 20"/>
          <p:cNvSpPr/>
          <p:nvPr/>
        </p:nvSpPr>
        <p:spPr>
          <a:xfrm>
            <a:off x="6446520" y="2057400"/>
            <a:ext cx="4846320" cy="82296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2112264"/>
            <a:ext cx="4572000" cy="713232"/>
          </a:xfrm>
          <a:prstGeom prst="rect">
            <a:avLst/>
          </a:prstGeom>
          <a:noFill/>
        </p:spPr>
        <p:txBody>
          <a:bodyPr wrap="square" lIns="0" tIns="0">
            <a:spAutoFit/>
          </a:bodyPr>
          <a:lstStyle/>
          <a:p>
            <a:pPr>
              <a:defRPr sz="850" b="1">
                <a:solidFill>
                  <a:srgbClr val="00D4FF"/>
                </a:solidFill>
                <a:latin typeface="Arial"/>
              </a:defRPr>
            </a:pPr>
            <a:r>
              <a:t>TIER 1: PRESENTATION &amp; USER EXPERIENCE (app.py)</a:t>
            </a:r>
          </a:p>
          <a:p>
            <a:pPr>
              <a:spcBef>
                <a:spcPts val="200"/>
              </a:spcBef>
              <a:defRPr sz="800">
                <a:solidFill>
                  <a:srgbClr val="8FA3BF"/>
                </a:solidFill>
                <a:latin typeface="Arial"/>
              </a:defRPr>
            </a:pPr>
            <a:r>
              <a:t>Streamlit dark-mode cybersecurity dashboard with drag-and-drop file ingestion, real-time byteplot viewer, and Top-K gauge meters.</a:t>
            </a:r>
          </a:p>
        </p:txBody>
      </p:sp>
      <p:sp>
        <p:nvSpPr>
          <p:cNvPr id="23" name="Rounded Rectangle 22"/>
          <p:cNvSpPr/>
          <p:nvPr/>
        </p:nvSpPr>
        <p:spPr>
          <a:xfrm>
            <a:off x="6446520" y="2990088"/>
            <a:ext cx="4846320" cy="822960"/>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044952"/>
            <a:ext cx="4572000" cy="713232"/>
          </a:xfrm>
          <a:prstGeom prst="rect">
            <a:avLst/>
          </a:prstGeom>
          <a:noFill/>
        </p:spPr>
        <p:txBody>
          <a:bodyPr wrap="square" lIns="0" tIns="0">
            <a:spAutoFit/>
          </a:bodyPr>
          <a:lstStyle/>
          <a:p>
            <a:pPr>
              <a:defRPr sz="850" b="1">
                <a:solidFill>
                  <a:srgbClr val="388BFD"/>
                </a:solidFill>
                <a:latin typeface="Arial"/>
              </a:defRPr>
            </a:pPr>
            <a:r>
              <a:t>TIER 2: AI INFERENCE &amp; EXPLAINABILITY (models/)</a:t>
            </a:r>
          </a:p>
          <a:p>
            <a:pPr>
              <a:spcBef>
                <a:spcPts val="200"/>
              </a:spcBef>
              <a:defRPr sz="800">
                <a:solidFill>
                  <a:srgbClr val="8FA3BF"/>
                </a:solidFill>
                <a:latin typeface="Arial"/>
              </a:defRPr>
            </a:pPr>
            <a:r>
              <a:t>PyTorch ResNet-18 engine with weight-surgeried Conv1 and backward-hook Grad-CAM thermal attention generator.</a:t>
            </a:r>
          </a:p>
        </p:txBody>
      </p:sp>
      <p:sp>
        <p:nvSpPr>
          <p:cNvPr id="25" name="Rounded Rectangle 24"/>
          <p:cNvSpPr/>
          <p:nvPr/>
        </p:nvSpPr>
        <p:spPr>
          <a:xfrm>
            <a:off x="6446520" y="3922776"/>
            <a:ext cx="4846320" cy="822960"/>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977640"/>
            <a:ext cx="4572000" cy="713232"/>
          </a:xfrm>
          <a:prstGeom prst="rect">
            <a:avLst/>
          </a:prstGeom>
          <a:noFill/>
        </p:spPr>
        <p:txBody>
          <a:bodyPr wrap="square" lIns="0" tIns="0">
            <a:spAutoFit/>
          </a:bodyPr>
          <a:lstStyle/>
          <a:p>
            <a:pPr>
              <a:defRPr sz="850" b="1">
                <a:solidFill>
                  <a:srgbClr val="A371F7"/>
                </a:solidFill>
                <a:latin typeface="Arial"/>
              </a:defRPr>
            </a:pPr>
            <a:r>
              <a:t>TIER 3: KNOWLEDGE &amp; MITRE INTELLIGENCE (malware_intel.py)</a:t>
            </a:r>
          </a:p>
          <a:p>
            <a:pPr>
              <a:spcBef>
                <a:spcPts val="200"/>
              </a:spcBef>
              <a:defRPr sz="800">
                <a:solidFill>
                  <a:srgbClr val="8FA3BF"/>
                </a:solidFill>
                <a:latin typeface="Arial"/>
              </a:defRPr>
            </a:pPr>
            <a:r>
              <a:t>Structured JSON threat intelligence engine providing automated impact analysis, severity grading, and remediation playbooks.</a:t>
            </a:r>
          </a:p>
        </p:txBody>
      </p:sp>
      <p:sp>
        <p:nvSpPr>
          <p:cNvPr id="27" name="Rounded Rectangle 26"/>
          <p:cNvSpPr/>
          <p:nvPr/>
        </p:nvSpPr>
        <p:spPr>
          <a:xfrm>
            <a:off x="6446520" y="4855464"/>
            <a:ext cx="4846320" cy="82296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910328"/>
            <a:ext cx="4572000" cy="713232"/>
          </a:xfrm>
          <a:prstGeom prst="rect">
            <a:avLst/>
          </a:prstGeom>
          <a:noFill/>
        </p:spPr>
        <p:txBody>
          <a:bodyPr wrap="square" lIns="0" tIns="0">
            <a:spAutoFit/>
          </a:bodyPr>
          <a:lstStyle/>
          <a:p>
            <a:pPr>
              <a:defRPr sz="850" b="1">
                <a:solidFill>
                  <a:srgbClr val="00E676"/>
                </a:solidFill>
                <a:latin typeface="Arial"/>
              </a:defRPr>
            </a:pPr>
            <a:r>
              <a:t>TIER 4: AUTOMATED WINDOWS DEPLOYMENT (start.bat)</a:t>
            </a:r>
          </a:p>
          <a:p>
            <a:pPr>
              <a:spcBef>
                <a:spcPts val="200"/>
              </a:spcBef>
              <a:defRPr sz="800">
                <a:solidFill>
                  <a:srgbClr val="8FA3BF"/>
                </a:solidFill>
                <a:latin typeface="Arial"/>
              </a:defRPr>
            </a:pPr>
            <a:r>
              <a:t>1-click launch script performing automatic Python environment verification, dependency resolution, and browser launching.</a:t>
            </a:r>
          </a:p>
        </p:txBody>
      </p:sp>
      <p:sp>
        <p:nvSpPr>
          <p:cNvPr id="29" name="Rounded Rectangle 28"/>
          <p:cNvSpPr/>
          <p:nvPr/>
        </p:nvSpPr>
        <p:spPr>
          <a:xfrm>
            <a:off x="6446520" y="5806440"/>
            <a:ext cx="4846320" cy="50292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6248" y="5861304"/>
            <a:ext cx="4626864" cy="393192"/>
          </a:xfrm>
          <a:prstGeom prst="rect">
            <a:avLst/>
          </a:prstGeom>
          <a:noFill/>
        </p:spPr>
        <p:txBody>
          <a:bodyPr wrap="square" lIns="0" tIns="0">
            <a:spAutoFit/>
          </a:bodyPr>
          <a:lstStyle/>
          <a:p>
            <a:pPr>
              <a:defRPr sz="950" b="1">
                <a:solidFill>
                  <a:srgbClr val="00D4FF"/>
                </a:solidFill>
                <a:latin typeface="Arial"/>
              </a:defRPr>
            </a:pPr>
            <a:r>
              <a:t>DEPLOYMENT READY</a:t>
            </a:r>
          </a:p>
          <a:p>
            <a:pPr>
              <a:defRPr sz="850">
                <a:solidFill>
                  <a:srgbClr val="8FA3BF"/>
                </a:solidFill>
                <a:latin typeface="Arial"/>
              </a:defRPr>
            </a:pPr>
            <a:r>
              <a:t>One command: .\start.bat launches the complete web dashboard in under 3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ACADEMIC &amp; TECHNICAL DEFENSE</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Core Novelty &amp; Defense Q&amp;A Cheat Sheet</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27048"/>
            <a:ext cx="1645920" cy="237744"/>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D4FF"/>
                </a:solidFill>
                <a:latin typeface="Arial"/>
              </a:defRPr>
            </a:pPr>
            <a:r>
              <a:t>RESEARCH NOVELTY</a:t>
            </a:r>
          </a:p>
        </p:txBody>
      </p:sp>
      <p:sp>
        <p:nvSpPr>
          <p:cNvPr id="7" name="TextBox 6"/>
          <p:cNvSpPr txBox="1"/>
          <p:nvPr/>
        </p:nvSpPr>
        <p:spPr>
          <a:xfrm>
            <a:off x="914400" y="1527048"/>
            <a:ext cx="4846320" cy="502920"/>
          </a:xfrm>
          <a:prstGeom prst="rect">
            <a:avLst/>
          </a:prstGeom>
          <a:noFill/>
        </p:spPr>
        <p:txBody>
          <a:bodyPr wrap="square" lIns="0" tIns="0">
            <a:spAutoFit/>
          </a:bodyPr>
          <a:lstStyle/>
          <a:p>
            <a:pPr>
              <a:defRPr sz="1250" b="1">
                <a:solidFill>
                  <a:srgbClr val="FFFFFF"/>
                </a:solidFill>
                <a:latin typeface="Arial"/>
              </a:defRPr>
            </a:pPr>
            <a:r>
              <a:t>The 5 Pillars of Scientific Novelty</a:t>
            </a:r>
          </a:p>
          <a:p>
            <a:pPr>
              <a:spcBef>
                <a:spcPts val="200"/>
              </a:spcBef>
              <a:defRPr sz="900">
                <a:solidFill>
                  <a:srgbClr val="8FA3BF"/>
                </a:solidFill>
                <a:latin typeface="Arial"/>
              </a:defRPr>
            </a:pPr>
            <a:r>
              <a:t>Distinct Contributions Beyond Prior Academic Literature</a:t>
            </a:r>
          </a:p>
        </p:txBody>
      </p:sp>
      <p:sp>
        <p:nvSpPr>
          <p:cNvPr id="8" name="Rounded Rectangle 7"/>
          <p:cNvSpPr/>
          <p:nvPr/>
        </p:nvSpPr>
        <p:spPr>
          <a:xfrm>
            <a:off x="914400" y="2057400"/>
            <a:ext cx="4846320" cy="658368"/>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12264"/>
            <a:ext cx="4572000" cy="548640"/>
          </a:xfrm>
          <a:prstGeom prst="rect">
            <a:avLst/>
          </a:prstGeom>
          <a:noFill/>
        </p:spPr>
        <p:txBody>
          <a:bodyPr wrap="square" lIns="0" tIns="0">
            <a:spAutoFit/>
          </a:bodyPr>
          <a:lstStyle/>
          <a:p>
            <a:pPr>
              <a:defRPr sz="800" b="1">
                <a:solidFill>
                  <a:srgbClr val="00D4FF"/>
                </a:solidFill>
                <a:latin typeface="Arial"/>
              </a:defRPr>
            </a:pPr>
            <a:r>
              <a:t>1. CROSS-DOMAIN COMPUTER VISION</a:t>
            </a:r>
          </a:p>
          <a:p>
            <a:pPr>
              <a:spcBef>
                <a:spcPts val="200"/>
              </a:spcBef>
              <a:defRPr sz="750">
                <a:solidFill>
                  <a:srgbClr val="8FA3BF"/>
                </a:solidFill>
                <a:latin typeface="Arial"/>
              </a:defRPr>
            </a:pPr>
            <a:r>
              <a:t>Treats binary analysis as spatial texture recognition, bypassing fragile code disassembly entirely.</a:t>
            </a:r>
          </a:p>
        </p:txBody>
      </p:sp>
      <p:sp>
        <p:nvSpPr>
          <p:cNvPr id="10" name="Rounded Rectangle 9"/>
          <p:cNvSpPr/>
          <p:nvPr/>
        </p:nvSpPr>
        <p:spPr>
          <a:xfrm>
            <a:off x="914400" y="2788920"/>
            <a:ext cx="4846320" cy="658368"/>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843784"/>
            <a:ext cx="4572000" cy="548640"/>
          </a:xfrm>
          <a:prstGeom prst="rect">
            <a:avLst/>
          </a:prstGeom>
          <a:noFill/>
        </p:spPr>
        <p:txBody>
          <a:bodyPr wrap="square" lIns="0" tIns="0">
            <a:spAutoFit/>
          </a:bodyPr>
          <a:lstStyle/>
          <a:p>
            <a:pPr>
              <a:defRPr sz="800" b="1">
                <a:solidFill>
                  <a:srgbClr val="00E676"/>
                </a:solidFill>
                <a:latin typeface="Arial"/>
              </a:defRPr>
            </a:pPr>
            <a:r>
              <a:t>2. ZERO-EXECUTION STATIC SAFETY</a:t>
            </a:r>
          </a:p>
          <a:p>
            <a:pPr>
              <a:spcBef>
                <a:spcPts val="200"/>
              </a:spcBef>
              <a:defRPr sz="750">
                <a:solidFill>
                  <a:srgbClr val="8FA3BF"/>
                </a:solidFill>
                <a:latin typeface="Arial"/>
              </a:defRPr>
            </a:pPr>
            <a:r>
              <a:t>100% static analysis immune to sandbox sleep loops, hypervisor checks, and hostile code leakage.</a:t>
            </a:r>
          </a:p>
        </p:txBody>
      </p:sp>
      <p:sp>
        <p:nvSpPr>
          <p:cNvPr id="12" name="Rounded Rectangle 11"/>
          <p:cNvSpPr/>
          <p:nvPr/>
        </p:nvSpPr>
        <p:spPr>
          <a:xfrm>
            <a:off x="914400" y="3520440"/>
            <a:ext cx="4846320" cy="658368"/>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575304"/>
            <a:ext cx="4572000" cy="548640"/>
          </a:xfrm>
          <a:prstGeom prst="rect">
            <a:avLst/>
          </a:prstGeom>
          <a:noFill/>
        </p:spPr>
        <p:txBody>
          <a:bodyPr wrap="square" lIns="0" tIns="0">
            <a:spAutoFit/>
          </a:bodyPr>
          <a:lstStyle/>
          <a:p>
            <a:pPr>
              <a:defRPr sz="800" b="1">
                <a:solidFill>
                  <a:srgbClr val="388BFD"/>
                </a:solidFill>
                <a:latin typeface="Arial"/>
              </a:defRPr>
            </a:pPr>
            <a:r>
              <a:t>3. GRAYSCALE TRANSFER LEARNING</a:t>
            </a:r>
          </a:p>
          <a:p>
            <a:pPr>
              <a:spcBef>
                <a:spcPts val="200"/>
              </a:spcBef>
              <a:defRPr sz="750">
                <a:solidFill>
                  <a:srgbClr val="8FA3BF"/>
                </a:solidFill>
                <a:latin typeface="Arial"/>
              </a:defRPr>
            </a:pPr>
            <a:r>
              <a:t>Mathematical weight surgery transfers ImageNet RGB filters to 1-channel grayscale in 3 epochs.</a:t>
            </a:r>
          </a:p>
        </p:txBody>
      </p:sp>
      <p:sp>
        <p:nvSpPr>
          <p:cNvPr id="14" name="Rounded Rectangle 13"/>
          <p:cNvSpPr/>
          <p:nvPr/>
        </p:nvSpPr>
        <p:spPr>
          <a:xfrm>
            <a:off x="914400" y="4251960"/>
            <a:ext cx="4846320" cy="658368"/>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306824"/>
            <a:ext cx="4572000" cy="548640"/>
          </a:xfrm>
          <a:prstGeom prst="rect">
            <a:avLst/>
          </a:prstGeom>
          <a:noFill/>
        </p:spPr>
        <p:txBody>
          <a:bodyPr wrap="square" lIns="0" tIns="0">
            <a:spAutoFit/>
          </a:bodyPr>
          <a:lstStyle/>
          <a:p>
            <a:pPr>
              <a:defRPr sz="800" b="1">
                <a:solidFill>
                  <a:srgbClr val="A371F7"/>
                </a:solidFill>
                <a:latin typeface="Arial"/>
              </a:defRPr>
            </a:pPr>
            <a:r>
              <a:t>4. AUDITABLE GRAD-CAM FORENSICS</a:t>
            </a:r>
          </a:p>
          <a:p>
            <a:pPr>
              <a:spcBef>
                <a:spcPts val="200"/>
              </a:spcBef>
              <a:defRPr sz="750">
                <a:solidFill>
                  <a:srgbClr val="8FA3BF"/>
                </a:solidFill>
                <a:latin typeface="Arial"/>
              </a:defRPr>
            </a:pPr>
            <a:r>
              <a:t>Hooks Layer 4 gradients to eliminate black-box skepticism with verifiable thermal attention heatmaps.</a:t>
            </a:r>
          </a:p>
        </p:txBody>
      </p:sp>
      <p:sp>
        <p:nvSpPr>
          <p:cNvPr id="16" name="Rounded Rectangle 15"/>
          <p:cNvSpPr/>
          <p:nvPr/>
        </p:nvSpPr>
        <p:spPr>
          <a:xfrm>
            <a:off x="914400" y="4983480"/>
            <a:ext cx="4846320" cy="658368"/>
          </a:xfrm>
          <a:prstGeom prst="roundRect">
            <a:avLst/>
          </a:prstGeom>
          <a:solidFill>
            <a:srgbClr val="09101A"/>
          </a:solidFill>
          <a:ln w="1270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038344"/>
            <a:ext cx="4572000" cy="548640"/>
          </a:xfrm>
          <a:prstGeom prst="rect">
            <a:avLst/>
          </a:prstGeom>
          <a:noFill/>
        </p:spPr>
        <p:txBody>
          <a:bodyPr wrap="square" lIns="0" tIns="0">
            <a:spAutoFit/>
          </a:bodyPr>
          <a:lstStyle/>
          <a:p>
            <a:pPr>
              <a:defRPr sz="800" b="1">
                <a:solidFill>
                  <a:srgbClr val="FF9100"/>
                </a:solidFill>
                <a:latin typeface="Arial"/>
              </a:defRPr>
            </a:pPr>
            <a:r>
              <a:t>5. DUAL CONFIDENCE-ENTROPY TRIAGE</a:t>
            </a:r>
          </a:p>
          <a:p>
            <a:pPr>
              <a:spcBef>
                <a:spcPts val="200"/>
              </a:spcBef>
              <a:defRPr sz="750">
                <a:solidFill>
                  <a:srgbClr val="8FA3BF"/>
                </a:solidFill>
                <a:latin typeface="Arial"/>
              </a:defRPr>
            </a:pPr>
            <a:r>
              <a:t>Shannon entropy gating solves the open-world dilemma, preventing false alarms on clean files.</a:t>
            </a:r>
          </a:p>
        </p:txBody>
      </p:sp>
      <p:sp>
        <p:nvSpPr>
          <p:cNvPr id="18" name="Rounded Rectangle 17"/>
          <p:cNvSpPr/>
          <p:nvPr/>
        </p:nvSpPr>
        <p:spPr>
          <a:xfrm>
            <a:off x="914400" y="5806440"/>
            <a:ext cx="4846320" cy="502920"/>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5861304"/>
            <a:ext cx="4626864" cy="393192"/>
          </a:xfrm>
          <a:prstGeom prst="rect">
            <a:avLst/>
          </a:prstGeom>
          <a:noFill/>
        </p:spPr>
        <p:txBody>
          <a:bodyPr wrap="square" lIns="0" tIns="0">
            <a:spAutoFit/>
          </a:bodyPr>
          <a:lstStyle/>
          <a:p>
            <a:pPr>
              <a:defRPr sz="950" b="1">
                <a:solidFill>
                  <a:srgbClr val="00E676"/>
                </a:solidFill>
                <a:latin typeface="Arial"/>
              </a:defRPr>
            </a:pPr>
            <a:r>
              <a:t>PEER REVIEW CONTRIBUTION</a:t>
            </a:r>
          </a:p>
          <a:p>
            <a:pPr>
              <a:defRPr sz="850">
                <a:solidFill>
                  <a:srgbClr val="8FA3BF"/>
                </a:solidFill>
                <a:latin typeface="Arial"/>
              </a:defRPr>
            </a:pPr>
            <a:r>
              <a:t>Bridges computer vision and threat hunting into an evasion-resilient, production-ready system.</a:t>
            </a:r>
          </a:p>
        </p:txBody>
      </p:sp>
      <p:sp>
        <p:nvSpPr>
          <p:cNvPr id="20" name="Rounded Rectangle 19"/>
          <p:cNvSpPr/>
          <p:nvPr/>
        </p:nvSpPr>
        <p:spPr>
          <a:xfrm>
            <a:off x="6248095" y="1417320"/>
            <a:ext cx="5212080" cy="498348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31375" y="152704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VIVA CHEAT SHEET</a:t>
            </a:r>
          </a:p>
        </p:txBody>
      </p:sp>
      <p:sp>
        <p:nvSpPr>
          <p:cNvPr id="22" name="TextBox 21"/>
          <p:cNvSpPr txBox="1"/>
          <p:nvPr/>
        </p:nvSpPr>
        <p:spPr>
          <a:xfrm>
            <a:off x="6430975" y="1527048"/>
            <a:ext cx="4846320" cy="502920"/>
          </a:xfrm>
          <a:prstGeom prst="rect">
            <a:avLst/>
          </a:prstGeom>
          <a:noFill/>
        </p:spPr>
        <p:txBody>
          <a:bodyPr wrap="square" lIns="0" tIns="0">
            <a:spAutoFit/>
          </a:bodyPr>
          <a:lstStyle/>
          <a:p>
            <a:pPr>
              <a:defRPr sz="1250" b="1">
                <a:solidFill>
                  <a:srgbClr val="FFFFFF"/>
                </a:solidFill>
                <a:latin typeface="Arial"/>
              </a:defRPr>
            </a:pPr>
            <a:r>
              <a:t>Top Examiner Viva Questions &amp; Answers</a:t>
            </a:r>
          </a:p>
          <a:p>
            <a:pPr>
              <a:spcBef>
                <a:spcPts val="200"/>
              </a:spcBef>
              <a:defRPr sz="900">
                <a:solidFill>
                  <a:srgbClr val="8FA3BF"/>
                </a:solidFill>
                <a:latin typeface="Arial"/>
              </a:defRPr>
            </a:pPr>
            <a:r>
              <a:t>Prepared Defense Answers for Technical Evaluation Committees</a:t>
            </a:r>
          </a:p>
        </p:txBody>
      </p:sp>
      <p:sp>
        <p:nvSpPr>
          <p:cNvPr id="23" name="Rounded Rectangle 22"/>
          <p:cNvSpPr/>
          <p:nvPr/>
        </p:nvSpPr>
        <p:spPr>
          <a:xfrm>
            <a:off x="6446520" y="2057400"/>
            <a:ext cx="4846320" cy="1115568"/>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2130552"/>
            <a:ext cx="4572000" cy="969264"/>
          </a:xfrm>
          <a:prstGeom prst="rect">
            <a:avLst/>
          </a:prstGeom>
          <a:noFill/>
        </p:spPr>
        <p:txBody>
          <a:bodyPr wrap="square" lIns="0" tIns="0">
            <a:spAutoFit/>
          </a:bodyPr>
          <a:lstStyle/>
          <a:p>
            <a:pPr>
              <a:defRPr sz="850" b="1">
                <a:solidFill>
                  <a:srgbClr val="00D4FF"/>
                </a:solidFill>
                <a:latin typeface="Arial"/>
              </a:defRPr>
            </a:pPr>
            <a:r>
              <a:t>Q: CAN MALWARE EVADE BY ALTERING VARIABLE NAMES?</a:t>
            </a:r>
          </a:p>
          <a:p>
            <a:pPr>
              <a:spcBef>
                <a:spcPts val="300"/>
              </a:spcBef>
              <a:defRPr sz="800">
                <a:solidFill>
                  <a:srgbClr val="8FA3BF"/>
                </a:solidFill>
                <a:latin typeface="Arial"/>
              </a:defRPr>
            </a:pPr>
            <a:r>
              <a:t>A: Changing variable names or opcodes only alters local micro-textures. The macro-level PE section blueprint (.text, .rdata, payload ratios) remains structurally consistent across the family.</a:t>
            </a:r>
          </a:p>
        </p:txBody>
      </p:sp>
      <p:sp>
        <p:nvSpPr>
          <p:cNvPr id="25" name="Rounded Rectangle 24"/>
          <p:cNvSpPr/>
          <p:nvPr/>
        </p:nvSpPr>
        <p:spPr>
          <a:xfrm>
            <a:off x="6446520" y="3282696"/>
            <a:ext cx="4846320" cy="1115568"/>
          </a:xfrm>
          <a:prstGeom prst="roundRect">
            <a:avLst/>
          </a:prstGeom>
          <a:solidFill>
            <a:srgbClr val="09101A"/>
          </a:solidFill>
          <a:ln w="1270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355848"/>
            <a:ext cx="4572000" cy="969264"/>
          </a:xfrm>
          <a:prstGeom prst="rect">
            <a:avLst/>
          </a:prstGeom>
          <a:noFill/>
        </p:spPr>
        <p:txBody>
          <a:bodyPr wrap="square" lIns="0" tIns="0">
            <a:spAutoFit/>
          </a:bodyPr>
          <a:lstStyle/>
          <a:p>
            <a:pPr>
              <a:defRPr sz="850" b="1">
                <a:solidFill>
                  <a:srgbClr val="388BFD"/>
                </a:solidFill>
                <a:latin typeface="Arial"/>
              </a:defRPr>
            </a:pPr>
            <a:r>
              <a:t>Q: WHY USE RESNET-18 OVER DEEPER NETWORKS (RESNET-50/VGG)?</a:t>
            </a:r>
          </a:p>
          <a:p>
            <a:pPr>
              <a:spcBef>
                <a:spcPts val="300"/>
              </a:spcBef>
              <a:defRPr sz="800">
                <a:solidFill>
                  <a:srgbClr val="8FA3BF"/>
                </a:solidFill>
                <a:latin typeface="Arial"/>
              </a:defRPr>
            </a:pPr>
            <a:r>
              <a:t>A: ResNet-18 offers optimal parameter efficiency (11.2M params). Deeper networks overfit on 2D byteplots and add unnecessary inference latency on commodity hardware.</a:t>
            </a:r>
          </a:p>
        </p:txBody>
      </p:sp>
      <p:sp>
        <p:nvSpPr>
          <p:cNvPr id="27" name="Rounded Rectangle 26"/>
          <p:cNvSpPr/>
          <p:nvPr/>
        </p:nvSpPr>
        <p:spPr>
          <a:xfrm>
            <a:off x="6446520" y="4507992"/>
            <a:ext cx="4846320" cy="1115568"/>
          </a:xfrm>
          <a:prstGeom prst="roundRect">
            <a:avLst/>
          </a:prstGeom>
          <a:solidFill>
            <a:srgbClr val="09101A"/>
          </a:solidFill>
          <a:ln w="1270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581144"/>
            <a:ext cx="4572000" cy="969264"/>
          </a:xfrm>
          <a:prstGeom prst="rect">
            <a:avLst/>
          </a:prstGeom>
          <a:noFill/>
        </p:spPr>
        <p:txBody>
          <a:bodyPr wrap="square" lIns="0" tIns="0">
            <a:spAutoFit/>
          </a:bodyPr>
          <a:lstStyle/>
          <a:p>
            <a:pPr>
              <a:defRPr sz="850" b="1">
                <a:solidFill>
                  <a:srgbClr val="A371F7"/>
                </a:solidFill>
                <a:latin typeface="Arial"/>
              </a:defRPr>
            </a:pPr>
            <a:r>
              <a:t>Q: HOW ARE CLEAN FILES PREVENTED FROM FALSE FLAGGING?</a:t>
            </a:r>
          </a:p>
          <a:p>
            <a:pPr>
              <a:spcBef>
                <a:spcPts val="300"/>
              </a:spcBef>
              <a:defRPr sz="800">
                <a:solidFill>
                  <a:srgbClr val="8FA3BF"/>
                </a:solidFill>
                <a:latin typeface="Arial"/>
              </a:defRPr>
            </a:pPr>
            <a:r>
              <a:t>A: Clean files lack specific malware family textures, scattering probability mass across classes. Shannon entropy thresholding (H &gt; 1.80) safely categorizes them as INCONCLUSIVE/BENIGN.</a:t>
            </a:r>
          </a:p>
        </p:txBody>
      </p:sp>
      <p:sp>
        <p:nvSpPr>
          <p:cNvPr id="29" name="Rounded Rectangle 28"/>
          <p:cNvSpPr/>
          <p:nvPr/>
        </p:nvSpPr>
        <p:spPr>
          <a:xfrm>
            <a:off x="6446520" y="5806440"/>
            <a:ext cx="4846320" cy="502920"/>
          </a:xfrm>
          <a:prstGeom prst="roundRect">
            <a:avLst/>
          </a:prstGeom>
          <a:solidFill>
            <a:srgbClr val="09101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6248" y="5861304"/>
            <a:ext cx="4626864" cy="393192"/>
          </a:xfrm>
          <a:prstGeom prst="rect">
            <a:avLst/>
          </a:prstGeom>
          <a:noFill/>
        </p:spPr>
        <p:txBody>
          <a:bodyPr wrap="square" lIns="0" tIns="0">
            <a:spAutoFit/>
          </a:bodyPr>
          <a:lstStyle/>
          <a:p>
            <a:pPr>
              <a:defRPr sz="950" b="1">
                <a:solidFill>
                  <a:srgbClr val="00D4FF"/>
                </a:solidFill>
                <a:latin typeface="Arial"/>
              </a:defRPr>
            </a:pPr>
            <a:r>
              <a:t>EXAMINER DEFENSE READY</a:t>
            </a:r>
          </a:p>
          <a:p>
            <a:pPr>
              <a:defRPr sz="850">
                <a:solidFill>
                  <a:srgbClr val="8FA3BF"/>
                </a:solidFill>
                <a:latin typeface="Arial"/>
              </a:defRPr>
            </a:pPr>
            <a:r>
              <a:t>Grounded in empirical benchmarks, mathematical formulations, and rigorous evaluation.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a:spAutoFit/>
          </a:bodyPr>
          <a:lstStyle/>
          <a:p>
            <a:pPr>
              <a:defRPr sz="950" b="1">
                <a:solidFill>
                  <a:srgbClr val="00D4FF"/>
                </a:solidFill>
                <a:latin typeface="Arial"/>
              </a:defRPr>
            </a:pPr>
            <a:r>
              <a:t>SUMMARY &amp; SYSTEM LAUNCH</a:t>
            </a:r>
          </a:p>
        </p:txBody>
      </p:sp>
      <p:sp>
        <p:nvSpPr>
          <p:cNvPr id="3" name="TextBox 2"/>
          <p:cNvSpPr txBox="1"/>
          <p:nvPr/>
        </p:nvSpPr>
        <p:spPr>
          <a:xfrm>
            <a:off x="731520" y="594360"/>
            <a:ext cx="10728655" cy="502920"/>
          </a:xfrm>
          <a:prstGeom prst="rect">
            <a:avLst/>
          </a:prstGeom>
          <a:noFill/>
        </p:spPr>
        <p:txBody>
          <a:bodyPr wrap="square" lIns="0" tIns="0">
            <a:spAutoFit/>
          </a:bodyPr>
          <a:lstStyle/>
          <a:p>
            <a:pPr>
              <a:defRPr sz="2100" b="1">
                <a:solidFill>
                  <a:srgbClr val="FFFFFF"/>
                </a:solidFill>
                <a:latin typeface="Arial"/>
              </a:defRPr>
            </a:pPr>
            <a:r>
              <a:t>Conclusion &amp; Interactive Demonstration</a:t>
            </a:r>
          </a:p>
        </p:txBody>
      </p:sp>
      <p:sp>
        <p:nvSpPr>
          <p:cNvPr id="4" name="Rectangle 3"/>
          <p:cNvSpPr/>
          <p:nvPr/>
        </p:nvSpPr>
        <p:spPr>
          <a:xfrm>
            <a:off x="731520" y="114300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10728655" cy="4983480"/>
          </a:xfrm>
          <a:prstGeom prst="roundRect">
            <a:avLst/>
          </a:prstGeom>
          <a:solidFill>
            <a:srgbClr val="0E1726"/>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1527048"/>
            <a:ext cx="1645920" cy="237744"/>
          </a:xfrm>
          <a:prstGeom prst="roundRect">
            <a:avLst/>
          </a:prstGeom>
          <a:solidFill>
            <a:srgbClr val="09101A"/>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defRPr sz="850" b="1">
                <a:solidFill>
                  <a:srgbClr val="00E676"/>
                </a:solidFill>
                <a:latin typeface="Arial"/>
              </a:defRPr>
            </a:pPr>
            <a:r>
              <a:t>READY FOR DEFENSE</a:t>
            </a:r>
          </a:p>
        </p:txBody>
      </p:sp>
      <p:sp>
        <p:nvSpPr>
          <p:cNvPr id="7" name="TextBox 6"/>
          <p:cNvSpPr txBox="1"/>
          <p:nvPr/>
        </p:nvSpPr>
        <p:spPr>
          <a:xfrm>
            <a:off x="914400" y="1527048"/>
            <a:ext cx="10362895" cy="502920"/>
          </a:xfrm>
          <a:prstGeom prst="rect">
            <a:avLst/>
          </a:prstGeom>
          <a:noFill/>
        </p:spPr>
        <p:txBody>
          <a:bodyPr wrap="square" lIns="0" tIns="0">
            <a:spAutoFit/>
          </a:bodyPr>
          <a:lstStyle/>
          <a:p>
            <a:pPr>
              <a:defRPr sz="1250" b="1">
                <a:solidFill>
                  <a:srgbClr val="FFFFFF"/>
                </a:solidFill>
                <a:latin typeface="Arial"/>
              </a:defRPr>
            </a:pPr>
            <a:r>
              <a:t>MALVISION PROJECT SUMMARY &amp; STRATEGIC IMPACT</a:t>
            </a:r>
          </a:p>
          <a:p>
            <a:pPr>
              <a:spcBef>
                <a:spcPts val="200"/>
              </a:spcBef>
              <a:defRPr sz="900">
                <a:solidFill>
                  <a:srgbClr val="8FA3BF"/>
                </a:solidFill>
                <a:latin typeface="Arial"/>
              </a:defRPr>
            </a:pPr>
            <a:r>
              <a:t>A Validated, Production-Grade Paradigm for Zero-Execution Threat Hunting</a:t>
            </a:r>
          </a:p>
        </p:txBody>
      </p:sp>
      <p:sp>
        <p:nvSpPr>
          <p:cNvPr id="8" name="Rounded Rectangle 7"/>
          <p:cNvSpPr/>
          <p:nvPr/>
        </p:nvSpPr>
        <p:spPr>
          <a:xfrm>
            <a:off x="1005840" y="2148840"/>
            <a:ext cx="2423160" cy="137160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40280"/>
            <a:ext cx="2240280" cy="1188720"/>
          </a:xfrm>
          <a:prstGeom prst="rect">
            <a:avLst/>
          </a:prstGeom>
          <a:noFill/>
        </p:spPr>
        <p:txBody>
          <a:bodyPr wrap="square" lIns="0" tIns="0">
            <a:spAutoFit/>
          </a:bodyPr>
          <a:lstStyle/>
          <a:p>
            <a:pPr>
              <a:defRPr sz="1400" b="1">
                <a:solidFill>
                  <a:srgbClr val="00E676"/>
                </a:solidFill>
                <a:latin typeface="Arial"/>
              </a:defRPr>
            </a:pPr>
            <a:r>
              <a:t>97.86% ACCURACY</a:t>
            </a:r>
          </a:p>
          <a:p>
            <a:pPr>
              <a:spcBef>
                <a:spcPts val="200"/>
              </a:spcBef>
              <a:defRPr sz="900" b="1">
                <a:solidFill>
                  <a:srgbClr val="FFFFFF"/>
                </a:solidFill>
                <a:latin typeface="Arial"/>
              </a:defRPr>
            </a:pPr>
            <a:r>
              <a:t>1,401 Unseen Samples</a:t>
            </a:r>
          </a:p>
          <a:p>
            <a:pPr>
              <a:spcBef>
                <a:spcPts val="400"/>
              </a:spcBef>
              <a:defRPr sz="800">
                <a:solidFill>
                  <a:srgbClr val="8FA3BF"/>
                </a:solidFill>
                <a:latin typeface="Arial"/>
              </a:defRPr>
            </a:pPr>
            <a:r>
              <a:t>Validated on Malimg across 26 families with 0.0574 validation loss.</a:t>
            </a:r>
          </a:p>
        </p:txBody>
      </p:sp>
      <p:sp>
        <p:nvSpPr>
          <p:cNvPr id="10" name="Rounded Rectangle 9"/>
          <p:cNvSpPr/>
          <p:nvPr/>
        </p:nvSpPr>
        <p:spPr>
          <a:xfrm>
            <a:off x="3703320" y="2148840"/>
            <a:ext cx="2423160" cy="1371600"/>
          </a:xfrm>
          <a:prstGeom prst="roundRect">
            <a:avLst/>
          </a:prstGeom>
          <a:solidFill>
            <a:srgbClr val="09101A"/>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2240280"/>
            <a:ext cx="2240280" cy="1188720"/>
          </a:xfrm>
          <a:prstGeom prst="rect">
            <a:avLst/>
          </a:prstGeom>
          <a:noFill/>
        </p:spPr>
        <p:txBody>
          <a:bodyPr wrap="square" lIns="0" tIns="0">
            <a:spAutoFit/>
          </a:bodyPr>
          <a:lstStyle/>
          <a:p>
            <a:pPr>
              <a:defRPr sz="1400" b="1">
                <a:solidFill>
                  <a:srgbClr val="00D4FF"/>
                </a:solidFill>
                <a:latin typeface="Arial"/>
              </a:defRPr>
            </a:pPr>
            <a:r>
              <a:t>34.8ms SCAN TIME</a:t>
            </a:r>
          </a:p>
          <a:p>
            <a:pPr>
              <a:spcBef>
                <a:spcPts val="200"/>
              </a:spcBef>
              <a:defRPr sz="900" b="1">
                <a:solidFill>
                  <a:srgbClr val="FFFFFF"/>
                </a:solidFill>
                <a:latin typeface="Arial"/>
              </a:defRPr>
            </a:pPr>
            <a:r>
              <a:t>Real-Time CPU Speed</a:t>
            </a:r>
          </a:p>
          <a:p>
            <a:pPr>
              <a:spcBef>
                <a:spcPts val="400"/>
              </a:spcBef>
              <a:defRPr sz="800">
                <a:solidFill>
                  <a:srgbClr val="8FA3BF"/>
                </a:solidFill>
                <a:latin typeface="Arial"/>
              </a:defRPr>
            </a:pPr>
            <a:r>
              <a:t>Instantaneous gateway scanning without expensive GPU clusters.</a:t>
            </a:r>
          </a:p>
        </p:txBody>
      </p:sp>
      <p:sp>
        <p:nvSpPr>
          <p:cNvPr id="12" name="Rounded Rectangle 11"/>
          <p:cNvSpPr/>
          <p:nvPr/>
        </p:nvSpPr>
        <p:spPr>
          <a:xfrm>
            <a:off x="6400800" y="2148840"/>
            <a:ext cx="2423160" cy="1371600"/>
          </a:xfrm>
          <a:prstGeom prst="roundRect">
            <a:avLst/>
          </a:prstGeom>
          <a:solidFill>
            <a:srgbClr val="09101A"/>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240280"/>
            <a:ext cx="2240280" cy="1188720"/>
          </a:xfrm>
          <a:prstGeom prst="rect">
            <a:avLst/>
          </a:prstGeom>
          <a:noFill/>
        </p:spPr>
        <p:txBody>
          <a:bodyPr wrap="square" lIns="0" tIns="0">
            <a:spAutoFit/>
          </a:bodyPr>
          <a:lstStyle/>
          <a:p>
            <a:pPr>
              <a:defRPr sz="1400" b="1">
                <a:solidFill>
                  <a:srgbClr val="388BFD"/>
                </a:solidFill>
                <a:latin typeface="Arial"/>
              </a:defRPr>
            </a:pPr>
            <a:r>
              <a:t>100% HOST SAFE</a:t>
            </a:r>
          </a:p>
          <a:p>
            <a:pPr>
              <a:spcBef>
                <a:spcPts val="200"/>
              </a:spcBef>
              <a:defRPr sz="900" b="1">
                <a:solidFill>
                  <a:srgbClr val="FFFFFF"/>
                </a:solidFill>
                <a:latin typeface="Arial"/>
              </a:defRPr>
            </a:pPr>
            <a:r>
              <a:t>Zero Execution Risk</a:t>
            </a:r>
          </a:p>
          <a:p>
            <a:pPr>
              <a:spcBef>
                <a:spcPts val="400"/>
              </a:spcBef>
              <a:defRPr sz="800">
                <a:solidFill>
                  <a:srgbClr val="8FA3BF"/>
                </a:solidFill>
                <a:latin typeface="Arial"/>
              </a:defRPr>
            </a:pPr>
            <a:r>
              <a:t>Immune to sandbox escape, anti-VM sleep tricks, and payload detonation.</a:t>
            </a:r>
          </a:p>
        </p:txBody>
      </p:sp>
      <p:sp>
        <p:nvSpPr>
          <p:cNvPr id="14" name="Rounded Rectangle 13"/>
          <p:cNvSpPr/>
          <p:nvPr/>
        </p:nvSpPr>
        <p:spPr>
          <a:xfrm>
            <a:off x="9098280" y="2148840"/>
            <a:ext cx="2423160" cy="1371600"/>
          </a:xfrm>
          <a:prstGeom prst="roundRect">
            <a:avLst/>
          </a:prstGeom>
          <a:solidFill>
            <a:srgbClr val="09101A"/>
          </a:solidFill>
          <a:ln w="15240">
            <a:solidFill>
              <a:srgbClr val="A37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2240280"/>
            <a:ext cx="2240280" cy="1188720"/>
          </a:xfrm>
          <a:prstGeom prst="rect">
            <a:avLst/>
          </a:prstGeom>
          <a:noFill/>
        </p:spPr>
        <p:txBody>
          <a:bodyPr wrap="square" lIns="0" tIns="0">
            <a:spAutoFit/>
          </a:bodyPr>
          <a:lstStyle/>
          <a:p>
            <a:pPr>
              <a:defRPr sz="1400" b="1">
                <a:solidFill>
                  <a:srgbClr val="A371F7"/>
                </a:solidFill>
                <a:latin typeface="Arial"/>
              </a:defRPr>
            </a:pPr>
            <a:r>
              <a:t>AUDITABLE AI</a:t>
            </a:r>
          </a:p>
          <a:p>
            <a:pPr>
              <a:spcBef>
                <a:spcPts val="200"/>
              </a:spcBef>
              <a:defRPr sz="900" b="1">
                <a:solidFill>
                  <a:srgbClr val="FFFFFF"/>
                </a:solidFill>
                <a:latin typeface="Arial"/>
              </a:defRPr>
            </a:pPr>
            <a:r>
              <a:t>Layer 4 Grad-CAM</a:t>
            </a:r>
          </a:p>
          <a:p>
            <a:pPr>
              <a:spcBef>
                <a:spcPts val="400"/>
              </a:spcBef>
              <a:defRPr sz="800">
                <a:solidFill>
                  <a:srgbClr val="8FA3BF"/>
                </a:solidFill>
                <a:latin typeface="Arial"/>
              </a:defRPr>
            </a:pPr>
            <a:r>
              <a:t>Causal thermal heatmaps prove decisions to human incident responders.</a:t>
            </a:r>
          </a:p>
        </p:txBody>
      </p:sp>
      <p:sp>
        <p:nvSpPr>
          <p:cNvPr id="16" name="Rounded Rectangle 15"/>
          <p:cNvSpPr/>
          <p:nvPr/>
        </p:nvSpPr>
        <p:spPr>
          <a:xfrm>
            <a:off x="1005840" y="3749039"/>
            <a:ext cx="10180015" cy="1828800"/>
          </a:xfrm>
          <a:prstGeom prst="roundRect">
            <a:avLst/>
          </a:prstGeom>
          <a:solidFill>
            <a:srgbClr val="09101A"/>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840480"/>
            <a:ext cx="9784080" cy="1645920"/>
          </a:xfrm>
          <a:prstGeom prst="rect">
            <a:avLst/>
          </a:prstGeom>
          <a:noFill/>
        </p:spPr>
        <p:txBody>
          <a:bodyPr wrap="square" lIns="0" tIns="0">
            <a:spAutoFit/>
          </a:bodyPr>
          <a:lstStyle/>
          <a:p>
            <a:pPr>
              <a:defRPr sz="1200" b="1">
                <a:solidFill>
                  <a:srgbClr val="00E676"/>
                </a:solidFill>
                <a:latin typeface="Arial"/>
              </a:defRPr>
            </a:pPr>
            <a:r>
              <a:t>READY FOR LIVE INTERACTIVE DEMONSTRATION</a:t>
            </a:r>
          </a:p>
          <a:p>
            <a:pPr>
              <a:spcBef>
                <a:spcPts val="600"/>
              </a:spcBef>
              <a:defRPr sz="1000" b="1">
                <a:solidFill>
                  <a:srgbClr val="00D4FF"/>
                </a:solidFill>
                <a:latin typeface="Courier New"/>
              </a:defRPr>
            </a:pPr>
            <a:r>
              <a:t>Windows PowerShell Execution:  .\start.bat    |    Terminal Command:  python -m streamlit run app.py</a:t>
            </a:r>
          </a:p>
          <a:p>
            <a:pPr>
              <a:spcBef>
                <a:spcPts val="600"/>
              </a:spcBef>
              <a:defRPr sz="950">
                <a:solidFill>
                  <a:srgbClr val="FFFFFF"/>
                </a:solidFill>
                <a:latin typeface="Arial"/>
              </a:defRPr>
            </a:pPr>
            <a:r>
              <a:t>Open-Source Codebase: https://github.com/ManasPatel126/MalVision  •  MIT License  •  Full Documentation Included</a:t>
            </a:r>
          </a:p>
          <a:p>
            <a:pPr>
              <a:spcBef>
                <a:spcPts val="600"/>
              </a:spcBef>
              <a:defRPr sz="950" b="1">
                <a:solidFill>
                  <a:srgbClr val="8FA3BF"/>
                </a:solidFill>
                <a:latin typeface="Arial"/>
              </a:defRPr>
            </a:pPr>
            <a:r>
              <a:t>Thank you for your consideration. The floor is now open for questions, technical discussion, and live system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