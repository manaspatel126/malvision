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MalVision, an AI-powered malware classification and threat hunting platform. Traditional antivirus tools struggle because modern malware alters its code to bypass signature checks and sandbox environments. We solve this by converting raw executable files into 2D grayscale textures and classifying them using a fine-tuned ResNet-18 vision model. It classifies files across 26 malware families with 97.86% accuracy, requires zero execution of suspicious code, and provides Grad-CAM heatmaps so analysts can visually verify why a detection was made.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Over 450,000 new malware samples appear daily. Traditional signature matching fails because polymorphic packers change hashes daily. Dynamic sandboxing takes 3 to 10 minutes per file and is vulnerable to sleep loops and anti-VM tricks. Disassembly is fragile and fails when code is packed. We need an evasion-proof, zero-execution approach that runs in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analogy: This is the easiest way to explain the project to any evaluator or audience. Just like airport security uses an X-ray scanner to view the shape of an object without opening or detonating it, MalVision takes a visual X-ray of an executable file without ever running the code. The neural network learns the distinctive visual blueprints of malware families.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technical conversion: Every byte is an 8-bit number between 0 and 255. A grayscale pixel also has brightness 0 to 255. So we take the bytes and arrange them in a 2D grid. The width is picked using Nataraj's lookup table so small files don't collapse and large files don't stretch. Notice on the right how different malware families look visually distinct to the human eye—and to a deep convolutional network.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pipeline: Stage 1 ingests the binary safely without execution. Stage 2 reshapes the 1D byte stream into a 2D grayscale image. Stage 3 resizes it to standard 224x224 dimensions and normalizes pixel values. Stage 4 runs it through our adapted ResNet-18 model. Stage 5 outputs the 26 family probabilities and triggers automated threat level triage. Stage 6 generates a Grad-CAM heatmap to prove why the decision was made.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model architecture: We used ResNet-18 because of residual skip connections that prevent vanishing gradients. To use transfer learning, we performed mathematical weight surgery on conv1 by averaging the 3 RGB channels into 1 grayscale channel. Early layers learn edges, middle layers learn micro-textures like string tables, and Layer 4 learns the complete malware family blueprint.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results: On 1,401 unseen test samples, the model achieved 97.86% test accuracy. 18 out of 26 families had a perfect 1.00 F1 score. Look at the training curves: validation loss hit 0.0574 at epoch 3 with no overfitting. The confusion matrix shows a sharp, bright diagonal, proving the model reliably distinguishes between all 26 families.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Grad-CAM: Security analysts cannot trust a black box. With Grad-CAM, we trace the gradients back to Layer 4 to generate a thermal heatmap. The red regions show exactly where the model looked. Notice that it focuses on the active payload and unpacking stubs, proving that the model is making decisions based on genuine malware features rather than noise.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 the clean file question: In traditional academic ML models, if you feed in cmd.exe or calc.exe, the model is forced to pick one of the 26 malware families. We solved this using confidence and Shannon entropy thresholding. When clean files are uploaded, the probabilities scatter thinly under 60%, triggering an INCONCLUSIVE/BENIGN badge. This prevents false positives on clean system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Showcase the application: Instead of just returning a number, MalVision pairs every detection with a complete threat dossier—what it does, how it spreads, and how to remove it. Our Streamlit dashboard supports drag-and-drop file ingestion, batch scanning, and on-click byteplot inspection, launchable with a single click via start.bat.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novelty: When examiners ask what is novel: (1) we treat malware as visual textures rather than running code, (2) we adapt transfer learning to grayscale, (3) we solve the black-box problem with Grad-CAM, and (4) we handle clean files like cmd.exe through entropy triaging.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In summary, MalVision proves that computer vision and deep learning can replace slow, risky malware sandboxes with instant, explainable texture classification. All code, models, and papers are open-sourced on GitHub. I would now like to invite the committee to the live interactive demonstration.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Rounded Rectangle 1"/>
          <p:cNvSpPr/>
          <p:nvPr/>
        </p:nvSpPr>
        <p:spPr>
          <a:xfrm>
            <a:off x="731520" y="914400"/>
            <a:ext cx="5303520" cy="5029200"/>
          </a:xfrm>
          <a:prstGeom prst="roundRect">
            <a:avLst/>
          </a:prstGeom>
          <a:solidFill>
            <a:srgbClr val="0E1726"/>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188720"/>
            <a:ext cx="4754880" cy="4389120"/>
          </a:xfrm>
          <a:prstGeom prst="rect">
            <a:avLst/>
          </a:prstGeom>
          <a:noFill/>
        </p:spPr>
        <p:txBody>
          <a:bodyPr wrap="square">
            <a:spAutoFit/>
          </a:bodyPr>
          <a:lstStyle/>
          <a:p>
            <a:pPr>
              <a:spcAft>
                <a:spcPts val="1200"/>
              </a:spcAft>
              <a:defRPr sz="1000" b="1">
                <a:solidFill>
                  <a:srgbClr val="00D4FF"/>
                </a:solidFill>
                <a:latin typeface="Arial"/>
              </a:defRPr>
            </a:pPr>
            <a:r>
              <a:t>CYBERSECURITY &amp; DEEP LEARNING PROJECT</a:t>
            </a:r>
          </a:p>
          <a:p>
            <a:pPr>
              <a:spcAft>
                <a:spcPts val="600"/>
              </a:spcAft>
              <a:defRPr sz="3600" b="1">
                <a:solidFill>
                  <a:srgbClr val="FFFFFF"/>
                </a:solidFill>
                <a:latin typeface="Arial"/>
              </a:defRPr>
            </a:pPr>
            <a:r>
              <a:t>MALVISION</a:t>
            </a:r>
          </a:p>
          <a:p>
            <a:pPr>
              <a:spcAft>
                <a:spcPts val="1800"/>
              </a:spcAft>
              <a:defRPr sz="1500" b="1">
                <a:solidFill>
                  <a:srgbClr val="388BFD"/>
                </a:solidFill>
                <a:latin typeface="Arial"/>
              </a:defRPr>
            </a:pPr>
            <a:r>
              <a:t>Image-Based Malware Classification &amp; Explainable Threat Hunting</a:t>
            </a:r>
          </a:p>
          <a:p>
            <a:pPr>
              <a:spcAft>
                <a:spcPts val="2400"/>
              </a:spcAft>
              <a:defRPr sz="1100">
                <a:solidFill>
                  <a:srgbClr val="8FA3BF"/>
                </a:solidFill>
                <a:latin typeface="Arial"/>
              </a:defRPr>
            </a:pPr>
            <a:r>
              <a:t>Transmuting raw unexecuted binary software into 2D spatial grayscale textures to identify 26 malware families with 97.86% accuracy using ResNet-18 and Grad-CAM explainability.</a:t>
            </a:r>
          </a:p>
          <a:p>
            <a:pPr>
              <a:defRPr sz="1000">
                <a:solidFill>
                  <a:srgbClr val="00E676"/>
                </a:solidFill>
                <a:latin typeface="Arial"/>
              </a:defRPr>
            </a:pPr>
            <a:r>
              <a:t>Author: Manas Kumar  •  Academic &amp; Technical Defense  •  2026</a:t>
            </a:r>
          </a:p>
        </p:txBody>
      </p:sp>
      <p:pic>
        <p:nvPicPr>
          <p:cNvPr id="4" name="Picture 3" descr="malvision_concept_art.jpg"/>
          <p:cNvPicPr>
            <a:picLocks noChangeAspect="1"/>
          </p:cNvPicPr>
          <p:nvPr/>
        </p:nvPicPr>
        <p:blipFill>
          <a:blip r:embed="rId2"/>
          <a:stretch>
            <a:fillRect/>
          </a:stretch>
        </p:blipFill>
        <p:spPr>
          <a:xfrm>
            <a:off x="6309360" y="914400"/>
            <a:ext cx="5150815" cy="5029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THREAT LANDSCAPE &amp; MOTIVATION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The Core Problem: Why Modern Antivirus Fails</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383280" cy="4663440"/>
          </a:xfrm>
          <a:prstGeom prst="roundRect">
            <a:avLst/>
          </a:prstGeom>
          <a:solidFill>
            <a:srgbClr val="0E1726"/>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3108960" cy="457200"/>
          </a:xfrm>
          <a:prstGeom prst="rect">
            <a:avLst/>
          </a:prstGeom>
          <a:noFill/>
        </p:spPr>
        <p:txBody>
          <a:bodyPr wrap="square">
            <a:spAutoFit/>
          </a:bodyPr>
          <a:lstStyle/>
          <a:p>
            <a:pPr>
              <a:defRPr sz="1300" b="1">
                <a:solidFill>
                  <a:srgbClr val="00D4FF"/>
                </a:solidFill>
                <a:latin typeface="Arial"/>
              </a:defRPr>
            </a:pPr>
            <a:r>
              <a:t>1. Signature Matching (Hashes)</a:t>
            </a:r>
          </a:p>
          <a:p>
            <a:pPr>
              <a:defRPr sz="950">
                <a:solidFill>
                  <a:srgbClr val="8FA3BF"/>
                </a:solidFill>
                <a:latin typeface="Arial"/>
              </a:defRPr>
            </a:pPr>
            <a:r>
              <a:t>Static Blacklisting (MD5 / SHA256)</a:t>
            </a:r>
          </a:p>
        </p:txBody>
      </p:sp>
      <p:sp>
        <p:nvSpPr>
          <p:cNvPr id="7" name="TextBox 6"/>
          <p:cNvSpPr txBox="1"/>
          <p:nvPr/>
        </p:nvSpPr>
        <p:spPr>
          <a:xfrm>
            <a:off x="9144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Trivial Evasion:</a:t>
            </a:r>
            <a:r>
              <a:rPr b="0">
                <a:solidFill>
                  <a:srgbClr val="FFFFFF"/>
                </a:solidFill>
              </a:rPr>
              <a:t> Attackers use polymorphic crypters and packers (UPX, Themida) that alter byte hashes daily.</a:t>
            </a:r>
          </a:p>
          <a:p>
            <a:pPr>
              <a:spcAft>
                <a:spcPts val="600"/>
              </a:spcAft>
              <a:defRPr sz="1100">
                <a:latin typeface="Arial"/>
              </a:defRPr>
            </a:pPr>
            <a:r>
              <a:rPr b="1">
                <a:solidFill>
                  <a:srgbClr val="00D4FF"/>
                </a:solidFill>
              </a:rPr>
              <a:t>Zero-Day Blindspot:</a:t>
            </a:r>
            <a:r>
              <a:rPr b="0">
                <a:solidFill>
                  <a:srgbClr val="FFFFFF"/>
                </a:solidFill>
              </a:rPr>
              <a:t> Completely ineffective against new variants or zero-day binaries with no cataloged hash.</a:t>
            </a:r>
          </a:p>
          <a:p>
            <a:pPr>
              <a:spcAft>
                <a:spcPts val="600"/>
              </a:spcAft>
              <a:defRPr sz="1100">
                <a:latin typeface="Arial"/>
              </a:defRPr>
            </a:pPr>
            <a:r>
              <a:rPr b="1">
                <a:solidFill>
                  <a:srgbClr val="00D4FF"/>
                </a:solidFill>
              </a:rPr>
              <a:t>Brittle Defense:</a:t>
            </a:r>
            <a:r>
              <a:rPr b="0">
                <a:solidFill>
                  <a:srgbClr val="FFFFFF"/>
                </a:solidFill>
              </a:rPr>
              <a:t> A single-bit alteration defeats MD5/SHA256 matching with zero operational cost to attackers.</a:t>
            </a:r>
          </a:p>
        </p:txBody>
      </p:sp>
      <p:sp>
        <p:nvSpPr>
          <p:cNvPr id="8" name="Rounded Rectangle 7"/>
          <p:cNvSpPr/>
          <p:nvPr/>
        </p:nvSpPr>
        <p:spPr>
          <a:xfrm>
            <a:off x="4389120" y="1554480"/>
            <a:ext cx="3383280" cy="4663440"/>
          </a:xfrm>
          <a:prstGeom prst="roundRect">
            <a:avLst/>
          </a:prstGeom>
          <a:solidFill>
            <a:srgbClr val="0E1726"/>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45920"/>
            <a:ext cx="3108960" cy="457200"/>
          </a:xfrm>
          <a:prstGeom prst="rect">
            <a:avLst/>
          </a:prstGeom>
          <a:noFill/>
        </p:spPr>
        <p:txBody>
          <a:bodyPr wrap="square">
            <a:spAutoFit/>
          </a:bodyPr>
          <a:lstStyle/>
          <a:p>
            <a:pPr>
              <a:defRPr sz="1300" b="1">
                <a:solidFill>
                  <a:srgbClr val="00D4FF"/>
                </a:solidFill>
                <a:latin typeface="Arial"/>
              </a:defRPr>
            </a:pPr>
            <a:r>
              <a:t>2. Dynamic Sandboxing</a:t>
            </a:r>
          </a:p>
          <a:p>
            <a:pPr>
              <a:defRPr sz="950">
                <a:solidFill>
                  <a:srgbClr val="8FA3BF"/>
                </a:solidFill>
                <a:latin typeface="Arial"/>
              </a:defRPr>
            </a:pPr>
            <a:r>
              <a:t>Virtual Machine Execution</a:t>
            </a:r>
          </a:p>
        </p:txBody>
      </p:sp>
      <p:sp>
        <p:nvSpPr>
          <p:cNvPr id="10" name="TextBox 9"/>
          <p:cNvSpPr txBox="1"/>
          <p:nvPr/>
        </p:nvSpPr>
        <p:spPr>
          <a:xfrm>
            <a:off x="45720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Severe Latency:</a:t>
            </a:r>
            <a:r>
              <a:rPr b="0">
                <a:solidFill>
                  <a:srgbClr val="FFFFFF"/>
                </a:solidFill>
              </a:rPr>
              <a:t> Requires 3 to 10 minutes per binary to record system calls, causing massive triage backlogs.</a:t>
            </a:r>
          </a:p>
          <a:p>
            <a:pPr>
              <a:spcAft>
                <a:spcPts val="600"/>
              </a:spcAft>
              <a:defRPr sz="1100">
                <a:latin typeface="Arial"/>
              </a:defRPr>
            </a:pPr>
            <a:r>
              <a:rPr b="1">
                <a:solidFill>
                  <a:srgbClr val="00D4FF"/>
                </a:solidFill>
              </a:rPr>
              <a:t>Sandbox Evasion:</a:t>
            </a:r>
            <a:r>
              <a:rPr b="0">
                <a:solidFill>
                  <a:srgbClr val="FFFFFF"/>
                </a:solidFill>
              </a:rPr>
              <a:t> Malware detects hypervisors, delays execution with sleep loops, or waits for human mouse clicks.</a:t>
            </a:r>
          </a:p>
          <a:p>
            <a:pPr>
              <a:spcAft>
                <a:spcPts val="600"/>
              </a:spcAft>
              <a:defRPr sz="1100">
                <a:latin typeface="Arial"/>
              </a:defRPr>
            </a:pPr>
            <a:r>
              <a:rPr b="1">
                <a:solidFill>
                  <a:srgbClr val="00D4FF"/>
                </a:solidFill>
              </a:rPr>
              <a:t>Execution Risk:</a:t>
            </a:r>
            <a:r>
              <a:rPr b="0">
                <a:solidFill>
                  <a:srgbClr val="FFFFFF"/>
                </a:solidFill>
              </a:rPr>
              <a:t> Running live hostile code risks host leakage and accidental network infection.</a:t>
            </a:r>
          </a:p>
        </p:txBody>
      </p:sp>
      <p:sp>
        <p:nvSpPr>
          <p:cNvPr id="11" name="Rounded Rectangle 10"/>
          <p:cNvSpPr/>
          <p:nvPr/>
        </p:nvSpPr>
        <p:spPr>
          <a:xfrm>
            <a:off x="8046720" y="1554480"/>
            <a:ext cx="3383280" cy="4663440"/>
          </a:xfrm>
          <a:prstGeom prst="roundRect">
            <a:avLst/>
          </a:prstGeom>
          <a:solidFill>
            <a:srgbClr val="0E1726"/>
          </a:solidFill>
          <a:ln w="15240">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645920"/>
            <a:ext cx="3108960" cy="457200"/>
          </a:xfrm>
          <a:prstGeom prst="rect">
            <a:avLst/>
          </a:prstGeom>
          <a:noFill/>
        </p:spPr>
        <p:txBody>
          <a:bodyPr wrap="square">
            <a:spAutoFit/>
          </a:bodyPr>
          <a:lstStyle/>
          <a:p>
            <a:pPr>
              <a:defRPr sz="1300" b="1">
                <a:solidFill>
                  <a:srgbClr val="00D4FF"/>
                </a:solidFill>
                <a:latin typeface="Arial"/>
              </a:defRPr>
            </a:pPr>
            <a:r>
              <a:t>3. Disassembly (IDA / Ghidra)</a:t>
            </a:r>
          </a:p>
          <a:p>
            <a:pPr>
              <a:defRPr sz="950">
                <a:solidFill>
                  <a:srgbClr val="8FA3BF"/>
                </a:solidFill>
                <a:latin typeface="Arial"/>
              </a:defRPr>
            </a:pPr>
            <a:r>
              <a:t>Static Machine Code Parsing</a:t>
            </a:r>
          </a:p>
        </p:txBody>
      </p:sp>
      <p:sp>
        <p:nvSpPr>
          <p:cNvPr id="13" name="TextBox 12"/>
          <p:cNvSpPr txBox="1"/>
          <p:nvPr/>
        </p:nvSpPr>
        <p:spPr>
          <a:xfrm>
            <a:off x="82296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Fragile Reverse Engineering:</a:t>
            </a:r>
            <a:r>
              <a:rPr b="0">
                <a:solidFill>
                  <a:srgbClr val="FFFFFF"/>
                </a:solidFill>
              </a:rPr>
              <a:t> Complex x86/x64 instruction disassembly takes seconds to minutes per file.</a:t>
            </a:r>
          </a:p>
          <a:p>
            <a:pPr>
              <a:spcAft>
                <a:spcPts val="600"/>
              </a:spcAft>
              <a:defRPr sz="1100">
                <a:latin typeface="Arial"/>
              </a:defRPr>
            </a:pPr>
            <a:r>
              <a:rPr b="1">
                <a:solidFill>
                  <a:srgbClr val="00D4FF"/>
                </a:solidFill>
              </a:rPr>
              <a:t>Anti-Disassembly Tricks:</a:t>
            </a:r>
            <a:r>
              <a:rPr b="0">
                <a:solidFill>
                  <a:srgbClr val="FFFFFF"/>
                </a:solidFill>
              </a:rPr>
              <a:t> Modern packers corrupt section headers to cause disassembler crashes.</a:t>
            </a:r>
          </a:p>
          <a:p>
            <a:pPr>
              <a:spcAft>
                <a:spcPts val="600"/>
              </a:spcAft>
              <a:defRPr sz="1100">
                <a:latin typeface="Arial"/>
              </a:defRPr>
            </a:pPr>
            <a:r>
              <a:rPr b="1">
                <a:solidFill>
                  <a:srgbClr val="00D4FF"/>
                </a:solidFill>
              </a:rPr>
              <a:t>Computational Overhead:</a:t>
            </a:r>
            <a:r>
              <a:rPr b="0">
                <a:solidFill>
                  <a:srgbClr val="FFFFFF"/>
                </a:solidFill>
              </a:rPr>
              <a:t> Extracting N-gram opcode features consumes massive memory and storage.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CORE CONCEPT &amp; PHILOSOPHY</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The Big Idea: The Airport X-Ray Scanner Analogy</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3035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5029200" cy="457200"/>
          </a:xfrm>
          <a:prstGeom prst="rect">
            <a:avLst/>
          </a:prstGeom>
          <a:noFill/>
        </p:spPr>
        <p:txBody>
          <a:bodyPr wrap="square">
            <a:spAutoFit/>
          </a:bodyPr>
          <a:lstStyle/>
          <a:p>
            <a:pPr>
              <a:defRPr sz="1300" b="1">
                <a:solidFill>
                  <a:srgbClr val="00D4FF"/>
                </a:solidFill>
                <a:latin typeface="Arial"/>
              </a:defRPr>
            </a:pPr>
            <a:r>
              <a:t>How Airport Security Works</a:t>
            </a:r>
          </a:p>
          <a:p>
            <a:pPr>
              <a:defRPr sz="950">
                <a:solidFill>
                  <a:srgbClr val="8FA3BF"/>
                </a:solidFill>
                <a:latin typeface="Arial"/>
              </a:defRPr>
            </a:pPr>
            <a:r>
              <a:t>The Intuitive Real-World Mental Model</a:t>
            </a:r>
          </a:p>
        </p:txBody>
      </p:sp>
      <p:sp>
        <p:nvSpPr>
          <p:cNvPr id="7" name="TextBox 6"/>
          <p:cNvSpPr txBox="1"/>
          <p:nvPr/>
        </p:nvSpPr>
        <p:spPr>
          <a:xfrm>
            <a:off x="914400" y="2286000"/>
            <a:ext cx="4937760" cy="3749039"/>
          </a:xfrm>
          <a:prstGeom prst="rect">
            <a:avLst/>
          </a:prstGeom>
          <a:noFill/>
        </p:spPr>
        <p:txBody>
          <a:bodyPr wrap="none">
            <a:spAutoFit/>
          </a:bodyPr>
          <a:lstStyle/>
          <a:p>
            <a:pPr>
              <a:spcAft>
                <a:spcPts val="600"/>
              </a:spcAft>
              <a:defRPr sz="1200">
                <a:latin typeface="Arial"/>
              </a:defRPr>
            </a:pPr>
            <a:r>
              <a:rPr b="1">
                <a:solidFill>
                  <a:srgbClr val="00D4FF"/>
                </a:solidFill>
              </a:rPr>
              <a:t>The Analogy:</a:t>
            </a:r>
            <a:r>
              <a:rPr b="0">
                <a:solidFill>
                  <a:srgbClr val="FFFFFF"/>
                </a:solidFill>
              </a:rPr>
              <a:t> Airport security guards DO NOT open and search every single suitcase by hand. They DO NOT wait for a bomb to explode to know if it is dangerous.</a:t>
            </a:r>
          </a:p>
          <a:p>
            <a:pPr>
              <a:spcAft>
                <a:spcPts val="600"/>
              </a:spcAft>
              <a:defRPr sz="1200">
                <a:latin typeface="Arial"/>
              </a:defRPr>
            </a:pPr>
            <a:r>
              <a:rPr b="1">
                <a:solidFill>
                  <a:srgbClr val="00D4FF"/>
                </a:solidFill>
              </a:rPr>
              <a:t>The Solution:</a:t>
            </a:r>
            <a:r>
              <a:rPr b="0">
                <a:solidFill>
                  <a:srgbClr val="FFFFFF"/>
                </a:solidFill>
              </a:rPr>
              <a:t> Instead, bags pass through an X-ray scanner. The scanner converts physical contents into a density image. Trained screeners immediately spot prohibited shapes.</a:t>
            </a:r>
          </a:p>
          <a:p>
            <a:pPr>
              <a:spcAft>
                <a:spcPts val="600"/>
              </a:spcAft>
              <a:defRPr sz="1200">
                <a:latin typeface="Arial"/>
              </a:defRPr>
            </a:pPr>
            <a:r>
              <a:rPr b="1">
                <a:solidFill>
                  <a:srgbClr val="00D4FF"/>
                </a:solidFill>
              </a:rPr>
              <a:t>The Cybersecurity Breakthrough:</a:t>
            </a:r>
            <a:r>
              <a:rPr b="0">
                <a:solidFill>
                  <a:srgbClr val="FFFFFF"/>
                </a:solidFill>
              </a:rPr>
              <a:t> MalVision does the exact same thing for computer software!</a:t>
            </a:r>
          </a:p>
          <a:p>
            <a:pPr>
              <a:spcAft>
                <a:spcPts val="600"/>
              </a:spcAft>
              <a:defRPr sz="1200">
                <a:latin typeface="Arial"/>
              </a:defRPr>
            </a:pPr>
            <a:r>
              <a:rPr b="1">
                <a:solidFill>
                  <a:srgbClr val="00D4FF"/>
                </a:solidFill>
              </a:rPr>
              <a:t>Zero-Execution:</a:t>
            </a:r>
            <a:r>
              <a:rPr b="0">
                <a:solidFill>
                  <a:srgbClr val="FFFFFF"/>
                </a:solidFill>
              </a:rPr>
              <a:t> The file is NEVER executed. We take an 'X-ray photo' of the binary code and let a Deep Convolutional Neural Network spot the malware by its visual texture.</a:t>
            </a:r>
          </a:p>
        </p:txBody>
      </p:sp>
      <p:pic>
        <p:nvPicPr>
          <p:cNvPr id="8" name="Picture 7" descr="project_structure_workflow_concept.jpg"/>
          <p:cNvPicPr>
            <a:picLocks noChangeAspect="1"/>
          </p:cNvPicPr>
          <p:nvPr/>
        </p:nvPicPr>
        <p:blipFill>
          <a:blip r:embed="rId2"/>
          <a:stretch>
            <a:fillRect/>
          </a:stretch>
        </p:blipFill>
        <p:spPr>
          <a:xfrm>
            <a:off x="6309360" y="1554480"/>
            <a:ext cx="5150815" cy="4663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THEORETICAL FOUNDATION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Binary-to-Image Conversion &amp; Visual Textures</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3035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5029200" cy="457200"/>
          </a:xfrm>
          <a:prstGeom prst="rect">
            <a:avLst/>
          </a:prstGeom>
          <a:noFill/>
        </p:spPr>
        <p:txBody>
          <a:bodyPr wrap="square">
            <a:spAutoFit/>
          </a:bodyPr>
          <a:lstStyle/>
          <a:p>
            <a:pPr>
              <a:defRPr sz="1300" b="1">
                <a:solidFill>
                  <a:srgbClr val="00D4FF"/>
                </a:solidFill>
                <a:latin typeface="Arial"/>
              </a:defRPr>
            </a:pPr>
            <a:r>
              <a:t>The Nataraj Heuristic Math</a:t>
            </a:r>
          </a:p>
          <a:p>
            <a:pPr>
              <a:defRPr sz="950">
                <a:solidFill>
                  <a:srgbClr val="8FA3BF"/>
                </a:solidFill>
                <a:latin typeface="Arial"/>
              </a:defRPr>
            </a:pPr>
            <a:r>
              <a:t>Mapping Bytes [0, 255] to Grayscale Pixels [0, 255]</a:t>
            </a:r>
          </a:p>
        </p:txBody>
      </p:sp>
      <p:sp>
        <p:nvSpPr>
          <p:cNvPr id="7" name="TextBox 6"/>
          <p:cNvSpPr txBox="1"/>
          <p:nvPr/>
        </p:nvSpPr>
        <p:spPr>
          <a:xfrm>
            <a:off x="914400" y="2286000"/>
            <a:ext cx="4937760" cy="3749039"/>
          </a:xfrm>
          <a:prstGeom prst="rect">
            <a:avLst/>
          </a:prstGeom>
          <a:noFill/>
        </p:spPr>
        <p:txBody>
          <a:bodyPr wrap="none">
            <a:spAutoFit/>
          </a:bodyPr>
          <a:lstStyle/>
          <a:p>
            <a:pPr>
              <a:spcAft>
                <a:spcPts val="600"/>
              </a:spcAft>
              <a:defRPr sz="1100">
                <a:latin typeface="Arial"/>
              </a:defRPr>
            </a:pPr>
            <a:r>
              <a:rPr b="1">
                <a:solidFill>
                  <a:srgbClr val="00D4FF"/>
                </a:solidFill>
              </a:rPr>
              <a:t>Bijective Mapping:</a:t>
            </a:r>
            <a:r>
              <a:rPr b="0">
                <a:solidFill>
                  <a:srgbClr val="FFFFFF"/>
                </a:solidFill>
              </a:rPr>
              <a:t> Every byte has a value from 0 to 255. A grayscale pixel brightness also ranges from 0 (black) to 255 (white). 1D bytes map directly to pixels.</a:t>
            </a:r>
          </a:p>
          <a:p>
            <a:pPr>
              <a:spcAft>
                <a:spcPts val="600"/>
              </a:spcAft>
              <a:defRPr sz="1100">
                <a:latin typeface="Arial"/>
              </a:defRPr>
            </a:pPr>
            <a:r>
              <a:rPr b="1">
                <a:solidFill>
                  <a:srgbClr val="00D4FF"/>
                </a:solidFill>
              </a:rPr>
              <a:t>Dynamic Width Heuristic:</a:t>
            </a:r>
            <a:r>
              <a:rPr b="0">
                <a:solidFill>
                  <a:srgbClr val="FFFFFF"/>
                </a:solidFill>
              </a:rPr>
              <a:t> Width W is chosen dynamically from file size (32px for &lt;10KB up to 1024px for &gt;1MB) to preserve local spatial aspect ratios.</a:t>
            </a:r>
          </a:p>
          <a:p>
            <a:pPr>
              <a:spcAft>
                <a:spcPts val="600"/>
              </a:spcAft>
              <a:defRPr sz="1100">
                <a:latin typeface="Arial"/>
              </a:defRPr>
            </a:pPr>
            <a:r>
              <a:rPr b="1">
                <a:solidFill>
                  <a:srgbClr val="00D4FF"/>
                </a:solidFill>
              </a:rPr>
              <a:t>Dynamic Height &amp; Padding:</a:t>
            </a:r>
            <a:r>
              <a:rPr b="0">
                <a:solidFill>
                  <a:srgbClr val="FFFFFF"/>
                </a:solidFill>
              </a:rPr>
              <a:t> Height H = ceil(N / W). Any remainder is zero-padded (black pixels).</a:t>
            </a:r>
          </a:p>
          <a:p>
            <a:pPr>
              <a:spcAft>
                <a:spcPts val="600"/>
              </a:spcAft>
              <a:defRPr sz="1100">
                <a:latin typeface="Arial"/>
              </a:defRPr>
            </a:pPr>
            <a:r>
              <a:rPr b="1">
                <a:solidFill>
                  <a:srgbClr val="00D4FF"/>
                </a:solidFill>
              </a:rPr>
              <a:t>Visual PE Sections:</a:t>
            </a:r>
            <a:r>
              <a:rPr b="0">
                <a:solidFill>
                  <a:srgbClr val="FFFFFF"/>
                </a:solidFill>
              </a:rPr>
              <a:t> .text machine opcodes look like speckled static; .rdata strings look like horizontal stripes; .data buffers look like dark blocks; packed payloads look like high-entropy TV snow.</a:t>
            </a:r>
          </a:p>
        </p:txBody>
      </p:sp>
      <p:pic>
        <p:nvPicPr>
          <p:cNvPr id="8" name="Picture 7" descr="malimg_samples.png"/>
          <p:cNvPicPr>
            <a:picLocks noChangeAspect="1"/>
          </p:cNvPicPr>
          <p:nvPr/>
        </p:nvPicPr>
        <p:blipFill>
          <a:blip r:embed="rId2"/>
          <a:stretch>
            <a:fillRect/>
          </a:stretch>
        </p:blipFill>
        <p:spPr>
          <a:xfrm>
            <a:off x="6309360" y="1554480"/>
            <a:ext cx="5150815" cy="46634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ENGINEERING PIPELINE</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End-to-End System Architecture Blueprint</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ipeline_architecture_diagram.png"/>
          <p:cNvPicPr>
            <a:picLocks noChangeAspect="1"/>
          </p:cNvPicPr>
          <p:nvPr/>
        </p:nvPicPr>
        <p:blipFill>
          <a:blip r:embed="rId2"/>
          <a:stretch>
            <a:fillRect/>
          </a:stretch>
        </p:blipFill>
        <p:spPr>
          <a:xfrm>
            <a:off x="731520" y="1463040"/>
            <a:ext cx="10728655" cy="4114800"/>
          </a:xfrm>
          <a:prstGeom prst="rect">
            <a:avLst/>
          </a:prstGeom>
        </p:spPr>
      </p:pic>
      <p:sp>
        <p:nvSpPr>
          <p:cNvPr id="6" name="Rounded Rectangle 5"/>
          <p:cNvSpPr/>
          <p:nvPr/>
        </p:nvSpPr>
        <p:spPr>
          <a:xfrm>
            <a:off x="731520" y="5669280"/>
            <a:ext cx="10728655" cy="82296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715000"/>
            <a:ext cx="10332720" cy="685800"/>
          </a:xfrm>
          <a:prstGeom prst="rect">
            <a:avLst/>
          </a:prstGeom>
          <a:noFill/>
        </p:spPr>
        <p:txBody>
          <a:bodyPr wrap="none">
            <a:spAutoFit/>
          </a:bodyPr>
          <a:lstStyle/>
          <a:p>
            <a:pPr>
              <a:defRPr sz="1100" b="1">
                <a:solidFill>
                  <a:srgbClr val="00D4FF"/>
                </a:solidFill>
                <a:latin typeface="Arial"/>
              </a:defRPr>
            </a:pPr>
            <a:r>
              <a:t>6-Stage Pipeline: (1) Static Ingestion -&gt; (2) Nataraj Reshaping -&gt; (3) 224x224 Tensor Prep -&gt; (4) ResNet-18 Deep Feature Extraction -&gt; (5) Multi-Class Softmax &amp; Triage -&gt; (6) Grad-CAM Explainability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MODEL SURGERY &amp; OPTIMIZATION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Deep Learning Backbone: ResNet-18 Adaptation</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937760" cy="457200"/>
          </a:xfrm>
          <a:prstGeom prst="rect">
            <a:avLst/>
          </a:prstGeom>
          <a:noFill/>
        </p:spPr>
        <p:txBody>
          <a:bodyPr wrap="square">
            <a:spAutoFit/>
          </a:bodyPr>
          <a:lstStyle/>
          <a:p>
            <a:pPr>
              <a:defRPr sz="1300" b="1">
                <a:solidFill>
                  <a:srgbClr val="00D4FF"/>
                </a:solidFill>
                <a:latin typeface="Arial"/>
              </a:defRPr>
            </a:pPr>
            <a:r>
              <a:t>Transfer Learning Weight Surgery</a:t>
            </a:r>
          </a:p>
          <a:p>
            <a:pPr>
              <a:defRPr sz="950">
                <a:solidFill>
                  <a:srgbClr val="8FA3BF"/>
                </a:solidFill>
                <a:latin typeface="Arial"/>
              </a:defRPr>
            </a:pPr>
            <a:r>
              <a:t>Adapting ImageNet (RGB) to Grayscale (1-Channel)</a:t>
            </a:r>
          </a:p>
        </p:txBody>
      </p:sp>
      <p:sp>
        <p:nvSpPr>
          <p:cNvPr id="7" name="TextBox 6"/>
          <p:cNvSpPr txBox="1"/>
          <p:nvPr/>
        </p:nvSpPr>
        <p:spPr>
          <a:xfrm>
            <a:off x="914400" y="2286000"/>
            <a:ext cx="4846320" cy="3749039"/>
          </a:xfrm>
          <a:prstGeom prst="rect">
            <a:avLst/>
          </a:prstGeom>
          <a:noFill/>
        </p:spPr>
        <p:txBody>
          <a:bodyPr wrap="none">
            <a:spAutoFit/>
          </a:bodyPr>
          <a:lstStyle/>
          <a:p>
            <a:pPr>
              <a:spcAft>
                <a:spcPts val="600"/>
              </a:spcAft>
              <a:defRPr sz="1100">
                <a:latin typeface="Arial"/>
              </a:defRPr>
            </a:pPr>
            <a:r>
              <a:rPr b="1">
                <a:solidFill>
                  <a:srgbClr val="00D4FF"/>
                </a:solidFill>
              </a:rPr>
              <a:t>The Challenge:</a:t>
            </a:r>
            <a:r>
              <a:rPr b="0">
                <a:solidFill>
                  <a:srgbClr val="FFFFFF"/>
                </a:solidFill>
              </a:rPr>
              <a:t> ImageNet models expect 3-channel RGB images of shape [64, 3, 7, 7]. Malware byteplots are single-channel grayscale [1, 224, 224].</a:t>
            </a:r>
          </a:p>
          <a:p>
            <a:pPr>
              <a:spcAft>
                <a:spcPts val="600"/>
              </a:spcAft>
              <a:defRPr sz="1100">
                <a:latin typeface="Arial"/>
              </a:defRPr>
            </a:pPr>
            <a:r>
              <a:rPr b="1">
                <a:solidFill>
                  <a:srgbClr val="00D4FF"/>
                </a:solidFill>
              </a:rPr>
              <a:t>The Weight Surgery:</a:t>
            </a:r>
            <a:r>
              <a:rPr b="0">
                <a:solidFill>
                  <a:srgbClr val="FFFFFF"/>
                </a:solidFill>
              </a:rPr>
              <a:t> Instead of training from scratch, we averaged the weights across RGB channels: W_gray = (1/3) * sum(W_RGB).</a:t>
            </a:r>
          </a:p>
          <a:p>
            <a:pPr>
              <a:spcAft>
                <a:spcPts val="600"/>
              </a:spcAft>
              <a:defRPr sz="1100">
                <a:latin typeface="Arial"/>
              </a:defRPr>
            </a:pPr>
            <a:r>
              <a:rPr b="1">
                <a:solidFill>
                  <a:srgbClr val="00D4FF"/>
                </a:solidFill>
              </a:rPr>
              <a:t>The Benefit:</a:t>
            </a:r>
            <a:r>
              <a:rPr b="0">
                <a:solidFill>
                  <a:srgbClr val="FFFFFF"/>
                </a:solidFill>
              </a:rPr>
              <a:t> Preserved all low-level edge, contour, and spatial frequency filters learned from millions of ImageNet images.</a:t>
            </a:r>
          </a:p>
          <a:p>
            <a:pPr>
              <a:spcAft>
                <a:spcPts val="600"/>
              </a:spcAft>
              <a:defRPr sz="1100">
                <a:latin typeface="Arial"/>
              </a:defRPr>
            </a:pPr>
            <a:r>
              <a:rPr b="1">
                <a:solidFill>
                  <a:srgbClr val="00D4FF"/>
                </a:solidFill>
              </a:rPr>
              <a:t>Convergence Speed:</a:t>
            </a:r>
            <a:r>
              <a:rPr b="0">
                <a:solidFill>
                  <a:srgbClr val="FFFFFF"/>
                </a:solidFill>
              </a:rPr>
              <a:t> Reached 97.86% test accuracy in just 3 training epochs on standard CPU hardware.</a:t>
            </a:r>
          </a:p>
        </p:txBody>
      </p:sp>
      <p:sp>
        <p:nvSpPr>
          <p:cNvPr id="8" name="Rounded Rectangle 7"/>
          <p:cNvSpPr/>
          <p:nvPr/>
        </p:nvSpPr>
        <p:spPr>
          <a:xfrm>
            <a:off x="6217920" y="1554480"/>
            <a:ext cx="521208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45920"/>
            <a:ext cx="4937760" cy="457200"/>
          </a:xfrm>
          <a:prstGeom prst="rect">
            <a:avLst/>
          </a:prstGeom>
          <a:noFill/>
        </p:spPr>
        <p:txBody>
          <a:bodyPr wrap="square">
            <a:spAutoFit/>
          </a:bodyPr>
          <a:lstStyle/>
          <a:p>
            <a:pPr>
              <a:defRPr sz="1300" b="1">
                <a:solidFill>
                  <a:srgbClr val="00D4FF"/>
                </a:solidFill>
                <a:latin typeface="Arial"/>
              </a:defRPr>
            </a:pPr>
            <a:r>
              <a:t>Hierarchical Feature Learning</a:t>
            </a:r>
          </a:p>
          <a:p>
            <a:pPr>
              <a:defRPr sz="950">
                <a:solidFill>
                  <a:srgbClr val="8FA3BF"/>
                </a:solidFill>
                <a:latin typeface="Arial"/>
              </a:defRPr>
            </a:pPr>
            <a:r>
              <a:t>What the Residual Layers 'See'</a:t>
            </a:r>
          </a:p>
        </p:txBody>
      </p:sp>
      <p:sp>
        <p:nvSpPr>
          <p:cNvPr id="10" name="TextBox 9"/>
          <p:cNvSpPr txBox="1"/>
          <p:nvPr/>
        </p:nvSpPr>
        <p:spPr>
          <a:xfrm>
            <a:off x="6400800" y="2286000"/>
            <a:ext cx="4846320" cy="3749039"/>
          </a:xfrm>
          <a:prstGeom prst="rect">
            <a:avLst/>
          </a:prstGeom>
          <a:noFill/>
        </p:spPr>
        <p:txBody>
          <a:bodyPr wrap="none">
            <a:spAutoFit/>
          </a:bodyPr>
          <a:lstStyle/>
          <a:p>
            <a:pPr>
              <a:spcAft>
                <a:spcPts val="600"/>
              </a:spcAft>
              <a:defRPr sz="1100">
                <a:latin typeface="Arial"/>
              </a:defRPr>
            </a:pPr>
            <a:r>
              <a:rPr b="1">
                <a:solidFill>
                  <a:srgbClr val="00D4FF"/>
                </a:solidFill>
              </a:rPr>
              <a:t>Conv1 + MaxPool (64 x 56x56):</a:t>
            </a:r>
            <a:r>
              <a:rPr b="0">
                <a:solidFill>
                  <a:srgbClr val="FFFFFF"/>
                </a:solidFill>
              </a:rPr>
              <a:t> Extracts section borders, sharp margins, and trailing zero-padding runs.</a:t>
            </a:r>
          </a:p>
          <a:p>
            <a:pPr>
              <a:spcAft>
                <a:spcPts val="600"/>
              </a:spcAft>
              <a:defRPr sz="1100">
                <a:latin typeface="Arial"/>
              </a:defRPr>
            </a:pPr>
            <a:r>
              <a:rPr b="1">
                <a:solidFill>
                  <a:srgbClr val="00D4FF"/>
                </a:solidFill>
              </a:rPr>
              <a:t>Residual Layer 1 (64 x 56x56):</a:t>
            </a:r>
            <a:r>
              <a:rPr b="0">
                <a:solidFill>
                  <a:srgbClr val="FFFFFF"/>
                </a:solidFill>
              </a:rPr>
              <a:t> Captures micro-opcodes, memory alignment static, and assembly instruction loops.</a:t>
            </a:r>
          </a:p>
          <a:p>
            <a:pPr>
              <a:spcAft>
                <a:spcPts val="600"/>
              </a:spcAft>
              <a:defRPr sz="1100">
                <a:latin typeface="Arial"/>
              </a:defRPr>
            </a:pPr>
            <a:r>
              <a:rPr b="1">
                <a:solidFill>
                  <a:srgbClr val="00D4FF"/>
                </a:solidFill>
              </a:rPr>
              <a:t>Residual Layer 2 (128 x 28x28):</a:t>
            </a:r>
            <a:r>
              <a:rPr b="0">
                <a:solidFill>
                  <a:srgbClr val="FFFFFF"/>
                </a:solidFill>
              </a:rPr>
              <a:t> Captures string tables, import directory tables, and data loop boundaries.</a:t>
            </a:r>
          </a:p>
          <a:p>
            <a:pPr>
              <a:spcAft>
                <a:spcPts val="600"/>
              </a:spcAft>
              <a:defRPr sz="1100">
                <a:latin typeface="Arial"/>
              </a:defRPr>
            </a:pPr>
            <a:r>
              <a:rPr b="1">
                <a:solidFill>
                  <a:srgbClr val="00D4FF"/>
                </a:solidFill>
              </a:rPr>
              <a:t>Residual Layer 3 (256 x 14x14):</a:t>
            </a:r>
            <a:r>
              <a:rPr b="0">
                <a:solidFill>
                  <a:srgbClr val="FFFFFF"/>
                </a:solidFill>
              </a:rPr>
              <a:t> Extracts macro structure: relative proportions of loader stub vs encrypted payload.</a:t>
            </a:r>
          </a:p>
          <a:p>
            <a:pPr>
              <a:spcAft>
                <a:spcPts val="600"/>
              </a:spcAft>
              <a:defRPr sz="1100">
                <a:latin typeface="Arial"/>
              </a:defRPr>
            </a:pPr>
            <a:r>
              <a:rPr b="1">
                <a:solidFill>
                  <a:srgbClr val="00D4FF"/>
                </a:solidFill>
              </a:rPr>
              <a:t>Residual Layer 4 (512 x 7x7):</a:t>
            </a:r>
            <a:r>
              <a:rPr b="0">
                <a:solidFill>
                  <a:srgbClr val="FFFFFF"/>
                </a:solidFill>
              </a:rPr>
              <a:t> Assembles the full malware family signature blueprint for classification.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PERFORMANCE EVALUATION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Empirical Benchmark Results (Malimg Dataset)</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43891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114800" cy="457200"/>
          </a:xfrm>
          <a:prstGeom prst="rect">
            <a:avLst/>
          </a:prstGeom>
          <a:noFill/>
        </p:spPr>
        <p:txBody>
          <a:bodyPr wrap="square">
            <a:spAutoFit/>
          </a:bodyPr>
          <a:lstStyle/>
          <a:p>
            <a:pPr>
              <a:defRPr sz="1300" b="1">
                <a:solidFill>
                  <a:srgbClr val="00D4FF"/>
                </a:solidFill>
                <a:latin typeface="Arial"/>
              </a:defRPr>
            </a:pPr>
            <a:r>
              <a:t>Key Quantitative Metrics</a:t>
            </a:r>
          </a:p>
          <a:p>
            <a:pPr>
              <a:defRPr sz="950">
                <a:solidFill>
                  <a:srgbClr val="8FA3BF"/>
                </a:solidFill>
                <a:latin typeface="Arial"/>
              </a:defRPr>
            </a:pPr>
            <a:r>
              <a:t>Tested on 1,401 Unseen Test Samples</a:t>
            </a:r>
          </a:p>
        </p:txBody>
      </p:sp>
      <p:sp>
        <p:nvSpPr>
          <p:cNvPr id="7" name="TextBox 6"/>
          <p:cNvSpPr txBox="1"/>
          <p:nvPr/>
        </p:nvSpPr>
        <p:spPr>
          <a:xfrm>
            <a:off x="914400" y="2286000"/>
            <a:ext cx="4023360" cy="3749039"/>
          </a:xfrm>
          <a:prstGeom prst="rect">
            <a:avLst/>
          </a:prstGeom>
          <a:noFill/>
        </p:spPr>
        <p:txBody>
          <a:bodyPr wrap="none">
            <a:spAutoFit/>
          </a:bodyPr>
          <a:lstStyle/>
          <a:p>
            <a:pPr>
              <a:spcAft>
                <a:spcPts val="600"/>
              </a:spcAft>
              <a:defRPr sz="1100">
                <a:latin typeface="Arial"/>
              </a:defRPr>
            </a:pPr>
            <a:r>
              <a:rPr b="1">
                <a:solidFill>
                  <a:srgbClr val="00D4FF"/>
                </a:solidFill>
              </a:rPr>
              <a:t>Overall Test Accuracy:</a:t>
            </a:r>
            <a:r>
              <a:rPr b="0">
                <a:solidFill>
                  <a:srgbClr val="FFFFFF"/>
                </a:solidFill>
              </a:rPr>
              <a:t> 97.86% (1,371 correct out of 1,401 unseen test samples).</a:t>
            </a:r>
          </a:p>
          <a:p>
            <a:pPr>
              <a:spcAft>
                <a:spcPts val="600"/>
              </a:spcAft>
              <a:defRPr sz="1100">
                <a:latin typeface="Arial"/>
              </a:defRPr>
            </a:pPr>
            <a:r>
              <a:rPr b="1">
                <a:solidFill>
                  <a:srgbClr val="00D4FF"/>
                </a:solidFill>
              </a:rPr>
              <a:t>Best Validation Loss:</a:t>
            </a:r>
            <a:r>
              <a:rPr b="0">
                <a:solidFill>
                  <a:srgbClr val="FFFFFF"/>
                </a:solidFill>
              </a:rPr>
              <a:t> 0.0574 reached at Epoch 3 checkpoint with early stopping.</a:t>
            </a:r>
          </a:p>
          <a:p>
            <a:pPr>
              <a:spcAft>
                <a:spcPts val="600"/>
              </a:spcAft>
              <a:defRPr sz="1100">
                <a:latin typeface="Arial"/>
              </a:defRPr>
            </a:pPr>
            <a:r>
              <a:rPr b="1">
                <a:solidFill>
                  <a:srgbClr val="00D4FF"/>
                </a:solidFill>
              </a:rPr>
              <a:t>Weighted F1-Score:</a:t>
            </a:r>
            <a:r>
              <a:rPr b="0">
                <a:solidFill>
                  <a:srgbClr val="FFFFFF"/>
                </a:solidFill>
              </a:rPr>
              <a:t> 97.82% balanced across diverse sample sizes.</a:t>
            </a:r>
          </a:p>
          <a:p>
            <a:pPr>
              <a:spcAft>
                <a:spcPts val="600"/>
              </a:spcAft>
              <a:defRPr sz="1100">
                <a:latin typeface="Arial"/>
              </a:defRPr>
            </a:pPr>
            <a:r>
              <a:rPr b="1">
                <a:solidFill>
                  <a:srgbClr val="00D4FF"/>
                </a:solidFill>
              </a:rPr>
              <a:t>Perfect F1 Families:</a:t>
            </a:r>
            <a:r>
              <a:rPr b="0">
                <a:solidFill>
                  <a:srgbClr val="FFFFFF"/>
                </a:solidFill>
              </a:rPr>
              <a:t> 18 out of 26 families achieved 100% precision and recall.</a:t>
            </a:r>
          </a:p>
          <a:p>
            <a:pPr>
              <a:spcAft>
                <a:spcPts val="600"/>
              </a:spcAft>
              <a:defRPr sz="1100">
                <a:latin typeface="Arial"/>
              </a:defRPr>
            </a:pPr>
            <a:r>
              <a:rPr b="1">
                <a:solidFill>
                  <a:srgbClr val="00D4FF"/>
                </a:solidFill>
              </a:rPr>
              <a:t>Sub-Second Latency:</a:t>
            </a:r>
            <a:r>
              <a:rPr b="0">
                <a:solidFill>
                  <a:srgbClr val="FFFFFF"/>
                </a:solidFill>
              </a:rPr>
              <a:t> ~34.8 ms mean CPU inference latency per binary.</a:t>
            </a:r>
          </a:p>
          <a:p>
            <a:pPr>
              <a:spcAft>
                <a:spcPts val="600"/>
              </a:spcAft>
              <a:defRPr sz="1100">
                <a:latin typeface="Arial"/>
              </a:defRPr>
            </a:pPr>
            <a:r>
              <a:rPr b="1">
                <a:solidFill>
                  <a:srgbClr val="00D4FF"/>
                </a:solidFill>
              </a:rPr>
              <a:t>Dataset Partition:</a:t>
            </a:r>
            <a:r>
              <a:rPr b="0">
                <a:solidFill>
                  <a:srgbClr val="FFFFFF"/>
                </a:solidFill>
              </a:rPr>
              <a:t> Stratified 70/15/15 split across 9,339 total Malimg samples.</a:t>
            </a:r>
          </a:p>
        </p:txBody>
      </p:sp>
      <p:pic>
        <p:nvPicPr>
          <p:cNvPr id="8" name="Picture 7" descr="training_curves.png"/>
          <p:cNvPicPr>
            <a:picLocks noChangeAspect="1"/>
          </p:cNvPicPr>
          <p:nvPr/>
        </p:nvPicPr>
        <p:blipFill>
          <a:blip r:embed="rId2"/>
          <a:stretch>
            <a:fillRect/>
          </a:stretch>
        </p:blipFill>
        <p:spPr>
          <a:xfrm>
            <a:off x="5394960" y="1554480"/>
            <a:ext cx="6035040" cy="2103120"/>
          </a:xfrm>
          <a:prstGeom prst="rect">
            <a:avLst/>
          </a:prstGeom>
        </p:spPr>
      </p:pic>
      <p:pic>
        <p:nvPicPr>
          <p:cNvPr id="9" name="Picture 8" descr="confusion_matrix.png"/>
          <p:cNvPicPr>
            <a:picLocks noChangeAspect="1"/>
          </p:cNvPicPr>
          <p:nvPr/>
        </p:nvPicPr>
        <p:blipFill>
          <a:blip r:embed="rId3"/>
          <a:stretch>
            <a:fillRect/>
          </a:stretch>
        </p:blipFill>
        <p:spPr>
          <a:xfrm>
            <a:off x="7132320" y="3840480"/>
            <a:ext cx="2560320" cy="2377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AUDITABILITY &amp; FORENSICS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Explainable AI: Solving the Black Box with Grad-CAM</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43891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4114800" cy="457200"/>
          </a:xfrm>
          <a:prstGeom prst="rect">
            <a:avLst/>
          </a:prstGeom>
          <a:noFill/>
        </p:spPr>
        <p:txBody>
          <a:bodyPr wrap="square">
            <a:spAutoFit/>
          </a:bodyPr>
          <a:lstStyle/>
          <a:p>
            <a:pPr>
              <a:defRPr sz="1300" b="1">
                <a:solidFill>
                  <a:srgbClr val="00D4FF"/>
                </a:solidFill>
                <a:latin typeface="Arial"/>
              </a:defRPr>
            </a:pPr>
            <a:r>
              <a:t>Why SOCs Need Explainability</a:t>
            </a:r>
          </a:p>
          <a:p>
            <a:pPr>
              <a:defRPr sz="950">
                <a:solidFill>
                  <a:srgbClr val="8FA3BF"/>
                </a:solidFill>
                <a:latin typeface="Arial"/>
              </a:defRPr>
            </a:pPr>
            <a:r>
              <a:t>Gradient-Weighted Class Activation Mapping</a:t>
            </a:r>
          </a:p>
        </p:txBody>
      </p:sp>
      <p:sp>
        <p:nvSpPr>
          <p:cNvPr id="7" name="TextBox 6"/>
          <p:cNvSpPr txBox="1"/>
          <p:nvPr/>
        </p:nvSpPr>
        <p:spPr>
          <a:xfrm>
            <a:off x="914400" y="2286000"/>
            <a:ext cx="4023360" cy="3749039"/>
          </a:xfrm>
          <a:prstGeom prst="rect">
            <a:avLst/>
          </a:prstGeom>
          <a:noFill/>
        </p:spPr>
        <p:txBody>
          <a:bodyPr wrap="none">
            <a:spAutoFit/>
          </a:bodyPr>
          <a:lstStyle/>
          <a:p>
            <a:pPr>
              <a:spcAft>
                <a:spcPts val="600"/>
              </a:spcAft>
              <a:defRPr sz="1100">
                <a:latin typeface="Arial"/>
              </a:defRPr>
            </a:pPr>
            <a:r>
              <a:rPr b="1">
                <a:solidFill>
                  <a:srgbClr val="00D4FF"/>
                </a:solidFill>
              </a:rPr>
              <a:t>The Black Box Problem:</a:t>
            </a:r>
            <a:r>
              <a:rPr b="0">
                <a:solidFill>
                  <a:srgbClr val="FFFFFF"/>
                </a:solidFill>
              </a:rPr>
              <a:t> In security, an alert saying '99% Malware' without proof cannot be acted upon by incident responders.</a:t>
            </a:r>
          </a:p>
          <a:p>
            <a:pPr>
              <a:spcAft>
                <a:spcPts val="600"/>
              </a:spcAft>
              <a:defRPr sz="1100">
                <a:latin typeface="Arial"/>
              </a:defRPr>
            </a:pPr>
            <a:r>
              <a:rPr b="1">
                <a:solidFill>
                  <a:srgbClr val="00D4FF"/>
                </a:solidFill>
              </a:rPr>
              <a:t>How Grad-CAM Works:</a:t>
            </a:r>
            <a:r>
              <a:rPr b="0">
                <a:solidFill>
                  <a:srgbClr val="FFFFFF"/>
                </a:solidFill>
              </a:rPr>
              <a:t> It traces gradients backward from the predicted class score to Layer 4 feature maps, computing spatial importance weights.</a:t>
            </a:r>
          </a:p>
          <a:p>
            <a:pPr>
              <a:spcAft>
                <a:spcPts val="600"/>
              </a:spcAft>
              <a:defRPr sz="1100">
                <a:latin typeface="Arial"/>
              </a:defRPr>
            </a:pPr>
            <a:r>
              <a:rPr b="1">
                <a:solidFill>
                  <a:srgbClr val="00D4FF"/>
                </a:solidFill>
              </a:rPr>
              <a:t>Thermal Colormap:</a:t>
            </a:r>
            <a:r>
              <a:rPr b="0">
                <a:solidFill>
                  <a:srgbClr val="FFFFFF"/>
                </a:solidFill>
              </a:rPr>
              <a:t> Red hotspots indicate regions of maximum causal attention; blue regions denote neutral background.</a:t>
            </a:r>
          </a:p>
          <a:p>
            <a:pPr>
              <a:spcAft>
                <a:spcPts val="600"/>
              </a:spcAft>
              <a:defRPr sz="1100">
                <a:latin typeface="Arial"/>
              </a:defRPr>
            </a:pPr>
            <a:r>
              <a:rPr b="1">
                <a:solidFill>
                  <a:srgbClr val="00D4FF"/>
                </a:solidFill>
              </a:rPr>
              <a:t>Forensic Validation:</a:t>
            </a:r>
            <a:r>
              <a:rPr b="0">
                <a:solidFill>
                  <a:srgbClr val="FFFFFF"/>
                </a:solidFill>
              </a:rPr>
              <a:t> Proves the AI triggers on genuine unpacking stubs and encrypted payloads, rather than irrelevant padding or compiler headers.</a:t>
            </a:r>
          </a:p>
        </p:txBody>
      </p:sp>
      <p:pic>
        <p:nvPicPr>
          <p:cNvPr id="8" name="Picture 7" descr="gradcam_example.png"/>
          <p:cNvPicPr>
            <a:picLocks noChangeAspect="1"/>
          </p:cNvPicPr>
          <p:nvPr/>
        </p:nvPicPr>
        <p:blipFill>
          <a:blip r:embed="rId2"/>
          <a:stretch>
            <a:fillRect/>
          </a:stretch>
        </p:blipFill>
        <p:spPr>
          <a:xfrm>
            <a:off x="5394960" y="2103120"/>
            <a:ext cx="6035040" cy="34747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FALSE POSITIVE MITIGATION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Open-World Triaging: Handling Clean Files (cmd.exe)</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383280" cy="4663440"/>
          </a:xfrm>
          <a:prstGeom prst="roundRect">
            <a:avLst/>
          </a:prstGeom>
          <a:solidFill>
            <a:srgbClr val="0E1726"/>
          </a:solidFill>
          <a:ln w="15240">
            <a:solidFill>
              <a:srgbClr val="FF1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3108960" cy="457200"/>
          </a:xfrm>
          <a:prstGeom prst="rect">
            <a:avLst/>
          </a:prstGeom>
          <a:noFill/>
        </p:spPr>
        <p:txBody>
          <a:bodyPr wrap="square">
            <a:spAutoFit/>
          </a:bodyPr>
          <a:lstStyle/>
          <a:p>
            <a:pPr>
              <a:defRPr sz="1300" b="1">
                <a:solidFill>
                  <a:srgbClr val="00D4FF"/>
                </a:solidFill>
                <a:latin typeface="Arial"/>
              </a:defRPr>
            </a:pPr>
            <a:r>
              <a:t>CRITICAL THREAT (&gt;85%)</a:t>
            </a:r>
          </a:p>
          <a:p>
            <a:pPr>
              <a:defRPr sz="950">
                <a:solidFill>
                  <a:srgbClr val="8FA3BF"/>
                </a:solidFill>
                <a:latin typeface="Arial"/>
              </a:defRPr>
            </a:pPr>
            <a:r>
              <a:t>Definite Family Match</a:t>
            </a:r>
          </a:p>
        </p:txBody>
      </p:sp>
      <p:sp>
        <p:nvSpPr>
          <p:cNvPr id="7" name="TextBox 6"/>
          <p:cNvSpPr txBox="1"/>
          <p:nvPr/>
        </p:nvSpPr>
        <p:spPr>
          <a:xfrm>
            <a:off x="9144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Confidence:</a:t>
            </a:r>
            <a:r>
              <a:rPr b="0">
                <a:solidFill>
                  <a:srgbClr val="FFFFFF"/>
                </a:solidFill>
              </a:rPr>
              <a:t> &gt; 85.0% probability.</a:t>
            </a:r>
          </a:p>
          <a:p>
            <a:pPr>
              <a:spcAft>
                <a:spcPts val="600"/>
              </a:spcAft>
              <a:defRPr sz="1100">
                <a:latin typeface="Arial"/>
              </a:defRPr>
            </a:pPr>
            <a:r>
              <a:rPr b="1">
                <a:solidFill>
                  <a:srgbClr val="00D4FF"/>
                </a:solidFill>
              </a:rPr>
              <a:t>Entropy:</a:t>
            </a:r>
            <a:r>
              <a:rPr b="0">
                <a:solidFill>
                  <a:srgbClr val="FFFFFF"/>
                </a:solidFill>
              </a:rPr>
              <a:t> Very low (H &lt; 0.50). Probability is sharply peaked on one family.</a:t>
            </a:r>
          </a:p>
          <a:p>
            <a:pPr>
              <a:spcAft>
                <a:spcPts val="600"/>
              </a:spcAft>
              <a:defRPr sz="1100">
                <a:latin typeface="Arial"/>
              </a:defRPr>
            </a:pPr>
            <a:r>
              <a:rPr b="1">
                <a:solidFill>
                  <a:srgbClr val="00D4FF"/>
                </a:solidFill>
              </a:rPr>
              <a:t>Tested Sample:</a:t>
            </a:r>
            <a:r>
              <a:rPr b="0">
                <a:solidFill>
                  <a:srgbClr val="FFFFFF"/>
                </a:solidFill>
              </a:rPr>
              <a:t> Allaple.A scored 99.97% CRITICAL.</a:t>
            </a:r>
          </a:p>
          <a:p>
            <a:pPr>
              <a:spcAft>
                <a:spcPts val="600"/>
              </a:spcAft>
              <a:defRPr sz="1100">
                <a:latin typeface="Arial"/>
              </a:defRPr>
            </a:pPr>
            <a:r>
              <a:rPr b="1">
                <a:solidFill>
                  <a:srgbClr val="00D4FF"/>
                </a:solidFill>
              </a:rPr>
              <a:t>Operational Action:</a:t>
            </a:r>
            <a:r>
              <a:rPr b="0">
                <a:solidFill>
                  <a:srgbClr val="FFFFFF"/>
                </a:solidFill>
              </a:rPr>
              <a:t> Immediate host isolation, process kill, and file quarantine.</a:t>
            </a:r>
          </a:p>
        </p:txBody>
      </p:sp>
      <p:sp>
        <p:nvSpPr>
          <p:cNvPr id="8" name="Rounded Rectangle 7"/>
          <p:cNvSpPr/>
          <p:nvPr/>
        </p:nvSpPr>
        <p:spPr>
          <a:xfrm>
            <a:off x="4389120" y="1554480"/>
            <a:ext cx="3383280" cy="4663440"/>
          </a:xfrm>
          <a:prstGeom prst="roundRect">
            <a:avLst/>
          </a:prstGeom>
          <a:solidFill>
            <a:srgbClr val="0E1726"/>
          </a:solidFill>
          <a:ln w="15240">
            <a:solidFill>
              <a:srgbClr val="FF9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45920"/>
            <a:ext cx="3108960" cy="457200"/>
          </a:xfrm>
          <a:prstGeom prst="rect">
            <a:avLst/>
          </a:prstGeom>
          <a:noFill/>
        </p:spPr>
        <p:txBody>
          <a:bodyPr wrap="square">
            <a:spAutoFit/>
          </a:bodyPr>
          <a:lstStyle/>
          <a:p>
            <a:pPr>
              <a:defRPr sz="1300" b="1">
                <a:solidFill>
                  <a:srgbClr val="00D4FF"/>
                </a:solidFill>
                <a:latin typeface="Arial"/>
              </a:defRPr>
            </a:pPr>
            <a:r>
              <a:t>SUSPICIOUS (60% - 85%)</a:t>
            </a:r>
          </a:p>
          <a:p>
            <a:pPr>
              <a:defRPr sz="950">
                <a:solidFill>
                  <a:srgbClr val="8FA3BF"/>
                </a:solidFill>
                <a:latin typeface="Arial"/>
              </a:defRPr>
            </a:pPr>
            <a:r>
              <a:t>Probable Variant / Packed</a:t>
            </a:r>
          </a:p>
        </p:txBody>
      </p:sp>
      <p:sp>
        <p:nvSpPr>
          <p:cNvPr id="10" name="TextBox 9"/>
          <p:cNvSpPr txBox="1"/>
          <p:nvPr/>
        </p:nvSpPr>
        <p:spPr>
          <a:xfrm>
            <a:off x="45720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Confidence:</a:t>
            </a:r>
            <a:r>
              <a:rPr b="0">
                <a:solidFill>
                  <a:srgbClr val="FFFFFF"/>
                </a:solidFill>
              </a:rPr>
              <a:t> 60.0% to 85.0%.</a:t>
            </a:r>
          </a:p>
          <a:p>
            <a:pPr>
              <a:spcAft>
                <a:spcPts val="600"/>
              </a:spcAft>
              <a:defRPr sz="1100">
                <a:latin typeface="Arial"/>
              </a:defRPr>
            </a:pPr>
            <a:r>
              <a:rPr b="1">
                <a:solidFill>
                  <a:srgbClr val="00D4FF"/>
                </a:solidFill>
              </a:rPr>
              <a:t>Entropy:</a:t>
            </a:r>
            <a:r>
              <a:rPr b="0">
                <a:solidFill>
                  <a:srgbClr val="FFFFFF"/>
                </a:solidFill>
              </a:rPr>
              <a:t> Moderate (0.50 - 1.50). Secondary family correlations exist.</a:t>
            </a:r>
          </a:p>
          <a:p>
            <a:pPr>
              <a:spcAft>
                <a:spcPts val="600"/>
              </a:spcAft>
              <a:defRPr sz="1100">
                <a:latin typeface="Arial"/>
              </a:defRPr>
            </a:pPr>
            <a:r>
              <a:rPr b="1">
                <a:solidFill>
                  <a:srgbClr val="00D4FF"/>
                </a:solidFill>
              </a:rPr>
              <a:t>Tested Sample:</a:t>
            </a:r>
            <a:r>
              <a:rPr b="0">
                <a:solidFill>
                  <a:srgbClr val="FFFFFF"/>
                </a:solidFill>
              </a:rPr>
              <a:t> Minor polymorphic re-packer variants.</a:t>
            </a:r>
          </a:p>
          <a:p>
            <a:pPr>
              <a:spcAft>
                <a:spcPts val="600"/>
              </a:spcAft>
              <a:defRPr sz="1100">
                <a:latin typeface="Arial"/>
              </a:defRPr>
            </a:pPr>
            <a:r>
              <a:rPr b="1">
                <a:solidFill>
                  <a:srgbClr val="00D4FF"/>
                </a:solidFill>
              </a:rPr>
              <a:t>Operational Action:</a:t>
            </a:r>
            <a:r>
              <a:rPr b="0">
                <a:solidFill>
                  <a:srgbClr val="FFFFFF"/>
                </a:solidFill>
              </a:rPr>
              <a:t> Route to secondary sandbox for behavioral verification.</a:t>
            </a:r>
          </a:p>
        </p:txBody>
      </p:sp>
      <p:sp>
        <p:nvSpPr>
          <p:cNvPr id="11" name="Rounded Rectangle 10"/>
          <p:cNvSpPr/>
          <p:nvPr/>
        </p:nvSpPr>
        <p:spPr>
          <a:xfrm>
            <a:off x="8046720" y="1554480"/>
            <a:ext cx="3383280" cy="4663440"/>
          </a:xfrm>
          <a:prstGeom prst="roundRect">
            <a:avLst/>
          </a:prstGeom>
          <a:solidFill>
            <a:srgbClr val="0E1726"/>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645920"/>
            <a:ext cx="3108960" cy="457200"/>
          </a:xfrm>
          <a:prstGeom prst="rect">
            <a:avLst/>
          </a:prstGeom>
          <a:noFill/>
        </p:spPr>
        <p:txBody>
          <a:bodyPr wrap="square">
            <a:spAutoFit/>
          </a:bodyPr>
          <a:lstStyle/>
          <a:p>
            <a:pPr>
              <a:defRPr sz="1300" b="1">
                <a:solidFill>
                  <a:srgbClr val="00D4FF"/>
                </a:solidFill>
                <a:latin typeface="Arial"/>
              </a:defRPr>
            </a:pPr>
            <a:r>
              <a:t>INCONCLUSIVE (&lt;60%)</a:t>
            </a:r>
          </a:p>
          <a:p>
            <a:pPr>
              <a:defRPr sz="950">
                <a:solidFill>
                  <a:srgbClr val="8FA3BF"/>
                </a:solidFill>
                <a:latin typeface="Arial"/>
              </a:defRPr>
            </a:pPr>
            <a:r>
              <a:t>Benign File / Clean Utility</a:t>
            </a:r>
          </a:p>
        </p:txBody>
      </p:sp>
      <p:sp>
        <p:nvSpPr>
          <p:cNvPr id="13" name="TextBox 12"/>
          <p:cNvSpPr txBox="1"/>
          <p:nvPr/>
        </p:nvSpPr>
        <p:spPr>
          <a:xfrm>
            <a:off x="8229600" y="2286000"/>
            <a:ext cx="3017520" cy="3749040"/>
          </a:xfrm>
          <a:prstGeom prst="rect">
            <a:avLst/>
          </a:prstGeom>
          <a:noFill/>
        </p:spPr>
        <p:txBody>
          <a:bodyPr wrap="none">
            <a:spAutoFit/>
          </a:bodyPr>
          <a:lstStyle/>
          <a:p>
            <a:pPr>
              <a:spcAft>
                <a:spcPts val="600"/>
              </a:spcAft>
              <a:defRPr sz="1100">
                <a:latin typeface="Arial"/>
              </a:defRPr>
            </a:pPr>
            <a:r>
              <a:rPr b="1">
                <a:solidFill>
                  <a:srgbClr val="00D4FF"/>
                </a:solidFill>
              </a:rPr>
              <a:t>Confidence:</a:t>
            </a:r>
            <a:r>
              <a:rPr b="0">
                <a:solidFill>
                  <a:srgbClr val="FFFFFF"/>
                </a:solidFill>
              </a:rPr>
              <a:t> &lt; 60.0% probability.</a:t>
            </a:r>
          </a:p>
          <a:p>
            <a:pPr>
              <a:spcAft>
                <a:spcPts val="600"/>
              </a:spcAft>
              <a:defRPr sz="1100">
                <a:latin typeface="Arial"/>
              </a:defRPr>
            </a:pPr>
            <a:r>
              <a:rPr b="1">
                <a:solidFill>
                  <a:srgbClr val="00D4FF"/>
                </a:solidFill>
              </a:rPr>
              <a:t>Entropy:</a:t>
            </a:r>
            <a:r>
              <a:rPr b="0">
                <a:solidFill>
                  <a:srgbClr val="FFFFFF"/>
                </a:solidFill>
              </a:rPr>
              <a:t> High (H &gt; 1.80). Probabilities scatter diffusely across all classes.</a:t>
            </a:r>
          </a:p>
          <a:p>
            <a:pPr>
              <a:spcAft>
                <a:spcPts val="600"/>
              </a:spcAft>
              <a:defRPr sz="1100">
                <a:latin typeface="Arial"/>
              </a:defRPr>
            </a:pPr>
            <a:r>
              <a:rPr b="1">
                <a:solidFill>
                  <a:srgbClr val="00D4FF"/>
                </a:solidFill>
              </a:rPr>
              <a:t>Tested Sample:</a:t>
            </a:r>
            <a:r>
              <a:rPr b="0">
                <a:solidFill>
                  <a:srgbClr val="FFFFFF"/>
                </a:solidFill>
              </a:rPr>
              <a:t> cmd.exe (35.6%), calc.exe (34.8%), notepad.exe (36.1%).</a:t>
            </a:r>
          </a:p>
          <a:p>
            <a:pPr>
              <a:spcAft>
                <a:spcPts val="600"/>
              </a:spcAft>
              <a:defRPr sz="1100">
                <a:latin typeface="Arial"/>
              </a:defRPr>
            </a:pPr>
            <a:r>
              <a:rPr b="1">
                <a:solidFill>
                  <a:srgbClr val="00D4FF"/>
                </a:solidFill>
              </a:rPr>
              <a:t>Operational Action:</a:t>
            </a:r>
            <a:r>
              <a:rPr b="0">
                <a:solidFill>
                  <a:srgbClr val="FFFFFF"/>
                </a:solidFill>
              </a:rPr>
              <a:t> Classified as SAFE/BENIGN. Zero false alarms!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SOFTWARE PLATFORM &amp; APPLICATION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Threat Intelligence &amp; Live Interactive Web UI</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3035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5029200" cy="457200"/>
          </a:xfrm>
          <a:prstGeom prst="rect">
            <a:avLst/>
          </a:prstGeom>
          <a:noFill/>
        </p:spPr>
        <p:txBody>
          <a:bodyPr wrap="square">
            <a:spAutoFit/>
          </a:bodyPr>
          <a:lstStyle/>
          <a:p>
            <a:pPr>
              <a:defRPr sz="1300" b="1">
                <a:solidFill>
                  <a:srgbClr val="00D4FF"/>
                </a:solidFill>
                <a:latin typeface="Arial"/>
              </a:defRPr>
            </a:pPr>
            <a:r>
              <a:t>Threat Intelligence Dossiers</a:t>
            </a:r>
          </a:p>
          <a:p>
            <a:pPr>
              <a:defRPr sz="950">
                <a:solidFill>
                  <a:srgbClr val="8FA3BF"/>
                </a:solidFill>
                <a:latin typeface="Arial"/>
              </a:defRPr>
            </a:pPr>
            <a:r>
              <a:t>From AI Score to Actionable Incident Response</a:t>
            </a:r>
          </a:p>
        </p:txBody>
      </p:sp>
      <p:sp>
        <p:nvSpPr>
          <p:cNvPr id="7" name="TextBox 6"/>
          <p:cNvSpPr txBox="1"/>
          <p:nvPr/>
        </p:nvSpPr>
        <p:spPr>
          <a:xfrm>
            <a:off x="914400" y="2286000"/>
            <a:ext cx="4937760" cy="3749039"/>
          </a:xfrm>
          <a:prstGeom prst="rect">
            <a:avLst/>
          </a:prstGeom>
          <a:noFill/>
        </p:spPr>
        <p:txBody>
          <a:bodyPr wrap="none">
            <a:spAutoFit/>
          </a:bodyPr>
          <a:lstStyle/>
          <a:p>
            <a:pPr>
              <a:spcAft>
                <a:spcPts val="600"/>
              </a:spcAft>
              <a:defRPr sz="1100">
                <a:latin typeface="Arial"/>
              </a:defRPr>
            </a:pPr>
            <a:r>
              <a:rPr b="1">
                <a:solidFill>
                  <a:srgbClr val="00D4FF"/>
                </a:solidFill>
              </a:rPr>
              <a:t>malware_intel.py:</a:t>
            </a:r>
            <a:r>
              <a:rPr b="0">
                <a:solidFill>
                  <a:srgbClr val="FFFFFF"/>
                </a:solidFill>
              </a:rPr>
              <a:t> Embedded knowledge base covering all 26 cataloged families.</a:t>
            </a:r>
          </a:p>
          <a:p>
            <a:pPr>
              <a:spcAft>
                <a:spcPts val="600"/>
              </a:spcAft>
              <a:defRPr sz="1100">
                <a:latin typeface="Arial"/>
              </a:defRPr>
            </a:pPr>
            <a:r>
              <a:rPr b="1">
                <a:solidFill>
                  <a:srgbClr val="00D4FF"/>
                </a:solidFill>
              </a:rPr>
              <a:t>Operational Dossiers:</a:t>
            </a:r>
            <a:r>
              <a:rPr b="0">
                <a:solidFill>
                  <a:srgbClr val="FFFFFF"/>
                </a:solidFill>
              </a:rPr>
              <a:t> Instant profile with malware category, severity level, system impacts (registry changes, memory hooks), infection vectors, and remediation playbooks.</a:t>
            </a:r>
          </a:p>
          <a:p>
            <a:pPr>
              <a:spcAft>
                <a:spcPts val="600"/>
              </a:spcAft>
              <a:defRPr sz="1100">
                <a:latin typeface="Arial"/>
              </a:defRPr>
            </a:pPr>
            <a:r>
              <a:rPr b="1">
                <a:solidFill>
                  <a:srgbClr val="00D4FF"/>
                </a:solidFill>
              </a:rPr>
              <a:t>Interactive Web App (app.py):</a:t>
            </a:r>
            <a:r>
              <a:rPr b="0">
                <a:solidFill>
                  <a:srgbClr val="FFFFFF"/>
                </a:solidFill>
              </a:rPr>
              <a:t> Dark cybersecurity UI with drag-and-drop, on-click byteplot viewer, and Top-K gauge meters.</a:t>
            </a:r>
          </a:p>
          <a:p>
            <a:pPr>
              <a:spcAft>
                <a:spcPts val="600"/>
              </a:spcAft>
              <a:defRPr sz="1100">
                <a:latin typeface="Arial"/>
              </a:defRPr>
            </a:pPr>
            <a:r>
              <a:rPr b="1">
                <a:solidFill>
                  <a:srgbClr val="00D4FF"/>
                </a:solidFill>
              </a:rPr>
              <a:t>Batch Triage Mode:</a:t>
            </a:r>
            <a:r>
              <a:rPr b="0">
                <a:solidFill>
                  <a:srgbClr val="FFFFFF"/>
                </a:solidFill>
              </a:rPr>
              <a:t> Upload dozens of files simultaneously for bulk incident response.</a:t>
            </a:r>
          </a:p>
          <a:p>
            <a:pPr>
              <a:spcAft>
                <a:spcPts val="600"/>
              </a:spcAft>
              <a:defRPr sz="1100">
                <a:latin typeface="Arial"/>
              </a:defRPr>
            </a:pPr>
            <a:r>
              <a:rPr b="1">
                <a:solidFill>
                  <a:srgbClr val="00D4FF"/>
                </a:solidFill>
              </a:rPr>
              <a:t>1-Click Windows Launcher:</a:t>
            </a:r>
            <a:r>
              <a:rPr b="0">
                <a:solidFill>
                  <a:srgbClr val="FFFFFF"/>
                </a:solidFill>
              </a:rPr>
              <a:t> start.bat starts the server and opens the browser automatically.</a:t>
            </a:r>
          </a:p>
        </p:txBody>
      </p:sp>
      <p:pic>
        <p:nvPicPr>
          <p:cNvPr id="8" name="Picture 7" descr="project_working_and_structure.png"/>
          <p:cNvPicPr>
            <a:picLocks noChangeAspect="1"/>
          </p:cNvPicPr>
          <p:nvPr/>
        </p:nvPicPr>
        <p:blipFill>
          <a:blip r:embed="rId2"/>
          <a:stretch>
            <a:fillRect/>
          </a:stretch>
        </p:blipFill>
        <p:spPr>
          <a:xfrm>
            <a:off x="6309360" y="1554480"/>
            <a:ext cx="5150815" cy="46634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0D4FF"/>
                </a:solidFill>
                <a:latin typeface="Arial"/>
              </a:defRPr>
            </a:pPr>
            <a:r>
              <a:t>ACADEMIC &amp; TECHNICAL DEFENSE</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FFFFF"/>
                </a:solidFill>
                <a:latin typeface="Arial"/>
              </a:defRPr>
            </a:pPr>
            <a:r>
              <a:t>Core Novelty &amp; Defense Q&amp;A Cheat Sheet</a:t>
            </a:r>
          </a:p>
        </p:txBody>
      </p:sp>
      <p:sp>
        <p:nvSpPr>
          <p:cNvPr id="4" name="Rectangle 3"/>
          <p:cNvSpPr/>
          <p:nvPr/>
        </p:nvSpPr>
        <p:spPr>
          <a:xfrm>
            <a:off x="731520" y="1234440"/>
            <a:ext cx="10728655" cy="18288"/>
          </a:xfrm>
          <a:prstGeom prst="rect">
            <a:avLst/>
          </a:prstGeom>
          <a:solidFill>
            <a:srgbClr val="1C2E47"/>
          </a:solidFill>
          <a:ln>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3035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5029200" cy="457200"/>
          </a:xfrm>
          <a:prstGeom prst="rect">
            <a:avLst/>
          </a:prstGeom>
          <a:noFill/>
        </p:spPr>
        <p:txBody>
          <a:bodyPr wrap="square">
            <a:spAutoFit/>
          </a:bodyPr>
          <a:lstStyle/>
          <a:p>
            <a:pPr>
              <a:defRPr sz="1300" b="1">
                <a:solidFill>
                  <a:srgbClr val="00D4FF"/>
                </a:solidFill>
                <a:latin typeface="Arial"/>
              </a:defRPr>
            </a:pPr>
            <a:r>
              <a:t>The 5 Pillars of Novelty</a:t>
            </a:r>
          </a:p>
          <a:p>
            <a:pPr>
              <a:defRPr sz="950">
                <a:solidFill>
                  <a:srgbClr val="8FA3BF"/>
                </a:solidFill>
                <a:latin typeface="Arial"/>
              </a:defRPr>
            </a:pPr>
            <a:r>
              <a:t>What Makes This System Truly Unique</a:t>
            </a:r>
          </a:p>
        </p:txBody>
      </p:sp>
      <p:sp>
        <p:nvSpPr>
          <p:cNvPr id="7" name="TextBox 6"/>
          <p:cNvSpPr txBox="1"/>
          <p:nvPr/>
        </p:nvSpPr>
        <p:spPr>
          <a:xfrm>
            <a:off x="914400" y="2286000"/>
            <a:ext cx="4937760" cy="3749039"/>
          </a:xfrm>
          <a:prstGeom prst="rect">
            <a:avLst/>
          </a:prstGeom>
          <a:noFill/>
        </p:spPr>
        <p:txBody>
          <a:bodyPr wrap="none">
            <a:spAutoFit/>
          </a:bodyPr>
          <a:lstStyle/>
          <a:p>
            <a:pPr>
              <a:spcAft>
                <a:spcPts val="600"/>
              </a:spcAft>
              <a:defRPr sz="1100">
                <a:latin typeface="Arial"/>
              </a:defRPr>
            </a:pPr>
            <a:r>
              <a:rPr b="1">
                <a:solidFill>
                  <a:srgbClr val="00D4FF"/>
                </a:solidFill>
              </a:rPr>
              <a:t>1. Cross-Domain Computer Vision:</a:t>
            </a:r>
            <a:r>
              <a:rPr b="0">
                <a:solidFill>
                  <a:srgbClr val="FFFFFF"/>
                </a:solidFill>
              </a:rPr>
              <a:t> Formulates binary analysis as spatial texture recognition, bypassing fragile code disassembly.</a:t>
            </a:r>
          </a:p>
          <a:p>
            <a:pPr>
              <a:spcAft>
                <a:spcPts val="600"/>
              </a:spcAft>
              <a:defRPr sz="1100">
                <a:latin typeface="Arial"/>
              </a:defRPr>
            </a:pPr>
            <a:r>
              <a:rPr b="1">
                <a:solidFill>
                  <a:srgbClr val="00D4FF"/>
                </a:solidFill>
              </a:rPr>
              <a:t>2. Zero-Execution Safety:</a:t>
            </a:r>
            <a:r>
              <a:rPr b="0">
                <a:solidFill>
                  <a:srgbClr val="FFFFFF"/>
                </a:solidFill>
              </a:rPr>
              <a:t> Analyzes code statically without emulation, defeating all runtime anti-VM, sleep, and sandbox tricks.</a:t>
            </a:r>
          </a:p>
          <a:p>
            <a:pPr>
              <a:spcAft>
                <a:spcPts val="600"/>
              </a:spcAft>
              <a:defRPr sz="1100">
                <a:latin typeface="Arial"/>
              </a:defRPr>
            </a:pPr>
            <a:r>
              <a:rPr b="1">
                <a:solidFill>
                  <a:srgbClr val="00D4FF"/>
                </a:solidFill>
              </a:rPr>
              <a:t>3. Grayscale Transfer Learning:</a:t>
            </a:r>
            <a:r>
              <a:rPr b="0">
                <a:solidFill>
                  <a:srgbClr val="FFFFFF"/>
                </a:solidFill>
              </a:rPr>
              <a:t> Collapses ImageNet RGB filters to 1-channel grayscale, converging to 97.86% in just 3 epochs.</a:t>
            </a:r>
          </a:p>
          <a:p>
            <a:pPr>
              <a:spcAft>
                <a:spcPts val="600"/>
              </a:spcAft>
              <a:defRPr sz="1100">
                <a:latin typeface="Arial"/>
              </a:defRPr>
            </a:pPr>
            <a:r>
              <a:rPr b="1">
                <a:solidFill>
                  <a:srgbClr val="00D4FF"/>
                </a:solidFill>
              </a:rPr>
              <a:t>4. Forensic Explainability:</a:t>
            </a:r>
            <a:r>
              <a:rPr b="0">
                <a:solidFill>
                  <a:srgbClr val="FFFFFF"/>
                </a:solidFill>
              </a:rPr>
              <a:t> Hooks Grad-CAM into Layer 4 to eliminate the black-box dilemma with thermal heatmaps.</a:t>
            </a:r>
          </a:p>
          <a:p>
            <a:pPr>
              <a:spcAft>
                <a:spcPts val="600"/>
              </a:spcAft>
              <a:defRPr sz="1100">
                <a:latin typeface="Arial"/>
              </a:defRPr>
            </a:pPr>
            <a:r>
              <a:rPr b="1">
                <a:solidFill>
                  <a:srgbClr val="00D4FF"/>
                </a:solidFill>
              </a:rPr>
              <a:t>5. Open-World Triage Calibration:</a:t>
            </a:r>
            <a:r>
              <a:rPr b="0">
                <a:solidFill>
                  <a:srgbClr val="FFFFFF"/>
                </a:solidFill>
              </a:rPr>
              <a:t> Employs Shannon entropy thresholding to reliably discriminate clean Windows files from malware.</a:t>
            </a:r>
          </a:p>
        </p:txBody>
      </p:sp>
      <p:sp>
        <p:nvSpPr>
          <p:cNvPr id="8" name="Rounded Rectangle 7"/>
          <p:cNvSpPr/>
          <p:nvPr/>
        </p:nvSpPr>
        <p:spPr>
          <a:xfrm>
            <a:off x="6217920" y="1554480"/>
            <a:ext cx="5303520" cy="4663440"/>
          </a:xfrm>
          <a:prstGeom prst="roundRect">
            <a:avLst/>
          </a:prstGeom>
          <a:solidFill>
            <a:srgbClr val="0E1726"/>
          </a:solidFill>
          <a:ln w="15240">
            <a:solidFill>
              <a:srgbClr val="1C2E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45920"/>
            <a:ext cx="5029200" cy="457200"/>
          </a:xfrm>
          <a:prstGeom prst="rect">
            <a:avLst/>
          </a:prstGeom>
          <a:noFill/>
        </p:spPr>
        <p:txBody>
          <a:bodyPr wrap="square">
            <a:spAutoFit/>
          </a:bodyPr>
          <a:lstStyle/>
          <a:p>
            <a:pPr>
              <a:defRPr sz="1300" b="1">
                <a:solidFill>
                  <a:srgbClr val="00D4FF"/>
                </a:solidFill>
                <a:latin typeface="Arial"/>
              </a:defRPr>
            </a:pPr>
            <a:r>
              <a:t>Top Examiner Viva Questions</a:t>
            </a:r>
          </a:p>
          <a:p>
            <a:pPr>
              <a:defRPr sz="950">
                <a:solidFill>
                  <a:srgbClr val="8FA3BF"/>
                </a:solidFill>
                <a:latin typeface="Arial"/>
              </a:defRPr>
            </a:pPr>
            <a:r>
              <a:t>Quick Answers for Academic Review</a:t>
            </a:r>
          </a:p>
        </p:txBody>
      </p:sp>
      <p:sp>
        <p:nvSpPr>
          <p:cNvPr id="10" name="TextBox 9"/>
          <p:cNvSpPr txBox="1"/>
          <p:nvPr/>
        </p:nvSpPr>
        <p:spPr>
          <a:xfrm>
            <a:off x="6400800" y="2286000"/>
            <a:ext cx="4937760" cy="3749039"/>
          </a:xfrm>
          <a:prstGeom prst="rect">
            <a:avLst/>
          </a:prstGeom>
          <a:noFill/>
        </p:spPr>
        <p:txBody>
          <a:bodyPr wrap="none">
            <a:spAutoFit/>
          </a:bodyPr>
          <a:lstStyle/>
          <a:p>
            <a:pPr>
              <a:spcAft>
                <a:spcPts val="600"/>
              </a:spcAft>
              <a:defRPr sz="1100">
                <a:latin typeface="Arial"/>
              </a:defRPr>
            </a:pPr>
            <a:r>
              <a:rPr b="1">
                <a:solidFill>
                  <a:srgbClr val="00D4FF"/>
                </a:solidFill>
              </a:rPr>
              <a:t>Q:</a:t>
            </a:r>
            <a:r>
              <a:rPr b="0">
                <a:solidFill>
                  <a:srgbClr val="FFFFFF"/>
                </a:solidFill>
              </a:rPr>
              <a:t> Can malware evade by modifying code?: Attackers changing variable names only alter fine micro-textures. The macro-level section blueprint remains structurally consistent across the entire family.</a:t>
            </a:r>
          </a:p>
          <a:p>
            <a:pPr>
              <a:spcAft>
                <a:spcPts val="600"/>
              </a:spcAft>
              <a:defRPr sz="1100">
                <a:latin typeface="Arial"/>
              </a:defRPr>
            </a:pPr>
            <a:r>
              <a:rPr b="1">
                <a:solidFill>
                  <a:srgbClr val="00D4FF"/>
                </a:solidFill>
              </a:rPr>
              <a:t>Q:</a:t>
            </a:r>
            <a:r>
              <a:rPr b="0">
                <a:solidFill>
                  <a:srgbClr val="FFFFFF"/>
                </a:solidFill>
              </a:rPr>
              <a:t> Why not use ResNet-50 or VGG-16?: ResNet-18 offers the optimal trade-off with 11.2M parameters. Deeper networks risk overfitting on grayscale patterns and add unnecessary latency.</a:t>
            </a:r>
          </a:p>
          <a:p>
            <a:pPr>
              <a:spcAft>
                <a:spcPts val="600"/>
              </a:spcAft>
              <a:defRPr sz="1100">
                <a:latin typeface="Arial"/>
              </a:defRPr>
            </a:pPr>
            <a:r>
              <a:rPr b="1">
                <a:solidFill>
                  <a:srgbClr val="00D4FF"/>
                </a:solidFill>
              </a:rPr>
              <a:t>Q:</a:t>
            </a:r>
            <a:r>
              <a:rPr b="0">
                <a:solidFill>
                  <a:srgbClr val="FFFFFF"/>
                </a:solidFill>
              </a:rPr>
              <a:t> Why not just use hashes?: Hashes break with a 1-byte change. Visual textures represent the functional layout of the executable, which remains consistent across polymorphic variants.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C14"/>
        </a:solidFill>
        <a:effectLst/>
      </p:bgPr>
    </p:bg>
    <p:spTree>
      <p:nvGrpSpPr>
        <p:cNvPr id="1" name=""/>
        <p:cNvGrpSpPr/>
        <p:nvPr/>
      </p:nvGrpSpPr>
      <p:grpSpPr/>
      <p:sp>
        <p:nvSpPr>
          <p:cNvPr id="2" name="Rounded Rectangle 1"/>
          <p:cNvSpPr/>
          <p:nvPr/>
        </p:nvSpPr>
        <p:spPr>
          <a:xfrm>
            <a:off x="1371600" y="1097280"/>
            <a:ext cx="9448495" cy="4663440"/>
          </a:xfrm>
          <a:prstGeom prst="roundRect">
            <a:avLst/>
          </a:prstGeom>
          <a:solidFill>
            <a:srgbClr val="0E1726"/>
          </a:solidFill>
          <a:ln w="15240">
            <a:solidFill>
              <a:srgbClr val="00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371600"/>
            <a:ext cx="8869680" cy="4114800"/>
          </a:xfrm>
          <a:prstGeom prst="rect">
            <a:avLst/>
          </a:prstGeom>
          <a:noFill/>
        </p:spPr>
        <p:txBody>
          <a:bodyPr wrap="square">
            <a:spAutoFit/>
          </a:bodyPr>
          <a:lstStyle/>
          <a:p>
            <a:pPr>
              <a:spcAft>
                <a:spcPts val="1400"/>
              </a:spcAft>
              <a:defRPr sz="1200" b="1">
                <a:solidFill>
                  <a:srgbClr val="00D4FF"/>
                </a:solidFill>
                <a:latin typeface="Arial"/>
              </a:defRPr>
            </a:pPr>
            <a:r>
              <a:t>CONCLUSION &amp; PROJECT SUMMARY</a:t>
            </a:r>
          </a:p>
          <a:p>
            <a:pPr>
              <a:spcAft>
                <a:spcPts val="1600"/>
              </a:spcAft>
              <a:defRPr sz="2800" b="1">
                <a:solidFill>
                  <a:srgbClr val="FFFFFF"/>
                </a:solidFill>
                <a:latin typeface="Arial"/>
              </a:defRPr>
            </a:pPr>
            <a:r>
              <a:t>MalVision: Explainable AI Threat Hunting</a:t>
            </a:r>
          </a:p>
          <a:p>
            <a:pPr>
              <a:spcAft>
                <a:spcPts val="600"/>
              </a:spcAft>
              <a:defRPr sz="1200">
                <a:latin typeface="Arial"/>
              </a:defRPr>
            </a:pPr>
            <a:r>
              <a:rPr>
                <a:solidFill>
                  <a:srgbClr val="FFFFFF"/>
                </a:solidFill>
              </a:rPr>
              <a:t>97.86% Accuracy across 26 real-world malware families on the Malimg benchmark.</a:t>
            </a:r>
          </a:p>
          <a:p>
            <a:pPr>
              <a:spcAft>
                <a:spcPts val="600"/>
              </a:spcAft>
              <a:defRPr sz="1200">
                <a:latin typeface="Arial"/>
              </a:defRPr>
            </a:pPr>
            <a:r>
              <a:rPr b="1">
                <a:solidFill>
                  <a:srgbClr val="00D4FF"/>
                </a:solidFill>
              </a:rPr>
              <a:t>Zero-Execution:</a:t>
            </a:r>
            <a:r>
              <a:rPr b="0">
                <a:solidFill>
                  <a:srgbClr val="FFFFFF"/>
                </a:solidFill>
              </a:rPr>
              <a:t> 100% safe, instant (&lt;35ms), and immune to runtime anti-VM evasion.</a:t>
            </a:r>
          </a:p>
          <a:p>
            <a:pPr>
              <a:spcAft>
                <a:spcPts val="600"/>
              </a:spcAft>
              <a:defRPr sz="1200">
                <a:latin typeface="Arial"/>
              </a:defRPr>
            </a:pPr>
            <a:r>
              <a:rPr b="1">
                <a:solidFill>
                  <a:srgbClr val="00D4FF"/>
                </a:solidFill>
              </a:rPr>
              <a:t>Explainable AI:</a:t>
            </a:r>
            <a:r>
              <a:rPr b="0">
                <a:solidFill>
                  <a:srgbClr val="FFFFFF"/>
                </a:solidFill>
              </a:rPr>
              <a:t> Layer 4 Grad-CAM heatmaps visually verify causal decision regions.</a:t>
            </a:r>
          </a:p>
          <a:p>
            <a:pPr>
              <a:spcAft>
                <a:spcPts val="600"/>
              </a:spcAft>
              <a:defRPr sz="1200">
                <a:latin typeface="Arial"/>
              </a:defRPr>
            </a:pPr>
            <a:r>
              <a:rPr b="1">
                <a:solidFill>
                  <a:srgbClr val="00D4FF"/>
                </a:solidFill>
              </a:rPr>
              <a:t>Production-Ready:</a:t>
            </a:r>
            <a:r>
              <a:rPr b="0">
                <a:solidFill>
                  <a:srgbClr val="FFFFFF"/>
                </a:solidFill>
              </a:rPr>
              <a:t> Interactive web UI with threat dossiers, batch triage, and 1-click startup.</a:t>
            </a:r>
          </a:p>
          <a:p>
            <a:pPr>
              <a:spcAft>
                <a:spcPts val="600"/>
              </a:spcAft>
              <a:defRPr sz="1200">
                <a:latin typeface="Arial"/>
              </a:defRPr>
            </a:pPr>
            <a:r>
              <a:rPr b="1">
                <a:solidFill>
                  <a:srgbClr val="00D4FF"/>
                </a:solidFill>
              </a:rPr>
              <a:t>Open-Source Repository:</a:t>
            </a:r>
            <a:r>
              <a:rPr b="0">
                <a:solidFill>
                  <a:srgbClr val="FFFFFF"/>
                </a:solidFill>
              </a:rPr>
              <a:t> https://github.com/ManasPatel126/MalVision</a:t>
            </a:r>
          </a:p>
          <a:p>
            <a:pPr>
              <a:spcBef>
                <a:spcPts val="1800"/>
              </a:spcBef>
              <a:defRPr sz="1400" b="1">
                <a:solidFill>
                  <a:srgbClr val="00E676"/>
                </a:solidFill>
                <a:latin typeface="Arial"/>
              </a:defRPr>
            </a:pPr>
            <a:r>
              <a:t>Ready for Live Demo (start.bat)  •  Thank You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